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1"/>
  </p:notesMasterIdLst>
  <p:sldIdLst>
    <p:sldId id="258" r:id="rId2"/>
    <p:sldId id="257" r:id="rId3"/>
    <p:sldId id="386" r:id="rId4"/>
    <p:sldId id="261" r:id="rId5"/>
    <p:sldId id="259" r:id="rId6"/>
    <p:sldId id="260" r:id="rId7"/>
    <p:sldId id="264" r:id="rId8"/>
    <p:sldId id="303" r:id="rId9"/>
    <p:sldId id="304" r:id="rId10"/>
    <p:sldId id="305" r:id="rId11"/>
    <p:sldId id="306" r:id="rId12"/>
    <p:sldId id="307" r:id="rId13"/>
    <p:sldId id="308" r:id="rId14"/>
    <p:sldId id="309" r:id="rId15"/>
    <p:sldId id="310" r:id="rId16"/>
    <p:sldId id="312" r:id="rId17"/>
    <p:sldId id="311" r:id="rId18"/>
    <p:sldId id="336" r:id="rId19"/>
    <p:sldId id="337" r:id="rId20"/>
    <p:sldId id="338" r:id="rId21"/>
    <p:sldId id="317" r:id="rId22"/>
    <p:sldId id="340" r:id="rId23"/>
    <p:sldId id="318" r:id="rId24"/>
    <p:sldId id="319" r:id="rId25"/>
    <p:sldId id="320" r:id="rId26"/>
    <p:sldId id="321" r:id="rId27"/>
    <p:sldId id="322" r:id="rId28"/>
    <p:sldId id="335" r:id="rId29"/>
    <p:sldId id="341" r:id="rId30"/>
    <p:sldId id="342" r:id="rId31"/>
    <p:sldId id="265" r:id="rId32"/>
    <p:sldId id="387" r:id="rId33"/>
    <p:sldId id="266" r:id="rId34"/>
    <p:sldId id="343" r:id="rId35"/>
    <p:sldId id="327" r:id="rId36"/>
    <p:sldId id="267" r:id="rId37"/>
    <p:sldId id="268" r:id="rId38"/>
    <p:sldId id="358" r:id="rId39"/>
    <p:sldId id="359" r:id="rId40"/>
    <p:sldId id="360" r:id="rId41"/>
    <p:sldId id="361" r:id="rId42"/>
    <p:sldId id="362" r:id="rId43"/>
    <p:sldId id="364" r:id="rId44"/>
    <p:sldId id="365" r:id="rId45"/>
    <p:sldId id="366" r:id="rId46"/>
    <p:sldId id="367" r:id="rId47"/>
    <p:sldId id="368" r:id="rId48"/>
    <p:sldId id="271" r:id="rId49"/>
    <p:sldId id="369" r:id="rId50"/>
    <p:sldId id="278" r:id="rId51"/>
    <p:sldId id="279" r:id="rId52"/>
    <p:sldId id="280" r:id="rId53"/>
    <p:sldId id="272" r:id="rId54"/>
    <p:sldId id="281" r:id="rId55"/>
    <p:sldId id="273" r:id="rId56"/>
    <p:sldId id="274" r:id="rId57"/>
    <p:sldId id="276" r:id="rId58"/>
    <p:sldId id="277" r:id="rId59"/>
    <p:sldId id="289" r:id="rId60"/>
    <p:sldId id="370" r:id="rId61"/>
    <p:sldId id="373" r:id="rId62"/>
    <p:sldId id="374" r:id="rId63"/>
    <p:sldId id="375" r:id="rId64"/>
    <p:sldId id="376" r:id="rId65"/>
    <p:sldId id="377" r:id="rId66"/>
    <p:sldId id="378" r:id="rId67"/>
    <p:sldId id="379" r:id="rId68"/>
    <p:sldId id="284" r:id="rId69"/>
    <p:sldId id="285"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 Forden" userId="S::jforden@carrollu.edu::097e3a7e-cd5c-474a-95f0-a72dc440bf11" providerId="AD" clId="Web-{A293D13A-4E56-7429-82BB-9CD34C28870B}"/>
    <pc:docChg chg="addSld modSld sldOrd">
      <pc:chgData name="Jack Forden" userId="S::jforden@carrollu.edu::097e3a7e-cd5c-474a-95f0-a72dc440bf11" providerId="AD" clId="Web-{A293D13A-4E56-7429-82BB-9CD34C28870B}" dt="2026-01-20T19:52:34.957" v="54" actId="20577"/>
      <pc:docMkLst>
        <pc:docMk/>
      </pc:docMkLst>
      <pc:sldChg chg="modSp">
        <pc:chgData name="Jack Forden" userId="S::jforden@carrollu.edu::097e3a7e-cd5c-474a-95f0-a72dc440bf11" providerId="AD" clId="Web-{A293D13A-4E56-7429-82BB-9CD34C28870B}" dt="2026-01-20T19:33:19.117" v="36" actId="20577"/>
        <pc:sldMkLst>
          <pc:docMk/>
          <pc:sldMk cId="4187166222" sldId="260"/>
        </pc:sldMkLst>
        <pc:spChg chg="mod">
          <ac:chgData name="Jack Forden" userId="S::jforden@carrollu.edu::097e3a7e-cd5c-474a-95f0-a72dc440bf11" providerId="AD" clId="Web-{A293D13A-4E56-7429-82BB-9CD34C28870B}" dt="2026-01-20T19:33:19.117" v="36" actId="20577"/>
          <ac:spMkLst>
            <pc:docMk/>
            <pc:sldMk cId="4187166222" sldId="260"/>
            <ac:spMk id="2" creationId="{9107657A-A7D0-877B-A499-6B5A4C496572}"/>
          </ac:spMkLst>
        </pc:spChg>
      </pc:sldChg>
      <pc:sldChg chg="modSp ord">
        <pc:chgData name="Jack Forden" userId="S::jforden@carrollu.edu::097e3a7e-cd5c-474a-95f0-a72dc440bf11" providerId="AD" clId="Web-{A293D13A-4E56-7429-82BB-9CD34C28870B}" dt="2026-01-20T19:33:52.071" v="47"/>
        <pc:sldMkLst>
          <pc:docMk/>
          <pc:sldMk cId="920299964" sldId="261"/>
        </pc:sldMkLst>
        <pc:spChg chg="mod">
          <ac:chgData name="Jack Forden" userId="S::jforden@carrollu.edu::097e3a7e-cd5c-474a-95f0-a72dc440bf11" providerId="AD" clId="Web-{A293D13A-4E56-7429-82BB-9CD34C28870B}" dt="2026-01-20T19:33:41.508" v="46" actId="20577"/>
          <ac:spMkLst>
            <pc:docMk/>
            <pc:sldMk cId="920299964" sldId="261"/>
            <ac:spMk id="2" creationId="{78D3507E-4334-2359-275B-A639E2296D81}"/>
          </ac:spMkLst>
        </pc:spChg>
      </pc:sldChg>
      <pc:sldChg chg="modSp">
        <pc:chgData name="Jack Forden" userId="S::jforden@carrollu.edu::097e3a7e-cd5c-474a-95f0-a72dc440bf11" providerId="AD" clId="Web-{A293D13A-4E56-7429-82BB-9CD34C28870B}" dt="2026-01-20T19:27:25.599" v="30" actId="20577"/>
        <pc:sldMkLst>
          <pc:docMk/>
          <pc:sldMk cId="3276188676" sldId="337"/>
        </pc:sldMkLst>
        <pc:spChg chg="mod">
          <ac:chgData name="Jack Forden" userId="S::jforden@carrollu.edu::097e3a7e-cd5c-474a-95f0-a72dc440bf11" providerId="AD" clId="Web-{A293D13A-4E56-7429-82BB-9CD34C28870B}" dt="2026-01-20T19:27:25.599" v="30" actId="20577"/>
          <ac:spMkLst>
            <pc:docMk/>
            <pc:sldMk cId="3276188676" sldId="337"/>
            <ac:spMk id="2" creationId="{069A91C1-A99E-874D-CA89-4666C80954C9}"/>
          </ac:spMkLst>
        </pc:spChg>
      </pc:sldChg>
      <pc:sldChg chg="modSp">
        <pc:chgData name="Jack Forden" userId="S::jforden@carrollu.edu::097e3a7e-cd5c-474a-95f0-a72dc440bf11" providerId="AD" clId="Web-{A293D13A-4E56-7429-82BB-9CD34C28870B}" dt="2026-01-20T19:39:17.972" v="48" actId="14100"/>
        <pc:sldMkLst>
          <pc:docMk/>
          <pc:sldMk cId="1277919830" sldId="340"/>
        </pc:sldMkLst>
        <pc:picChg chg="mod">
          <ac:chgData name="Jack Forden" userId="S::jforden@carrollu.edu::097e3a7e-cd5c-474a-95f0-a72dc440bf11" providerId="AD" clId="Web-{A293D13A-4E56-7429-82BB-9CD34C28870B}" dt="2026-01-20T19:39:17.972" v="48" actId="14100"/>
          <ac:picMkLst>
            <pc:docMk/>
            <pc:sldMk cId="1277919830" sldId="340"/>
            <ac:picMk id="4" creationId="{EE8F51F2-ACB0-E0D4-F322-E938535AA91F}"/>
          </ac:picMkLst>
        </pc:picChg>
      </pc:sldChg>
      <pc:sldChg chg="modSp">
        <pc:chgData name="Jack Forden" userId="S::jforden@carrollu.edu::097e3a7e-cd5c-474a-95f0-a72dc440bf11" providerId="AD" clId="Web-{A293D13A-4E56-7429-82BB-9CD34C28870B}" dt="2026-01-20T19:52:34.957" v="54" actId="20577"/>
        <pc:sldMkLst>
          <pc:docMk/>
          <pc:sldMk cId="1283131103" sldId="343"/>
        </pc:sldMkLst>
        <pc:spChg chg="mod">
          <ac:chgData name="Jack Forden" userId="S::jforden@carrollu.edu::097e3a7e-cd5c-474a-95f0-a72dc440bf11" providerId="AD" clId="Web-{A293D13A-4E56-7429-82BB-9CD34C28870B}" dt="2026-01-20T19:52:34.957" v="54" actId="20577"/>
          <ac:spMkLst>
            <pc:docMk/>
            <pc:sldMk cId="1283131103" sldId="343"/>
            <ac:spMk id="2" creationId="{921C1591-1757-782A-D990-D2B3B6F8C715}"/>
          </ac:spMkLst>
        </pc:spChg>
      </pc:sldChg>
      <pc:sldChg chg="modSp new">
        <pc:chgData name="Jack Forden" userId="S::jforden@carrollu.edu::097e3a7e-cd5c-474a-95f0-a72dc440bf11" providerId="AD" clId="Web-{A293D13A-4E56-7429-82BB-9CD34C28870B}" dt="2026-01-20T19:26:39.611" v="29" actId="20577"/>
        <pc:sldMkLst>
          <pc:docMk/>
          <pc:sldMk cId="1424344670" sldId="386"/>
        </pc:sldMkLst>
        <pc:spChg chg="mod">
          <ac:chgData name="Jack Forden" userId="S::jforden@carrollu.edu::097e3a7e-cd5c-474a-95f0-a72dc440bf11" providerId="AD" clId="Web-{A293D13A-4E56-7429-82BB-9CD34C28870B}" dt="2026-01-20T19:26:31.220" v="8" actId="20577"/>
          <ac:spMkLst>
            <pc:docMk/>
            <pc:sldMk cId="1424344670" sldId="386"/>
            <ac:spMk id="2" creationId="{56966313-334A-3E25-6723-9154643C1061}"/>
          </ac:spMkLst>
        </pc:spChg>
        <pc:spChg chg="mod">
          <ac:chgData name="Jack Forden" userId="S::jforden@carrollu.edu::097e3a7e-cd5c-474a-95f0-a72dc440bf11" providerId="AD" clId="Web-{A293D13A-4E56-7429-82BB-9CD34C28870B}" dt="2026-01-20T19:26:39.611" v="29" actId="20577"/>
          <ac:spMkLst>
            <pc:docMk/>
            <pc:sldMk cId="1424344670" sldId="386"/>
            <ac:spMk id="3" creationId="{A8CD44F3-3FEB-7C1F-C7FD-29FE86DC675C}"/>
          </ac:spMkLst>
        </pc:spChg>
      </pc:sldChg>
    </pc:docChg>
  </pc:docChgLst>
  <pc:docChgLst>
    <pc:chgData name="Jack Forden" userId="097e3a7e-cd5c-474a-95f0-a72dc440bf11" providerId="ADAL" clId="{00138138-825D-5C8E-9D8E-7174C4A083C4}"/>
    <pc:docChg chg="undo custSel modSld">
      <pc:chgData name="Jack Forden" userId="097e3a7e-cd5c-474a-95f0-a72dc440bf11" providerId="ADAL" clId="{00138138-825D-5C8E-9D8E-7174C4A083C4}" dt="2026-01-22T17:44:23.581" v="2981" actId="20577"/>
      <pc:docMkLst>
        <pc:docMk/>
      </pc:docMkLst>
      <pc:sldChg chg="modSp mod">
        <pc:chgData name="Jack Forden" userId="097e3a7e-cd5c-474a-95f0-a72dc440bf11" providerId="ADAL" clId="{00138138-825D-5C8E-9D8E-7174C4A083C4}" dt="2026-01-20T16:20:21.345" v="472" actId="20577"/>
        <pc:sldMkLst>
          <pc:docMk/>
          <pc:sldMk cId="3229540287" sldId="259"/>
        </pc:sldMkLst>
        <pc:spChg chg="mod">
          <ac:chgData name="Jack Forden" userId="097e3a7e-cd5c-474a-95f0-a72dc440bf11" providerId="ADAL" clId="{00138138-825D-5C8E-9D8E-7174C4A083C4}" dt="2026-01-20T16:20:21.345" v="472" actId="20577"/>
          <ac:spMkLst>
            <pc:docMk/>
            <pc:sldMk cId="3229540287" sldId="259"/>
            <ac:spMk id="3" creationId="{135BC602-FA02-9041-C194-F3397A90EA6B}"/>
          </ac:spMkLst>
        </pc:spChg>
      </pc:sldChg>
      <pc:sldChg chg="modSp mod">
        <pc:chgData name="Jack Forden" userId="097e3a7e-cd5c-474a-95f0-a72dc440bf11" providerId="ADAL" clId="{00138138-825D-5C8E-9D8E-7174C4A083C4}" dt="2026-01-20T16:21:36.755" v="771" actId="20577"/>
        <pc:sldMkLst>
          <pc:docMk/>
          <pc:sldMk cId="4187166222" sldId="260"/>
        </pc:sldMkLst>
        <pc:spChg chg="mod">
          <ac:chgData name="Jack Forden" userId="097e3a7e-cd5c-474a-95f0-a72dc440bf11" providerId="ADAL" clId="{00138138-825D-5C8E-9D8E-7174C4A083C4}" dt="2026-01-20T16:21:36.755" v="771" actId="20577"/>
          <ac:spMkLst>
            <pc:docMk/>
            <pc:sldMk cId="4187166222" sldId="260"/>
            <ac:spMk id="3" creationId="{9B27D78E-3DDF-CC9B-A5F1-6F1C2A94CE5A}"/>
          </ac:spMkLst>
        </pc:spChg>
      </pc:sldChg>
      <pc:sldChg chg="modSp mod">
        <pc:chgData name="Jack Forden" userId="097e3a7e-cd5c-474a-95f0-a72dc440bf11" providerId="ADAL" clId="{00138138-825D-5C8E-9D8E-7174C4A083C4}" dt="2026-01-20T16:23:53.322" v="1357" actId="14"/>
        <pc:sldMkLst>
          <pc:docMk/>
          <pc:sldMk cId="920299964" sldId="261"/>
        </pc:sldMkLst>
        <pc:spChg chg="mod">
          <ac:chgData name="Jack Forden" userId="097e3a7e-cd5c-474a-95f0-a72dc440bf11" providerId="ADAL" clId="{00138138-825D-5C8E-9D8E-7174C4A083C4}" dt="2026-01-20T16:23:53.322" v="1357" actId="14"/>
          <ac:spMkLst>
            <pc:docMk/>
            <pc:sldMk cId="920299964" sldId="261"/>
            <ac:spMk id="3" creationId="{EBBDECA5-8824-6463-1078-0F04E34FA2E5}"/>
          </ac:spMkLst>
        </pc:spChg>
      </pc:sldChg>
      <pc:sldChg chg="addSp delSp modSp mod">
        <pc:chgData name="Jack Forden" userId="097e3a7e-cd5c-474a-95f0-a72dc440bf11" providerId="ADAL" clId="{00138138-825D-5C8E-9D8E-7174C4A083C4}" dt="2026-01-20T16:27:15.532" v="1862" actId="20577"/>
        <pc:sldMkLst>
          <pc:docMk/>
          <pc:sldMk cId="1283131103" sldId="343"/>
        </pc:sldMkLst>
        <pc:spChg chg="add del mod">
          <ac:chgData name="Jack Forden" userId="097e3a7e-cd5c-474a-95f0-a72dc440bf11" providerId="ADAL" clId="{00138138-825D-5C8E-9D8E-7174C4A083C4}" dt="2026-01-20T16:27:15.532" v="1862" actId="20577"/>
          <ac:spMkLst>
            <pc:docMk/>
            <pc:sldMk cId="1283131103" sldId="343"/>
            <ac:spMk id="3" creationId="{74275DB3-BC2A-B195-5255-E6901B8B7042}"/>
          </ac:spMkLst>
        </pc:spChg>
      </pc:sldChg>
      <pc:sldChg chg="modSp mod">
        <pc:chgData name="Jack Forden" userId="097e3a7e-cd5c-474a-95f0-a72dc440bf11" providerId="ADAL" clId="{00138138-825D-5C8E-9D8E-7174C4A083C4}" dt="2026-01-20T16:33:09.221" v="1893" actId="20577"/>
        <pc:sldMkLst>
          <pc:docMk/>
          <pc:sldMk cId="342843228" sldId="368"/>
        </pc:sldMkLst>
        <pc:spChg chg="mod">
          <ac:chgData name="Jack Forden" userId="097e3a7e-cd5c-474a-95f0-a72dc440bf11" providerId="ADAL" clId="{00138138-825D-5C8E-9D8E-7174C4A083C4}" dt="2026-01-20T16:33:09.221" v="1893" actId="20577"/>
          <ac:spMkLst>
            <pc:docMk/>
            <pc:sldMk cId="342843228" sldId="368"/>
            <ac:spMk id="3" creationId="{CE7EDF5F-0A37-435E-6421-F5E2BB61F5C4}"/>
          </ac:spMkLst>
        </pc:spChg>
      </pc:sldChg>
      <pc:sldChg chg="modSp mod">
        <pc:chgData name="Jack Forden" userId="097e3a7e-cd5c-474a-95f0-a72dc440bf11" providerId="ADAL" clId="{00138138-825D-5C8E-9D8E-7174C4A083C4}" dt="2026-01-22T17:44:23.581" v="2981" actId="20577"/>
        <pc:sldMkLst>
          <pc:docMk/>
          <pc:sldMk cId="634489819" sldId="376"/>
        </pc:sldMkLst>
        <pc:spChg chg="mod">
          <ac:chgData name="Jack Forden" userId="097e3a7e-cd5c-474a-95f0-a72dc440bf11" providerId="ADAL" clId="{00138138-825D-5C8E-9D8E-7174C4A083C4}" dt="2026-01-22T17:44:23.581" v="2981" actId="20577"/>
          <ac:spMkLst>
            <pc:docMk/>
            <pc:sldMk cId="634489819" sldId="376"/>
            <ac:spMk id="3" creationId="{A639297F-E05B-24E3-8A59-E68362D2B4DE}"/>
          </ac:spMkLst>
        </pc:spChg>
      </pc:sldChg>
    </pc:docChg>
  </pc:docChgLst>
  <pc:docChgLst>
    <pc:chgData name="Jack Forden" userId="097e3a7e-cd5c-474a-95f0-a72dc440bf11" providerId="ADAL" clId="{4370DB94-02B7-4ACA-94FB-2B9C09D1BE22}"/>
    <pc:docChg chg="addSld">
      <pc:chgData name="Jack Forden" userId="097e3a7e-cd5c-474a-95f0-a72dc440bf11" providerId="ADAL" clId="{4370DB94-02B7-4ACA-94FB-2B9C09D1BE22}" dt="2026-01-27T20:17:20.818" v="0" actId="680"/>
      <pc:docMkLst>
        <pc:docMk/>
      </pc:docMkLst>
      <pc:sldChg chg="new">
        <pc:chgData name="Jack Forden" userId="097e3a7e-cd5c-474a-95f0-a72dc440bf11" providerId="ADAL" clId="{4370DB94-02B7-4ACA-94FB-2B9C09D1BE22}" dt="2026-01-27T20:17:20.818" v="0" actId="680"/>
        <pc:sldMkLst>
          <pc:docMk/>
          <pc:sldMk cId="1680821262" sldId="387"/>
        </pc:sldMkLst>
      </pc:sldChg>
    </pc:docChg>
  </pc:docChgLst>
  <pc:docChgLst>
    <pc:chgData name="Jack Forden" userId="097e3a7e-cd5c-474a-95f0-a72dc440bf11" providerId="ADAL" clId="{E85425CB-93DB-4066-BCBC-2427ECDC7B55}"/>
    <pc:docChg chg="undo custSel addSld delSld modSld delMainMaster">
      <pc:chgData name="Jack Forden" userId="097e3a7e-cd5c-474a-95f0-a72dc440bf11" providerId="ADAL" clId="{E85425CB-93DB-4066-BCBC-2427ECDC7B55}" dt="2026-01-27T03:08:57.003" v="6664" actId="20577"/>
      <pc:docMkLst>
        <pc:docMk/>
      </pc:docMkLst>
      <pc:sldChg chg="modSp add mod">
        <pc:chgData name="Jack Forden" userId="097e3a7e-cd5c-474a-95f0-a72dc440bf11" providerId="ADAL" clId="{E85425CB-93DB-4066-BCBC-2427ECDC7B55}" dt="2026-01-11T19:45:22.590" v="108" actId="27636"/>
        <pc:sldMkLst>
          <pc:docMk/>
          <pc:sldMk cId="0" sldId="257"/>
        </pc:sldMkLst>
        <pc:spChg chg="mod">
          <ac:chgData name="Jack Forden" userId="097e3a7e-cd5c-474a-95f0-a72dc440bf11" providerId="ADAL" clId="{E85425CB-93DB-4066-BCBC-2427ECDC7B55}" dt="2026-01-11T19:45:22.590" v="108" actId="27636"/>
          <ac:spMkLst>
            <pc:docMk/>
            <pc:sldMk cId="0" sldId="257"/>
            <ac:spMk id="176" creationId="{00000000-0000-0000-0000-000000000000}"/>
          </ac:spMkLst>
        </pc:spChg>
        <pc:spChg chg="mod">
          <ac:chgData name="Jack Forden" userId="097e3a7e-cd5c-474a-95f0-a72dc440bf11" providerId="ADAL" clId="{E85425CB-93DB-4066-BCBC-2427ECDC7B55}" dt="2026-01-11T19:45:22.590" v="107" actId="27636"/>
          <ac:spMkLst>
            <pc:docMk/>
            <pc:sldMk cId="0" sldId="257"/>
            <ac:spMk id="177" creationId="{00000000-0000-0000-0000-000000000000}"/>
          </ac:spMkLst>
        </pc:spChg>
      </pc:sldChg>
      <pc:sldChg chg="modSp add mod">
        <pc:chgData name="Jack Forden" userId="097e3a7e-cd5c-474a-95f0-a72dc440bf11" providerId="ADAL" clId="{E85425CB-93DB-4066-BCBC-2427ECDC7B55}" dt="2026-01-11T19:43:48.341" v="104" actId="20577"/>
        <pc:sldMkLst>
          <pc:docMk/>
          <pc:sldMk cId="332546241" sldId="258"/>
        </pc:sldMkLst>
        <pc:spChg chg="mod">
          <ac:chgData name="Jack Forden" userId="097e3a7e-cd5c-474a-95f0-a72dc440bf11" providerId="ADAL" clId="{E85425CB-93DB-4066-BCBC-2427ECDC7B55}" dt="2026-01-11T19:43:32.944" v="56" actId="20577"/>
          <ac:spMkLst>
            <pc:docMk/>
            <pc:sldMk cId="332546241" sldId="258"/>
            <ac:spMk id="2" creationId="{00D3BDB2-C0D0-8B9C-A456-686F81FC2D48}"/>
          </ac:spMkLst>
        </pc:spChg>
        <pc:spChg chg="mod">
          <ac:chgData name="Jack Forden" userId="097e3a7e-cd5c-474a-95f0-a72dc440bf11" providerId="ADAL" clId="{E85425CB-93DB-4066-BCBC-2427ECDC7B55}" dt="2026-01-11T19:43:48.341" v="104" actId="20577"/>
          <ac:spMkLst>
            <pc:docMk/>
            <pc:sldMk cId="332546241" sldId="258"/>
            <ac:spMk id="3" creationId="{23D45674-4ADB-82E3-CC62-247426F19C78}"/>
          </ac:spMkLst>
        </pc:spChg>
      </pc:sldChg>
      <pc:sldChg chg="modSp new mod">
        <pc:chgData name="Jack Forden" userId="097e3a7e-cd5c-474a-95f0-a72dc440bf11" providerId="ADAL" clId="{E85425CB-93DB-4066-BCBC-2427ECDC7B55}" dt="2026-01-11T19:45:41.960" v="129" actId="20577"/>
        <pc:sldMkLst>
          <pc:docMk/>
          <pc:sldMk cId="3229540287" sldId="259"/>
        </pc:sldMkLst>
        <pc:spChg chg="mod">
          <ac:chgData name="Jack Forden" userId="097e3a7e-cd5c-474a-95f0-a72dc440bf11" providerId="ADAL" clId="{E85425CB-93DB-4066-BCBC-2427ECDC7B55}" dt="2026-01-11T19:45:41.960" v="129" actId="20577"/>
          <ac:spMkLst>
            <pc:docMk/>
            <pc:sldMk cId="3229540287" sldId="259"/>
            <ac:spMk id="2" creationId="{D8F9F23B-1412-502D-15EA-5F937E918B0B}"/>
          </ac:spMkLst>
        </pc:spChg>
      </pc:sldChg>
      <pc:sldChg chg="modSp new mod">
        <pc:chgData name="Jack Forden" userId="097e3a7e-cd5c-474a-95f0-a72dc440bf11" providerId="ADAL" clId="{E85425CB-93DB-4066-BCBC-2427ECDC7B55}" dt="2026-01-11T19:45:54.180" v="159" actId="20577"/>
        <pc:sldMkLst>
          <pc:docMk/>
          <pc:sldMk cId="4187166222" sldId="260"/>
        </pc:sldMkLst>
        <pc:spChg chg="mod">
          <ac:chgData name="Jack Forden" userId="097e3a7e-cd5c-474a-95f0-a72dc440bf11" providerId="ADAL" clId="{E85425CB-93DB-4066-BCBC-2427ECDC7B55}" dt="2026-01-11T19:45:54.180" v="159" actId="20577"/>
          <ac:spMkLst>
            <pc:docMk/>
            <pc:sldMk cId="4187166222" sldId="260"/>
            <ac:spMk id="2" creationId="{9107657A-A7D0-877B-A499-6B5A4C496572}"/>
          </ac:spMkLst>
        </pc:spChg>
      </pc:sldChg>
      <pc:sldChg chg="modSp new mod">
        <pc:chgData name="Jack Forden" userId="097e3a7e-cd5c-474a-95f0-a72dc440bf11" providerId="ADAL" clId="{E85425CB-93DB-4066-BCBC-2427ECDC7B55}" dt="2026-01-11T19:46:08.179" v="226" actId="20577"/>
        <pc:sldMkLst>
          <pc:docMk/>
          <pc:sldMk cId="920299964" sldId="261"/>
        </pc:sldMkLst>
        <pc:spChg chg="mod">
          <ac:chgData name="Jack Forden" userId="097e3a7e-cd5c-474a-95f0-a72dc440bf11" providerId="ADAL" clId="{E85425CB-93DB-4066-BCBC-2427ECDC7B55}" dt="2026-01-11T19:46:08.179" v="226" actId="20577"/>
          <ac:spMkLst>
            <pc:docMk/>
            <pc:sldMk cId="920299964" sldId="261"/>
            <ac:spMk id="2" creationId="{78D3507E-4334-2359-275B-A639E2296D81}"/>
          </ac:spMkLst>
        </pc:spChg>
      </pc:sldChg>
      <pc:sldChg chg="modSp new mod">
        <pc:chgData name="Jack Forden" userId="097e3a7e-cd5c-474a-95f0-a72dc440bf11" providerId="ADAL" clId="{E85425CB-93DB-4066-BCBC-2427ECDC7B55}" dt="2026-01-11T19:46:34.059" v="264" actId="20577"/>
        <pc:sldMkLst>
          <pc:docMk/>
          <pc:sldMk cId="2818715541" sldId="264"/>
        </pc:sldMkLst>
        <pc:spChg chg="mod">
          <ac:chgData name="Jack Forden" userId="097e3a7e-cd5c-474a-95f0-a72dc440bf11" providerId="ADAL" clId="{E85425CB-93DB-4066-BCBC-2427ECDC7B55}" dt="2026-01-11T19:46:34.059" v="264" actId="20577"/>
          <ac:spMkLst>
            <pc:docMk/>
            <pc:sldMk cId="2818715541" sldId="264"/>
            <ac:spMk id="2" creationId="{522995DA-6937-D197-52A6-15C9478152C8}"/>
          </ac:spMkLst>
        </pc:spChg>
      </pc:sldChg>
      <pc:sldChg chg="add">
        <pc:chgData name="Jack Forden" userId="097e3a7e-cd5c-474a-95f0-a72dc440bf11" providerId="ADAL" clId="{E85425CB-93DB-4066-BCBC-2427ECDC7B55}" dt="2026-01-11T20:11:33.729" v="1183"/>
        <pc:sldMkLst>
          <pc:docMk/>
          <pc:sldMk cId="596857091" sldId="265"/>
        </pc:sldMkLst>
      </pc:sldChg>
      <pc:sldChg chg="add">
        <pc:chgData name="Jack Forden" userId="097e3a7e-cd5c-474a-95f0-a72dc440bf11" providerId="ADAL" clId="{E85425CB-93DB-4066-BCBC-2427ECDC7B55}" dt="2026-01-11T20:11:36.659" v="1184"/>
        <pc:sldMkLst>
          <pc:docMk/>
          <pc:sldMk cId="3571193788" sldId="266"/>
        </pc:sldMkLst>
      </pc:sldChg>
      <pc:sldChg chg="add">
        <pc:chgData name="Jack Forden" userId="097e3a7e-cd5c-474a-95f0-a72dc440bf11" providerId="ADAL" clId="{E85425CB-93DB-4066-BCBC-2427ECDC7B55}" dt="2026-01-11T20:03:24.753" v="760"/>
        <pc:sldMkLst>
          <pc:docMk/>
          <pc:sldMk cId="1606714036" sldId="267"/>
        </pc:sldMkLst>
      </pc:sldChg>
      <pc:sldChg chg="modSp add mod">
        <pc:chgData name="Jack Forden" userId="097e3a7e-cd5c-474a-95f0-a72dc440bf11" providerId="ADAL" clId="{E85425CB-93DB-4066-BCBC-2427ECDC7B55}" dt="2026-01-11T20:03:39.650" v="763" actId="27636"/>
        <pc:sldMkLst>
          <pc:docMk/>
          <pc:sldMk cId="3609680110" sldId="268"/>
        </pc:sldMkLst>
        <pc:spChg chg="mod">
          <ac:chgData name="Jack Forden" userId="097e3a7e-cd5c-474a-95f0-a72dc440bf11" providerId="ADAL" clId="{E85425CB-93DB-4066-BCBC-2427ECDC7B55}" dt="2026-01-11T20:03:39.650" v="763" actId="27636"/>
          <ac:spMkLst>
            <pc:docMk/>
            <pc:sldMk cId="3609680110" sldId="268"/>
            <ac:spMk id="3" creationId="{93456996-F9B1-8402-ED53-DF271708D25F}"/>
          </ac:spMkLst>
        </pc:spChg>
      </pc:sldChg>
      <pc:sldChg chg="add">
        <pc:chgData name="Jack Forden" userId="097e3a7e-cd5c-474a-95f0-a72dc440bf11" providerId="ADAL" clId="{E85425CB-93DB-4066-BCBC-2427ECDC7B55}" dt="2026-01-11T20:04:33.540" v="775"/>
        <pc:sldMkLst>
          <pc:docMk/>
          <pc:sldMk cId="2583632238" sldId="271"/>
        </pc:sldMkLst>
      </pc:sldChg>
      <pc:sldChg chg="modSp add mod">
        <pc:chgData name="Jack Forden" userId="097e3a7e-cd5c-474a-95f0-a72dc440bf11" providerId="ADAL" clId="{E85425CB-93DB-4066-BCBC-2427ECDC7B55}" dt="2026-01-11T20:04:55.512" v="782" actId="27636"/>
        <pc:sldMkLst>
          <pc:docMk/>
          <pc:sldMk cId="1865211468" sldId="272"/>
        </pc:sldMkLst>
        <pc:spChg chg="mod">
          <ac:chgData name="Jack Forden" userId="097e3a7e-cd5c-474a-95f0-a72dc440bf11" providerId="ADAL" clId="{E85425CB-93DB-4066-BCBC-2427ECDC7B55}" dt="2026-01-11T20:04:55.512" v="782" actId="27636"/>
          <ac:spMkLst>
            <pc:docMk/>
            <pc:sldMk cId="1865211468" sldId="272"/>
            <ac:spMk id="3" creationId="{64739AA5-C284-1612-D7E4-B30B1BED704B}"/>
          </ac:spMkLst>
        </pc:spChg>
      </pc:sldChg>
      <pc:sldChg chg="add">
        <pc:chgData name="Jack Forden" userId="097e3a7e-cd5c-474a-95f0-a72dc440bf11" providerId="ADAL" clId="{E85425CB-93DB-4066-BCBC-2427ECDC7B55}" dt="2026-01-11T20:05:05.707" v="784"/>
        <pc:sldMkLst>
          <pc:docMk/>
          <pc:sldMk cId="4012454817" sldId="273"/>
        </pc:sldMkLst>
      </pc:sldChg>
      <pc:sldChg chg="add">
        <pc:chgData name="Jack Forden" userId="097e3a7e-cd5c-474a-95f0-a72dc440bf11" providerId="ADAL" clId="{E85425CB-93DB-4066-BCBC-2427ECDC7B55}" dt="2026-01-11T20:05:11.728" v="785"/>
        <pc:sldMkLst>
          <pc:docMk/>
          <pc:sldMk cId="1157365877" sldId="274"/>
        </pc:sldMkLst>
      </pc:sldChg>
      <pc:sldChg chg="modSp add mod">
        <pc:chgData name="Jack Forden" userId="097e3a7e-cd5c-474a-95f0-a72dc440bf11" providerId="ADAL" clId="{E85425CB-93DB-4066-BCBC-2427ECDC7B55}" dt="2026-01-11T20:13:07.087" v="1187" actId="6549"/>
        <pc:sldMkLst>
          <pc:docMk/>
          <pc:sldMk cId="3004649514" sldId="276"/>
        </pc:sldMkLst>
        <pc:spChg chg="mod">
          <ac:chgData name="Jack Forden" userId="097e3a7e-cd5c-474a-95f0-a72dc440bf11" providerId="ADAL" clId="{E85425CB-93DB-4066-BCBC-2427ECDC7B55}" dt="2026-01-11T20:13:07.087" v="1187" actId="6549"/>
          <ac:spMkLst>
            <pc:docMk/>
            <pc:sldMk cId="3004649514" sldId="276"/>
            <ac:spMk id="3" creationId="{7E0D1844-9E93-7A75-0D50-95D885D77718}"/>
          </ac:spMkLst>
        </pc:spChg>
      </pc:sldChg>
      <pc:sldChg chg="modSp add mod">
        <pc:chgData name="Jack Forden" userId="097e3a7e-cd5c-474a-95f0-a72dc440bf11" providerId="ADAL" clId="{E85425CB-93DB-4066-BCBC-2427ECDC7B55}" dt="2026-01-11T20:13:36.195" v="1188" actId="20577"/>
        <pc:sldMkLst>
          <pc:docMk/>
          <pc:sldMk cId="2798999703" sldId="277"/>
        </pc:sldMkLst>
        <pc:spChg chg="mod">
          <ac:chgData name="Jack Forden" userId="097e3a7e-cd5c-474a-95f0-a72dc440bf11" providerId="ADAL" clId="{E85425CB-93DB-4066-BCBC-2427ECDC7B55}" dt="2026-01-11T20:13:36.195" v="1188" actId="20577"/>
          <ac:spMkLst>
            <pc:docMk/>
            <pc:sldMk cId="2798999703" sldId="277"/>
            <ac:spMk id="3" creationId="{921CB8D8-1FB6-9865-50AA-E6A9C7598ED5}"/>
          </ac:spMkLst>
        </pc:spChg>
      </pc:sldChg>
      <pc:sldChg chg="modSp add mod">
        <pc:chgData name="Jack Forden" userId="097e3a7e-cd5c-474a-95f0-a72dc440bf11" providerId="ADAL" clId="{E85425CB-93DB-4066-BCBC-2427ECDC7B55}" dt="2026-01-11T20:04:40.550" v="778" actId="27636"/>
        <pc:sldMkLst>
          <pc:docMk/>
          <pc:sldMk cId="1965808078" sldId="278"/>
        </pc:sldMkLst>
        <pc:spChg chg="mod">
          <ac:chgData name="Jack Forden" userId="097e3a7e-cd5c-474a-95f0-a72dc440bf11" providerId="ADAL" clId="{E85425CB-93DB-4066-BCBC-2427ECDC7B55}" dt="2026-01-11T20:04:40.550" v="778" actId="27636"/>
          <ac:spMkLst>
            <pc:docMk/>
            <pc:sldMk cId="1965808078" sldId="278"/>
            <ac:spMk id="3" creationId="{3D3B5BFC-7332-F77C-2640-E188B6867388}"/>
          </ac:spMkLst>
        </pc:spChg>
      </pc:sldChg>
      <pc:sldChg chg="add">
        <pc:chgData name="Jack Forden" userId="097e3a7e-cd5c-474a-95f0-a72dc440bf11" providerId="ADAL" clId="{E85425CB-93DB-4066-BCBC-2427ECDC7B55}" dt="2026-01-11T20:04:49.480" v="779"/>
        <pc:sldMkLst>
          <pc:docMk/>
          <pc:sldMk cId="3484794856" sldId="279"/>
        </pc:sldMkLst>
      </pc:sldChg>
      <pc:sldChg chg="add">
        <pc:chgData name="Jack Forden" userId="097e3a7e-cd5c-474a-95f0-a72dc440bf11" providerId="ADAL" clId="{E85425CB-93DB-4066-BCBC-2427ECDC7B55}" dt="2026-01-11T20:04:52.560" v="780"/>
        <pc:sldMkLst>
          <pc:docMk/>
          <pc:sldMk cId="1732163923" sldId="280"/>
        </pc:sldMkLst>
      </pc:sldChg>
      <pc:sldChg chg="add">
        <pc:chgData name="Jack Forden" userId="097e3a7e-cd5c-474a-95f0-a72dc440bf11" providerId="ADAL" clId="{E85425CB-93DB-4066-BCBC-2427ECDC7B55}" dt="2026-01-11T20:05:01.964" v="783"/>
        <pc:sldMkLst>
          <pc:docMk/>
          <pc:sldMk cId="1928556805" sldId="281"/>
        </pc:sldMkLst>
      </pc:sldChg>
      <pc:sldChg chg="add">
        <pc:chgData name="Jack Forden" userId="097e3a7e-cd5c-474a-95f0-a72dc440bf11" providerId="ADAL" clId="{E85425CB-93DB-4066-BCBC-2427ECDC7B55}" dt="2026-01-11T20:46:47.999" v="2651"/>
        <pc:sldMkLst>
          <pc:docMk/>
          <pc:sldMk cId="1890012546" sldId="284"/>
        </pc:sldMkLst>
      </pc:sldChg>
      <pc:sldChg chg="modSp add mod">
        <pc:chgData name="Jack Forden" userId="097e3a7e-cd5c-474a-95f0-a72dc440bf11" providerId="ADAL" clId="{E85425CB-93DB-4066-BCBC-2427ECDC7B55}" dt="2026-01-11T20:48:03.218" v="2826" actId="5793"/>
        <pc:sldMkLst>
          <pc:docMk/>
          <pc:sldMk cId="305106865" sldId="285"/>
        </pc:sldMkLst>
        <pc:spChg chg="mod">
          <ac:chgData name="Jack Forden" userId="097e3a7e-cd5c-474a-95f0-a72dc440bf11" providerId="ADAL" clId="{E85425CB-93DB-4066-BCBC-2427ECDC7B55}" dt="2026-01-11T20:48:03.218" v="2826" actId="5793"/>
          <ac:spMkLst>
            <pc:docMk/>
            <pc:sldMk cId="305106865" sldId="285"/>
            <ac:spMk id="3" creationId="{EC33450E-72EE-FCA8-CE6D-0A4ABA46C24F}"/>
          </ac:spMkLst>
        </pc:spChg>
      </pc:sldChg>
      <pc:sldChg chg="modSp add mod">
        <pc:chgData name="Jack Forden" userId="097e3a7e-cd5c-474a-95f0-a72dc440bf11" providerId="ADAL" clId="{E85425CB-93DB-4066-BCBC-2427ECDC7B55}" dt="2026-01-11T20:05:43.272" v="789" actId="27636"/>
        <pc:sldMkLst>
          <pc:docMk/>
          <pc:sldMk cId="4073728469" sldId="289"/>
        </pc:sldMkLst>
        <pc:spChg chg="mod">
          <ac:chgData name="Jack Forden" userId="097e3a7e-cd5c-474a-95f0-a72dc440bf11" providerId="ADAL" clId="{E85425CB-93DB-4066-BCBC-2427ECDC7B55}" dt="2026-01-11T20:05:43.272" v="789" actId="27636"/>
          <ac:spMkLst>
            <pc:docMk/>
            <pc:sldMk cId="4073728469" sldId="289"/>
            <ac:spMk id="3" creationId="{8229E0D0-84C1-CA49-7A53-93FC8164F7FB}"/>
          </ac:spMkLst>
        </pc:spChg>
      </pc:sldChg>
      <pc:sldChg chg="modSp add mod">
        <pc:chgData name="Jack Forden" userId="097e3a7e-cd5c-474a-95f0-a72dc440bf11" providerId="ADAL" clId="{E85425CB-93DB-4066-BCBC-2427ECDC7B55}" dt="2026-01-11T19:46:58.489" v="279" actId="20577"/>
        <pc:sldMkLst>
          <pc:docMk/>
          <pc:sldMk cId="339800822" sldId="303"/>
        </pc:sldMkLst>
        <pc:spChg chg="mod">
          <ac:chgData name="Jack Forden" userId="097e3a7e-cd5c-474a-95f0-a72dc440bf11" providerId="ADAL" clId="{E85425CB-93DB-4066-BCBC-2427ECDC7B55}" dt="2026-01-11T19:46:58.489" v="279" actId="20577"/>
          <ac:spMkLst>
            <pc:docMk/>
            <pc:sldMk cId="339800822" sldId="303"/>
            <ac:spMk id="2" creationId="{5948BF89-B6FC-D048-9522-806BB32DC4A7}"/>
          </ac:spMkLst>
        </pc:spChg>
      </pc:sldChg>
      <pc:sldChg chg="add">
        <pc:chgData name="Jack Forden" userId="097e3a7e-cd5c-474a-95f0-a72dc440bf11" providerId="ADAL" clId="{E85425CB-93DB-4066-BCBC-2427ECDC7B55}" dt="2026-01-11T19:47:07.170" v="280"/>
        <pc:sldMkLst>
          <pc:docMk/>
          <pc:sldMk cId="1508376632" sldId="304"/>
        </pc:sldMkLst>
      </pc:sldChg>
      <pc:sldChg chg="add">
        <pc:chgData name="Jack Forden" userId="097e3a7e-cd5c-474a-95f0-a72dc440bf11" providerId="ADAL" clId="{E85425CB-93DB-4066-BCBC-2427ECDC7B55}" dt="2026-01-11T19:47:11.091" v="281"/>
        <pc:sldMkLst>
          <pc:docMk/>
          <pc:sldMk cId="3337895252" sldId="305"/>
        </pc:sldMkLst>
      </pc:sldChg>
      <pc:sldChg chg="add">
        <pc:chgData name="Jack Forden" userId="097e3a7e-cd5c-474a-95f0-a72dc440bf11" providerId="ADAL" clId="{E85425CB-93DB-4066-BCBC-2427ECDC7B55}" dt="2026-01-11T19:47:16.470" v="282"/>
        <pc:sldMkLst>
          <pc:docMk/>
          <pc:sldMk cId="4118416179" sldId="306"/>
        </pc:sldMkLst>
      </pc:sldChg>
      <pc:sldChg chg="modSp add mod">
        <pc:chgData name="Jack Forden" userId="097e3a7e-cd5c-474a-95f0-a72dc440bf11" providerId="ADAL" clId="{E85425CB-93DB-4066-BCBC-2427ECDC7B55}" dt="2026-01-11T19:47:20.899" v="284" actId="27636"/>
        <pc:sldMkLst>
          <pc:docMk/>
          <pc:sldMk cId="2773756456" sldId="307"/>
        </pc:sldMkLst>
        <pc:spChg chg="mod">
          <ac:chgData name="Jack Forden" userId="097e3a7e-cd5c-474a-95f0-a72dc440bf11" providerId="ADAL" clId="{E85425CB-93DB-4066-BCBC-2427ECDC7B55}" dt="2026-01-11T19:47:20.899" v="284" actId="27636"/>
          <ac:spMkLst>
            <pc:docMk/>
            <pc:sldMk cId="2773756456" sldId="307"/>
            <ac:spMk id="2" creationId="{A9E4FB80-499A-798A-CA15-016516F5EC48}"/>
          </ac:spMkLst>
        </pc:spChg>
      </pc:sldChg>
      <pc:sldChg chg="add">
        <pc:chgData name="Jack Forden" userId="097e3a7e-cd5c-474a-95f0-a72dc440bf11" providerId="ADAL" clId="{E85425CB-93DB-4066-BCBC-2427ECDC7B55}" dt="2026-01-11T19:47:24.972" v="285"/>
        <pc:sldMkLst>
          <pc:docMk/>
          <pc:sldMk cId="3730550486" sldId="308"/>
        </pc:sldMkLst>
      </pc:sldChg>
      <pc:sldChg chg="add">
        <pc:chgData name="Jack Forden" userId="097e3a7e-cd5c-474a-95f0-a72dc440bf11" providerId="ADAL" clId="{E85425CB-93DB-4066-BCBC-2427ECDC7B55}" dt="2026-01-11T19:47:37.828" v="286"/>
        <pc:sldMkLst>
          <pc:docMk/>
          <pc:sldMk cId="2408028634" sldId="309"/>
        </pc:sldMkLst>
      </pc:sldChg>
      <pc:sldChg chg="modSp new mod">
        <pc:chgData name="Jack Forden" userId="097e3a7e-cd5c-474a-95f0-a72dc440bf11" providerId="ADAL" clId="{E85425CB-93DB-4066-BCBC-2427ECDC7B55}" dt="2026-01-11T19:49:36.756" v="428" actId="20577"/>
        <pc:sldMkLst>
          <pc:docMk/>
          <pc:sldMk cId="3559471154" sldId="310"/>
        </pc:sldMkLst>
        <pc:spChg chg="mod">
          <ac:chgData name="Jack Forden" userId="097e3a7e-cd5c-474a-95f0-a72dc440bf11" providerId="ADAL" clId="{E85425CB-93DB-4066-BCBC-2427ECDC7B55}" dt="2026-01-11T19:48:02.281" v="328" actId="20577"/>
          <ac:spMkLst>
            <pc:docMk/>
            <pc:sldMk cId="3559471154" sldId="310"/>
            <ac:spMk id="2" creationId="{08DDC2A2-0431-F056-390C-F19030B95EC3}"/>
          </ac:spMkLst>
        </pc:spChg>
        <pc:spChg chg="mod">
          <ac:chgData name="Jack Forden" userId="097e3a7e-cd5c-474a-95f0-a72dc440bf11" providerId="ADAL" clId="{E85425CB-93DB-4066-BCBC-2427ECDC7B55}" dt="2026-01-11T19:49:36.756" v="428" actId="20577"/>
          <ac:spMkLst>
            <pc:docMk/>
            <pc:sldMk cId="3559471154" sldId="310"/>
            <ac:spMk id="3" creationId="{6AA7C351-033E-2A7E-8469-CB35E9215537}"/>
          </ac:spMkLst>
        </pc:spChg>
      </pc:sldChg>
      <pc:sldChg chg="add">
        <pc:chgData name="Jack Forden" userId="097e3a7e-cd5c-474a-95f0-a72dc440bf11" providerId="ADAL" clId="{E85425CB-93DB-4066-BCBC-2427ECDC7B55}" dt="2026-01-11T19:49:50.127" v="432"/>
        <pc:sldMkLst>
          <pc:docMk/>
          <pc:sldMk cId="2620543110" sldId="311"/>
        </pc:sldMkLst>
      </pc:sldChg>
      <pc:sldChg chg="add">
        <pc:chgData name="Jack Forden" userId="097e3a7e-cd5c-474a-95f0-a72dc440bf11" providerId="ADAL" clId="{E85425CB-93DB-4066-BCBC-2427ECDC7B55}" dt="2026-01-11T19:49:45.253" v="430"/>
        <pc:sldMkLst>
          <pc:docMk/>
          <pc:sldMk cId="2130509473" sldId="312"/>
        </pc:sldMkLst>
      </pc:sldChg>
      <pc:sldChg chg="modSp add mod">
        <pc:chgData name="Jack Forden" userId="097e3a7e-cd5c-474a-95f0-a72dc440bf11" providerId="ADAL" clId="{E85425CB-93DB-4066-BCBC-2427ECDC7B55}" dt="2026-01-11T19:50:43.502" v="536" actId="27636"/>
        <pc:sldMkLst>
          <pc:docMk/>
          <pc:sldMk cId="2033437452" sldId="317"/>
        </pc:sldMkLst>
        <pc:spChg chg="mod">
          <ac:chgData name="Jack Forden" userId="097e3a7e-cd5c-474a-95f0-a72dc440bf11" providerId="ADAL" clId="{E85425CB-93DB-4066-BCBC-2427ECDC7B55}" dt="2026-01-11T19:50:43.502" v="536" actId="27636"/>
          <ac:spMkLst>
            <pc:docMk/>
            <pc:sldMk cId="2033437452" sldId="317"/>
            <ac:spMk id="3" creationId="{BA7DF591-4041-E721-63FB-70B09265C28F}"/>
          </ac:spMkLst>
        </pc:spChg>
      </pc:sldChg>
      <pc:sldChg chg="add">
        <pc:chgData name="Jack Forden" userId="097e3a7e-cd5c-474a-95f0-a72dc440bf11" providerId="ADAL" clId="{E85425CB-93DB-4066-BCBC-2427ECDC7B55}" dt="2026-01-11T19:50:50.764" v="539"/>
        <pc:sldMkLst>
          <pc:docMk/>
          <pc:sldMk cId="3433948077" sldId="318"/>
        </pc:sldMkLst>
      </pc:sldChg>
      <pc:sldChg chg="add">
        <pc:chgData name="Jack Forden" userId="097e3a7e-cd5c-474a-95f0-a72dc440bf11" providerId="ADAL" clId="{E85425CB-93DB-4066-BCBC-2427ECDC7B55}" dt="2026-01-11T19:50:53.832" v="540"/>
        <pc:sldMkLst>
          <pc:docMk/>
          <pc:sldMk cId="2973399804" sldId="319"/>
        </pc:sldMkLst>
      </pc:sldChg>
      <pc:sldChg chg="modSp add mod">
        <pc:chgData name="Jack Forden" userId="097e3a7e-cd5c-474a-95f0-a72dc440bf11" providerId="ADAL" clId="{E85425CB-93DB-4066-BCBC-2427ECDC7B55}" dt="2026-01-11T19:50:56.995" v="542" actId="27636"/>
        <pc:sldMkLst>
          <pc:docMk/>
          <pc:sldMk cId="3184156547" sldId="320"/>
        </pc:sldMkLst>
        <pc:spChg chg="mod">
          <ac:chgData name="Jack Forden" userId="097e3a7e-cd5c-474a-95f0-a72dc440bf11" providerId="ADAL" clId="{E85425CB-93DB-4066-BCBC-2427ECDC7B55}" dt="2026-01-11T19:50:56.995" v="542" actId="27636"/>
          <ac:spMkLst>
            <pc:docMk/>
            <pc:sldMk cId="3184156547" sldId="320"/>
            <ac:spMk id="3" creationId="{6D7F2CF6-D347-F60E-1F09-CFFA3EB6A505}"/>
          </ac:spMkLst>
        </pc:spChg>
      </pc:sldChg>
      <pc:sldChg chg="modSp add mod">
        <pc:chgData name="Jack Forden" userId="097e3a7e-cd5c-474a-95f0-a72dc440bf11" providerId="ADAL" clId="{E85425CB-93DB-4066-BCBC-2427ECDC7B55}" dt="2026-01-11T19:50:59.755" v="544" actId="27636"/>
        <pc:sldMkLst>
          <pc:docMk/>
          <pc:sldMk cId="285097643" sldId="321"/>
        </pc:sldMkLst>
        <pc:spChg chg="mod">
          <ac:chgData name="Jack Forden" userId="097e3a7e-cd5c-474a-95f0-a72dc440bf11" providerId="ADAL" clId="{E85425CB-93DB-4066-BCBC-2427ECDC7B55}" dt="2026-01-11T19:50:59.755" v="544" actId="27636"/>
          <ac:spMkLst>
            <pc:docMk/>
            <pc:sldMk cId="285097643" sldId="321"/>
            <ac:spMk id="3" creationId="{3EB84951-E002-EBE6-C27C-100E6B37F2D9}"/>
          </ac:spMkLst>
        </pc:spChg>
      </pc:sldChg>
      <pc:sldChg chg="add">
        <pc:chgData name="Jack Forden" userId="097e3a7e-cd5c-474a-95f0-a72dc440bf11" providerId="ADAL" clId="{E85425CB-93DB-4066-BCBC-2427ECDC7B55}" dt="2026-01-11T19:51:02.981" v="545"/>
        <pc:sldMkLst>
          <pc:docMk/>
          <pc:sldMk cId="2888078952" sldId="322"/>
        </pc:sldMkLst>
      </pc:sldChg>
      <pc:sldChg chg="add">
        <pc:chgData name="Jack Forden" userId="097e3a7e-cd5c-474a-95f0-a72dc440bf11" providerId="ADAL" clId="{E85425CB-93DB-4066-BCBC-2427ECDC7B55}" dt="2026-01-11T20:03:32.777" v="761"/>
        <pc:sldMkLst>
          <pc:docMk/>
          <pc:sldMk cId="1766936619" sldId="327"/>
        </pc:sldMkLst>
      </pc:sldChg>
      <pc:sldChg chg="add">
        <pc:chgData name="Jack Forden" userId="097e3a7e-cd5c-474a-95f0-a72dc440bf11" providerId="ADAL" clId="{E85425CB-93DB-4066-BCBC-2427ECDC7B55}" dt="2026-01-11T19:51:05.910" v="546"/>
        <pc:sldMkLst>
          <pc:docMk/>
          <pc:sldMk cId="1744142978" sldId="335"/>
        </pc:sldMkLst>
      </pc:sldChg>
      <pc:sldChg chg="modSp add mod">
        <pc:chgData name="Jack Forden" userId="097e3a7e-cd5c-474a-95f0-a72dc440bf11" providerId="ADAL" clId="{E85425CB-93DB-4066-BCBC-2427ECDC7B55}" dt="2026-01-11T19:49:54.322" v="434" actId="27636"/>
        <pc:sldMkLst>
          <pc:docMk/>
          <pc:sldMk cId="1718170131" sldId="336"/>
        </pc:sldMkLst>
        <pc:spChg chg="mod">
          <ac:chgData name="Jack Forden" userId="097e3a7e-cd5c-474a-95f0-a72dc440bf11" providerId="ADAL" clId="{E85425CB-93DB-4066-BCBC-2427ECDC7B55}" dt="2026-01-11T19:49:54.322" v="434" actId="27636"/>
          <ac:spMkLst>
            <pc:docMk/>
            <pc:sldMk cId="1718170131" sldId="336"/>
            <ac:spMk id="3" creationId="{5C001FCC-397B-F04E-A953-41FE08E721E1}"/>
          </ac:spMkLst>
        </pc:spChg>
      </pc:sldChg>
      <pc:sldChg chg="modSp new mod">
        <pc:chgData name="Jack Forden" userId="097e3a7e-cd5c-474a-95f0-a72dc440bf11" providerId="ADAL" clId="{E85425CB-93DB-4066-BCBC-2427ECDC7B55}" dt="2026-01-11T19:50:30.228" v="532" actId="313"/>
        <pc:sldMkLst>
          <pc:docMk/>
          <pc:sldMk cId="3276188676" sldId="337"/>
        </pc:sldMkLst>
        <pc:spChg chg="mod">
          <ac:chgData name="Jack Forden" userId="097e3a7e-cd5c-474a-95f0-a72dc440bf11" providerId="ADAL" clId="{E85425CB-93DB-4066-BCBC-2427ECDC7B55}" dt="2026-01-11T19:50:21.189" v="478" actId="20577"/>
          <ac:spMkLst>
            <pc:docMk/>
            <pc:sldMk cId="3276188676" sldId="337"/>
            <ac:spMk id="2" creationId="{069A91C1-A99E-874D-CA89-4666C80954C9}"/>
          </ac:spMkLst>
        </pc:spChg>
        <pc:spChg chg="mod">
          <ac:chgData name="Jack Forden" userId="097e3a7e-cd5c-474a-95f0-a72dc440bf11" providerId="ADAL" clId="{E85425CB-93DB-4066-BCBC-2427ECDC7B55}" dt="2026-01-11T19:50:30.228" v="532" actId="313"/>
          <ac:spMkLst>
            <pc:docMk/>
            <pc:sldMk cId="3276188676" sldId="337"/>
            <ac:spMk id="3" creationId="{8F1B9E57-DEEB-C04C-60D9-2E6A229C99E2}"/>
          </ac:spMkLst>
        </pc:spChg>
      </pc:sldChg>
      <pc:sldChg chg="modSp add mod">
        <pc:chgData name="Jack Forden" userId="097e3a7e-cd5c-474a-95f0-a72dc440bf11" providerId="ADAL" clId="{E85425CB-93DB-4066-BCBC-2427ECDC7B55}" dt="2026-01-11T19:50:39.253" v="534" actId="27636"/>
        <pc:sldMkLst>
          <pc:docMk/>
          <pc:sldMk cId="2394706750" sldId="338"/>
        </pc:sldMkLst>
        <pc:spChg chg="mod">
          <ac:chgData name="Jack Forden" userId="097e3a7e-cd5c-474a-95f0-a72dc440bf11" providerId="ADAL" clId="{E85425CB-93DB-4066-BCBC-2427ECDC7B55}" dt="2026-01-11T19:50:39.253" v="534" actId="27636"/>
          <ac:spMkLst>
            <pc:docMk/>
            <pc:sldMk cId="2394706750" sldId="338"/>
            <ac:spMk id="3" creationId="{C5D8C026-F11C-25E4-7814-6017082BCDED}"/>
          </ac:spMkLst>
        </pc:spChg>
      </pc:sldChg>
      <pc:sldChg chg="modSp add mod">
        <pc:chgData name="Jack Forden" userId="097e3a7e-cd5c-474a-95f0-a72dc440bf11" providerId="ADAL" clId="{E85425CB-93DB-4066-BCBC-2427ECDC7B55}" dt="2026-01-11T19:50:47.114" v="538" actId="27636"/>
        <pc:sldMkLst>
          <pc:docMk/>
          <pc:sldMk cId="1277919830" sldId="340"/>
        </pc:sldMkLst>
        <pc:spChg chg="mod">
          <ac:chgData name="Jack Forden" userId="097e3a7e-cd5c-474a-95f0-a72dc440bf11" providerId="ADAL" clId="{E85425CB-93DB-4066-BCBC-2427ECDC7B55}" dt="2026-01-11T19:50:47.114" v="538" actId="27636"/>
          <ac:spMkLst>
            <pc:docMk/>
            <pc:sldMk cId="1277919830" sldId="340"/>
            <ac:spMk id="3" creationId="{AB8AF2B8-184F-74CB-814C-EE5C573EEFDD}"/>
          </ac:spMkLst>
        </pc:spChg>
      </pc:sldChg>
      <pc:sldChg chg="modSp new mod">
        <pc:chgData name="Jack Forden" userId="097e3a7e-cd5c-474a-95f0-a72dc440bf11" providerId="ADAL" clId="{E85425CB-93DB-4066-BCBC-2427ECDC7B55}" dt="2026-01-11T19:51:42.665" v="572" actId="20577"/>
        <pc:sldMkLst>
          <pc:docMk/>
          <pc:sldMk cId="1085659096" sldId="341"/>
        </pc:sldMkLst>
        <pc:spChg chg="mod">
          <ac:chgData name="Jack Forden" userId="097e3a7e-cd5c-474a-95f0-a72dc440bf11" providerId="ADAL" clId="{E85425CB-93DB-4066-BCBC-2427ECDC7B55}" dt="2026-01-11T19:51:42.665" v="572" actId="20577"/>
          <ac:spMkLst>
            <pc:docMk/>
            <pc:sldMk cId="1085659096" sldId="341"/>
            <ac:spMk id="2" creationId="{A552439F-A7D2-BE5E-53B8-E072EEB38078}"/>
          </ac:spMkLst>
        </pc:spChg>
      </pc:sldChg>
      <pc:sldChg chg="modSp new mod">
        <pc:chgData name="Jack Forden" userId="097e3a7e-cd5c-474a-95f0-a72dc440bf11" providerId="ADAL" clId="{E85425CB-93DB-4066-BCBC-2427ECDC7B55}" dt="2026-01-11T20:02:41.100" v="691" actId="20577"/>
        <pc:sldMkLst>
          <pc:docMk/>
          <pc:sldMk cId="3365230934" sldId="342"/>
        </pc:sldMkLst>
        <pc:spChg chg="mod">
          <ac:chgData name="Jack Forden" userId="097e3a7e-cd5c-474a-95f0-a72dc440bf11" providerId="ADAL" clId="{E85425CB-93DB-4066-BCBC-2427ECDC7B55}" dt="2026-01-11T20:02:22.134" v="613" actId="20577"/>
          <ac:spMkLst>
            <pc:docMk/>
            <pc:sldMk cId="3365230934" sldId="342"/>
            <ac:spMk id="2" creationId="{1E51D070-A433-E802-70EF-752BD3AE58DD}"/>
          </ac:spMkLst>
        </pc:spChg>
        <pc:spChg chg="mod">
          <ac:chgData name="Jack Forden" userId="097e3a7e-cd5c-474a-95f0-a72dc440bf11" providerId="ADAL" clId="{E85425CB-93DB-4066-BCBC-2427ECDC7B55}" dt="2026-01-11T20:02:41.100" v="691" actId="20577"/>
          <ac:spMkLst>
            <pc:docMk/>
            <pc:sldMk cId="3365230934" sldId="342"/>
            <ac:spMk id="3" creationId="{14E859DC-B6AC-EB81-8BC7-8193698C23D9}"/>
          </ac:spMkLst>
        </pc:spChg>
      </pc:sldChg>
      <pc:sldChg chg="modSp new mod">
        <pc:chgData name="Jack Forden" userId="097e3a7e-cd5c-474a-95f0-a72dc440bf11" providerId="ADAL" clId="{E85425CB-93DB-4066-BCBC-2427ECDC7B55}" dt="2026-01-11T20:03:00.240" v="729" actId="20577"/>
        <pc:sldMkLst>
          <pc:docMk/>
          <pc:sldMk cId="1283131103" sldId="343"/>
        </pc:sldMkLst>
        <pc:spChg chg="mod">
          <ac:chgData name="Jack Forden" userId="097e3a7e-cd5c-474a-95f0-a72dc440bf11" providerId="ADAL" clId="{E85425CB-93DB-4066-BCBC-2427ECDC7B55}" dt="2026-01-11T20:03:00.240" v="729" actId="20577"/>
          <ac:spMkLst>
            <pc:docMk/>
            <pc:sldMk cId="1283131103" sldId="343"/>
            <ac:spMk id="2" creationId="{921C1591-1757-782A-D990-D2B3B6F8C715}"/>
          </ac:spMkLst>
        </pc:spChg>
      </pc:sldChg>
      <pc:sldChg chg="add">
        <pc:chgData name="Jack Forden" userId="097e3a7e-cd5c-474a-95f0-a72dc440bf11" providerId="ADAL" clId="{E85425CB-93DB-4066-BCBC-2427ECDC7B55}" dt="2026-01-11T20:03:42.909" v="764"/>
        <pc:sldMkLst>
          <pc:docMk/>
          <pc:sldMk cId="2157836173" sldId="358"/>
        </pc:sldMkLst>
      </pc:sldChg>
      <pc:sldChg chg="add">
        <pc:chgData name="Jack Forden" userId="097e3a7e-cd5c-474a-95f0-a72dc440bf11" providerId="ADAL" clId="{E85425CB-93DB-4066-BCBC-2427ECDC7B55}" dt="2026-01-11T20:03:45.852" v="765"/>
        <pc:sldMkLst>
          <pc:docMk/>
          <pc:sldMk cId="4288935522" sldId="359"/>
        </pc:sldMkLst>
      </pc:sldChg>
      <pc:sldChg chg="add">
        <pc:chgData name="Jack Forden" userId="097e3a7e-cd5c-474a-95f0-a72dc440bf11" providerId="ADAL" clId="{E85425CB-93DB-4066-BCBC-2427ECDC7B55}" dt="2026-01-11T20:03:48.563" v="766"/>
        <pc:sldMkLst>
          <pc:docMk/>
          <pc:sldMk cId="1580262284" sldId="360"/>
        </pc:sldMkLst>
      </pc:sldChg>
      <pc:sldChg chg="add">
        <pc:chgData name="Jack Forden" userId="097e3a7e-cd5c-474a-95f0-a72dc440bf11" providerId="ADAL" clId="{E85425CB-93DB-4066-BCBC-2427ECDC7B55}" dt="2026-01-11T20:03:51.186" v="767"/>
        <pc:sldMkLst>
          <pc:docMk/>
          <pc:sldMk cId="650871890" sldId="361"/>
        </pc:sldMkLst>
      </pc:sldChg>
      <pc:sldChg chg="add">
        <pc:chgData name="Jack Forden" userId="097e3a7e-cd5c-474a-95f0-a72dc440bf11" providerId="ADAL" clId="{E85425CB-93DB-4066-BCBC-2427ECDC7B55}" dt="2026-01-11T20:03:53.872" v="768"/>
        <pc:sldMkLst>
          <pc:docMk/>
          <pc:sldMk cId="2966613991" sldId="362"/>
        </pc:sldMkLst>
      </pc:sldChg>
      <pc:sldChg chg="add">
        <pc:chgData name="Jack Forden" userId="097e3a7e-cd5c-474a-95f0-a72dc440bf11" providerId="ADAL" clId="{E85425CB-93DB-4066-BCBC-2427ECDC7B55}" dt="2026-01-11T20:04:03.285" v="769"/>
        <pc:sldMkLst>
          <pc:docMk/>
          <pc:sldMk cId="1130696506" sldId="364"/>
        </pc:sldMkLst>
      </pc:sldChg>
      <pc:sldChg chg="add">
        <pc:chgData name="Jack Forden" userId="097e3a7e-cd5c-474a-95f0-a72dc440bf11" providerId="ADAL" clId="{E85425CB-93DB-4066-BCBC-2427ECDC7B55}" dt="2026-01-11T20:04:06.297" v="770"/>
        <pc:sldMkLst>
          <pc:docMk/>
          <pc:sldMk cId="290016613" sldId="365"/>
        </pc:sldMkLst>
      </pc:sldChg>
      <pc:sldChg chg="add">
        <pc:chgData name="Jack Forden" userId="097e3a7e-cd5c-474a-95f0-a72dc440bf11" providerId="ADAL" clId="{E85425CB-93DB-4066-BCBC-2427ECDC7B55}" dt="2026-01-11T20:04:09.382" v="771"/>
        <pc:sldMkLst>
          <pc:docMk/>
          <pc:sldMk cId="1287829749" sldId="366"/>
        </pc:sldMkLst>
      </pc:sldChg>
      <pc:sldChg chg="modSp add mod">
        <pc:chgData name="Jack Forden" userId="097e3a7e-cd5c-474a-95f0-a72dc440bf11" providerId="ADAL" clId="{E85425CB-93DB-4066-BCBC-2427ECDC7B55}" dt="2026-01-11T20:04:12.321" v="773" actId="27636"/>
        <pc:sldMkLst>
          <pc:docMk/>
          <pc:sldMk cId="765554742" sldId="367"/>
        </pc:sldMkLst>
        <pc:spChg chg="mod">
          <ac:chgData name="Jack Forden" userId="097e3a7e-cd5c-474a-95f0-a72dc440bf11" providerId="ADAL" clId="{E85425CB-93DB-4066-BCBC-2427ECDC7B55}" dt="2026-01-11T20:04:12.321" v="773" actId="27636"/>
          <ac:spMkLst>
            <pc:docMk/>
            <pc:sldMk cId="765554742" sldId="367"/>
            <ac:spMk id="2" creationId="{E24CD9AB-4E9A-C1EA-04EA-2A020738970B}"/>
          </ac:spMkLst>
        </pc:spChg>
      </pc:sldChg>
      <pc:sldChg chg="add">
        <pc:chgData name="Jack Forden" userId="097e3a7e-cd5c-474a-95f0-a72dc440bf11" providerId="ADAL" clId="{E85425CB-93DB-4066-BCBC-2427ECDC7B55}" dt="2026-01-11T20:04:25.788" v="774"/>
        <pc:sldMkLst>
          <pc:docMk/>
          <pc:sldMk cId="342843228" sldId="368"/>
        </pc:sldMkLst>
      </pc:sldChg>
      <pc:sldChg chg="add">
        <pc:chgData name="Jack Forden" userId="097e3a7e-cd5c-474a-95f0-a72dc440bf11" providerId="ADAL" clId="{E85425CB-93DB-4066-BCBC-2427ECDC7B55}" dt="2026-01-11T20:04:37.070" v="776"/>
        <pc:sldMkLst>
          <pc:docMk/>
          <pc:sldMk cId="3084548488" sldId="369"/>
        </pc:sldMkLst>
      </pc:sldChg>
      <pc:sldChg chg="modSp new mod">
        <pc:chgData name="Jack Forden" userId="097e3a7e-cd5c-474a-95f0-a72dc440bf11" providerId="ADAL" clId="{E85425CB-93DB-4066-BCBC-2427ECDC7B55}" dt="2026-01-11T20:06:13.246" v="869" actId="20577"/>
        <pc:sldMkLst>
          <pc:docMk/>
          <pc:sldMk cId="3948921380" sldId="370"/>
        </pc:sldMkLst>
        <pc:spChg chg="mod">
          <ac:chgData name="Jack Forden" userId="097e3a7e-cd5c-474a-95f0-a72dc440bf11" providerId="ADAL" clId="{E85425CB-93DB-4066-BCBC-2427ECDC7B55}" dt="2026-01-11T20:06:07.361" v="854" actId="20577"/>
          <ac:spMkLst>
            <pc:docMk/>
            <pc:sldMk cId="3948921380" sldId="370"/>
            <ac:spMk id="2" creationId="{8452D4B5-E05C-0DE6-ACC9-8ADCA537268E}"/>
          </ac:spMkLst>
        </pc:spChg>
        <pc:spChg chg="mod">
          <ac:chgData name="Jack Forden" userId="097e3a7e-cd5c-474a-95f0-a72dc440bf11" providerId="ADAL" clId="{E85425CB-93DB-4066-BCBC-2427ECDC7B55}" dt="2026-01-11T20:06:13.246" v="869" actId="20577"/>
          <ac:spMkLst>
            <pc:docMk/>
            <pc:sldMk cId="3948921380" sldId="370"/>
            <ac:spMk id="3" creationId="{2826366C-05EA-4F2F-E60A-D583228B91D2}"/>
          </ac:spMkLst>
        </pc:spChg>
      </pc:sldChg>
      <pc:sldChg chg="modSp new del mod">
        <pc:chgData name="Jack Forden" userId="097e3a7e-cd5c-474a-95f0-a72dc440bf11" providerId="ADAL" clId="{E85425CB-93DB-4066-BCBC-2427ECDC7B55}" dt="2026-01-27T03:06:50.780" v="6469" actId="47"/>
        <pc:sldMkLst>
          <pc:docMk/>
          <pc:sldMk cId="4225853456" sldId="371"/>
        </pc:sldMkLst>
      </pc:sldChg>
      <pc:sldChg chg="modSp new del mod">
        <pc:chgData name="Jack Forden" userId="097e3a7e-cd5c-474a-95f0-a72dc440bf11" providerId="ADAL" clId="{E85425CB-93DB-4066-BCBC-2427ECDC7B55}" dt="2026-01-27T03:07:02.940" v="6472" actId="47"/>
        <pc:sldMkLst>
          <pc:docMk/>
          <pc:sldMk cId="3290809104" sldId="372"/>
        </pc:sldMkLst>
      </pc:sldChg>
      <pc:sldChg chg="modSp add mod">
        <pc:chgData name="Jack Forden" userId="097e3a7e-cd5c-474a-95f0-a72dc440bf11" providerId="ADAL" clId="{E85425CB-93DB-4066-BCBC-2427ECDC7B55}" dt="2026-01-27T02:58:09.290" v="6468" actId="20577"/>
        <pc:sldMkLst>
          <pc:docMk/>
          <pc:sldMk cId="492954309" sldId="373"/>
        </pc:sldMkLst>
        <pc:spChg chg="mod">
          <ac:chgData name="Jack Forden" userId="097e3a7e-cd5c-474a-95f0-a72dc440bf11" providerId="ADAL" clId="{E85425CB-93DB-4066-BCBC-2427ECDC7B55}" dt="2026-01-27T02:58:09.290" v="6468" actId="20577"/>
          <ac:spMkLst>
            <pc:docMk/>
            <pc:sldMk cId="492954309" sldId="373"/>
            <ac:spMk id="3" creationId="{2829FAE2-F103-97C7-DDFE-D337BE659621}"/>
          </ac:spMkLst>
        </pc:spChg>
      </pc:sldChg>
      <pc:sldChg chg="modSp new mod">
        <pc:chgData name="Jack Forden" userId="097e3a7e-cd5c-474a-95f0-a72dc440bf11" providerId="ADAL" clId="{E85425CB-93DB-4066-BCBC-2427ECDC7B55}" dt="2026-01-11T20:21:41.787" v="1247" actId="20577"/>
        <pc:sldMkLst>
          <pc:docMk/>
          <pc:sldMk cId="2711981672" sldId="374"/>
        </pc:sldMkLst>
        <pc:spChg chg="mod">
          <ac:chgData name="Jack Forden" userId="097e3a7e-cd5c-474a-95f0-a72dc440bf11" providerId="ADAL" clId="{E85425CB-93DB-4066-BCBC-2427ECDC7B55}" dt="2026-01-11T20:20:15.663" v="1197" actId="20577"/>
          <ac:spMkLst>
            <pc:docMk/>
            <pc:sldMk cId="2711981672" sldId="374"/>
            <ac:spMk id="2" creationId="{C88B697C-BE8F-6C25-CC06-E522CEEAFB59}"/>
          </ac:spMkLst>
        </pc:spChg>
        <pc:spChg chg="mod">
          <ac:chgData name="Jack Forden" userId="097e3a7e-cd5c-474a-95f0-a72dc440bf11" providerId="ADAL" clId="{E85425CB-93DB-4066-BCBC-2427ECDC7B55}" dt="2026-01-11T20:21:41.787" v="1247" actId="20577"/>
          <ac:spMkLst>
            <pc:docMk/>
            <pc:sldMk cId="2711981672" sldId="374"/>
            <ac:spMk id="3" creationId="{1F7009C6-E4D9-730D-58BF-55D28E117D94}"/>
          </ac:spMkLst>
        </pc:spChg>
      </pc:sldChg>
      <pc:sldChg chg="modSp new mod">
        <pc:chgData name="Jack Forden" userId="097e3a7e-cd5c-474a-95f0-a72dc440bf11" providerId="ADAL" clId="{E85425CB-93DB-4066-BCBC-2427ECDC7B55}" dt="2026-01-11T20:24:14.129" v="1325" actId="20577"/>
        <pc:sldMkLst>
          <pc:docMk/>
          <pc:sldMk cId="3433294974" sldId="375"/>
        </pc:sldMkLst>
        <pc:spChg chg="mod">
          <ac:chgData name="Jack Forden" userId="097e3a7e-cd5c-474a-95f0-a72dc440bf11" providerId="ADAL" clId="{E85425CB-93DB-4066-BCBC-2427ECDC7B55}" dt="2026-01-11T20:21:52.848" v="1256" actId="20577"/>
          <ac:spMkLst>
            <pc:docMk/>
            <pc:sldMk cId="3433294974" sldId="375"/>
            <ac:spMk id="2" creationId="{8296AD22-3E93-9233-33BC-D06CC9A69A40}"/>
          </ac:spMkLst>
        </pc:spChg>
        <pc:spChg chg="mod">
          <ac:chgData name="Jack Forden" userId="097e3a7e-cd5c-474a-95f0-a72dc440bf11" providerId="ADAL" clId="{E85425CB-93DB-4066-BCBC-2427ECDC7B55}" dt="2026-01-11T20:24:14.129" v="1325" actId="20577"/>
          <ac:spMkLst>
            <pc:docMk/>
            <pc:sldMk cId="3433294974" sldId="375"/>
            <ac:spMk id="3" creationId="{74D5024E-D539-0631-8B3B-EB341DB83205}"/>
          </ac:spMkLst>
        </pc:spChg>
      </pc:sldChg>
      <pc:sldChg chg="modSp new mod">
        <pc:chgData name="Jack Forden" userId="097e3a7e-cd5c-474a-95f0-a72dc440bf11" providerId="ADAL" clId="{E85425CB-93DB-4066-BCBC-2427ECDC7B55}" dt="2026-01-11T20:26:12.136" v="1345" actId="20577"/>
        <pc:sldMkLst>
          <pc:docMk/>
          <pc:sldMk cId="634489819" sldId="376"/>
        </pc:sldMkLst>
        <pc:spChg chg="mod">
          <ac:chgData name="Jack Forden" userId="097e3a7e-cd5c-474a-95f0-a72dc440bf11" providerId="ADAL" clId="{E85425CB-93DB-4066-BCBC-2427ECDC7B55}" dt="2026-01-11T20:26:12.136" v="1345" actId="20577"/>
          <ac:spMkLst>
            <pc:docMk/>
            <pc:sldMk cId="634489819" sldId="376"/>
            <ac:spMk id="2" creationId="{0E0CE45D-526D-D7AD-3DA8-18F05DAE5A5B}"/>
          </ac:spMkLst>
        </pc:spChg>
      </pc:sldChg>
      <pc:sldChg chg="modSp new mod">
        <pc:chgData name="Jack Forden" userId="097e3a7e-cd5c-474a-95f0-a72dc440bf11" providerId="ADAL" clId="{E85425CB-93DB-4066-BCBC-2427ECDC7B55}" dt="2026-01-11T20:36:16.199" v="1600" actId="20577"/>
        <pc:sldMkLst>
          <pc:docMk/>
          <pc:sldMk cId="1152282595" sldId="377"/>
        </pc:sldMkLst>
        <pc:spChg chg="mod">
          <ac:chgData name="Jack Forden" userId="097e3a7e-cd5c-474a-95f0-a72dc440bf11" providerId="ADAL" clId="{E85425CB-93DB-4066-BCBC-2427ECDC7B55}" dt="2026-01-11T20:26:24.418" v="1384" actId="20577"/>
          <ac:spMkLst>
            <pc:docMk/>
            <pc:sldMk cId="1152282595" sldId="377"/>
            <ac:spMk id="2" creationId="{7AF4C24B-F1DD-A401-2ADD-2F6035848502}"/>
          </ac:spMkLst>
        </pc:spChg>
        <pc:spChg chg="mod">
          <ac:chgData name="Jack Forden" userId="097e3a7e-cd5c-474a-95f0-a72dc440bf11" providerId="ADAL" clId="{E85425CB-93DB-4066-BCBC-2427ECDC7B55}" dt="2026-01-11T20:36:16.199" v="1600" actId="20577"/>
          <ac:spMkLst>
            <pc:docMk/>
            <pc:sldMk cId="1152282595" sldId="377"/>
            <ac:spMk id="3" creationId="{34D18ACF-FDB3-4C7E-70B3-DE48AA42D4CF}"/>
          </ac:spMkLst>
        </pc:spChg>
      </pc:sldChg>
      <pc:sldChg chg="modSp new mod">
        <pc:chgData name="Jack Forden" userId="097e3a7e-cd5c-474a-95f0-a72dc440bf11" providerId="ADAL" clId="{E85425CB-93DB-4066-BCBC-2427ECDC7B55}" dt="2026-01-27T03:07:50.061" v="6583" actId="20577"/>
        <pc:sldMkLst>
          <pc:docMk/>
          <pc:sldMk cId="3800615876" sldId="378"/>
        </pc:sldMkLst>
        <pc:spChg chg="mod">
          <ac:chgData name="Jack Forden" userId="097e3a7e-cd5c-474a-95f0-a72dc440bf11" providerId="ADAL" clId="{E85425CB-93DB-4066-BCBC-2427ECDC7B55}" dt="2026-01-11T20:36:28.131" v="1629" actId="20577"/>
          <ac:spMkLst>
            <pc:docMk/>
            <pc:sldMk cId="3800615876" sldId="378"/>
            <ac:spMk id="2" creationId="{16B0BF5F-3A05-209C-96E3-6769A35EDAD2}"/>
          </ac:spMkLst>
        </pc:spChg>
        <pc:spChg chg="mod">
          <ac:chgData name="Jack Forden" userId="097e3a7e-cd5c-474a-95f0-a72dc440bf11" providerId="ADAL" clId="{E85425CB-93DB-4066-BCBC-2427ECDC7B55}" dt="2026-01-27T03:07:50.061" v="6583" actId="20577"/>
          <ac:spMkLst>
            <pc:docMk/>
            <pc:sldMk cId="3800615876" sldId="378"/>
            <ac:spMk id="3" creationId="{FA6AAE9A-D621-5C3F-300D-90C8D9FF18D7}"/>
          </ac:spMkLst>
        </pc:spChg>
      </pc:sldChg>
      <pc:sldChg chg="addSp modSp new mod">
        <pc:chgData name="Jack Forden" userId="097e3a7e-cd5c-474a-95f0-a72dc440bf11" providerId="ADAL" clId="{E85425CB-93DB-4066-BCBC-2427ECDC7B55}" dt="2026-01-27T03:08:57.003" v="6664" actId="20577"/>
        <pc:sldMkLst>
          <pc:docMk/>
          <pc:sldMk cId="3081266127" sldId="379"/>
        </pc:sldMkLst>
        <pc:spChg chg="mod">
          <ac:chgData name="Jack Forden" userId="097e3a7e-cd5c-474a-95f0-a72dc440bf11" providerId="ADAL" clId="{E85425CB-93DB-4066-BCBC-2427ECDC7B55}" dt="2026-01-11T20:43:16.253" v="2186" actId="20577"/>
          <ac:spMkLst>
            <pc:docMk/>
            <pc:sldMk cId="3081266127" sldId="379"/>
            <ac:spMk id="2" creationId="{D6959846-AC42-AFDE-60E5-C007A51D1C6D}"/>
          </ac:spMkLst>
        </pc:spChg>
        <pc:spChg chg="mod">
          <ac:chgData name="Jack Forden" userId="097e3a7e-cd5c-474a-95f0-a72dc440bf11" providerId="ADAL" clId="{E85425CB-93DB-4066-BCBC-2427ECDC7B55}" dt="2026-01-27T03:08:57.003" v="6664" actId="20577"/>
          <ac:spMkLst>
            <pc:docMk/>
            <pc:sldMk cId="3081266127" sldId="379"/>
            <ac:spMk id="3" creationId="{07AEC037-5ACA-6934-9285-3E6D6A597525}"/>
          </ac:spMkLst>
        </pc:spChg>
        <pc:picChg chg="add mod">
          <ac:chgData name="Jack Forden" userId="097e3a7e-cd5c-474a-95f0-a72dc440bf11" providerId="ADAL" clId="{E85425CB-93DB-4066-BCBC-2427ECDC7B55}" dt="2026-01-11T20:46:13.632" v="2650" actId="14100"/>
          <ac:picMkLst>
            <pc:docMk/>
            <pc:sldMk cId="3081266127" sldId="379"/>
            <ac:picMk id="5" creationId="{3E4AAE3B-9038-74A8-9B3E-3DCC8A59392E}"/>
          </ac:picMkLst>
        </pc:picChg>
      </pc:sldChg>
      <pc:sldChg chg="addSp delSp modSp new del mod modNotesTx">
        <pc:chgData name="Jack Forden" userId="097e3a7e-cd5c-474a-95f0-a72dc440bf11" providerId="ADAL" clId="{E85425CB-93DB-4066-BCBC-2427ECDC7B55}" dt="2026-01-27T03:08:20.092" v="6584" actId="47"/>
        <pc:sldMkLst>
          <pc:docMk/>
          <pc:sldMk cId="3700242059" sldId="380"/>
        </pc:sldMkLst>
      </pc:sldChg>
      <pc:sldChg chg="addSp delSp modSp new del mod">
        <pc:chgData name="Jack Forden" userId="097e3a7e-cd5c-474a-95f0-a72dc440bf11" providerId="ADAL" clId="{E85425CB-93DB-4066-BCBC-2427ECDC7B55}" dt="2026-01-27T03:08:21.322" v="6585" actId="47"/>
        <pc:sldMkLst>
          <pc:docMk/>
          <pc:sldMk cId="418777025" sldId="381"/>
        </pc:sldMkLst>
      </pc:sldChg>
      <pc:sldChg chg="modSp new del mod">
        <pc:chgData name="Jack Forden" userId="097e3a7e-cd5c-474a-95f0-a72dc440bf11" providerId="ADAL" clId="{E85425CB-93DB-4066-BCBC-2427ECDC7B55}" dt="2026-01-27T03:06:53.212" v="6470" actId="47"/>
        <pc:sldMkLst>
          <pc:docMk/>
          <pc:sldMk cId="1980195636" sldId="382"/>
        </pc:sldMkLst>
      </pc:sldChg>
      <pc:sldChg chg="addSp modSp new del mod">
        <pc:chgData name="Jack Forden" userId="097e3a7e-cd5c-474a-95f0-a72dc440bf11" providerId="ADAL" clId="{E85425CB-93DB-4066-BCBC-2427ECDC7B55}" dt="2026-01-27T03:06:54.363" v="6471" actId="47"/>
        <pc:sldMkLst>
          <pc:docMk/>
          <pc:sldMk cId="3682107924" sldId="383"/>
        </pc:sldMkLst>
      </pc:sldChg>
      <pc:sldChg chg="modSp new del mod">
        <pc:chgData name="Jack Forden" userId="097e3a7e-cd5c-474a-95f0-a72dc440bf11" providerId="ADAL" clId="{E85425CB-93DB-4066-BCBC-2427ECDC7B55}" dt="2026-01-27T03:08:24.876" v="6586" actId="47"/>
        <pc:sldMkLst>
          <pc:docMk/>
          <pc:sldMk cId="973534972" sldId="384"/>
        </pc:sldMkLst>
      </pc:sldChg>
      <pc:sldChg chg="modSp new del mod">
        <pc:chgData name="Jack Forden" userId="097e3a7e-cd5c-474a-95f0-a72dc440bf11" providerId="ADAL" clId="{E85425CB-93DB-4066-BCBC-2427ECDC7B55}" dt="2026-01-27T03:08:25.467" v="6587" actId="47"/>
        <pc:sldMkLst>
          <pc:docMk/>
          <pc:sldMk cId="1009868125" sldId="3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6A66D0-3132-41D1-BFAB-102B46CF193F}" type="datetimeFigureOut">
              <a:rPr lang="en-US" smtClean="0"/>
              <a:t>1/27/26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4D5155-EDC9-4C8C-84AC-F079F84E3430}" type="slidenum">
              <a:rPr lang="en-US" smtClean="0"/>
              <a:t>‹#›</a:t>
            </a:fld>
            <a:endParaRPr lang="en-US"/>
          </a:p>
        </p:txBody>
      </p:sp>
    </p:spTree>
    <p:extLst>
      <p:ext uri="{BB962C8B-B14F-4D97-AF65-F5344CB8AC3E}">
        <p14:creationId xmlns:p14="http://schemas.microsoft.com/office/powerpoint/2010/main" val="269331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linkedin.com/pulse/working-finance-5-industry-changes-m0aue"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www.stcusa.com/resource-center/career/finance-jobs-outlook/" TargetMode="External"/><Relationship Id="rId4" Type="http://schemas.openxmlformats.org/officeDocument/2006/relationships/hyperlink" Target="https://www.forbes.com/councils/forbesfinancecouncil/2025/02/20/the-most-in-demand-skills-for-finance-professionals-in-2025/"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console.cloud.google.com/compute/instances"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cs.n8n.io/integrations/builtin/app-nodes/" TargetMode="External"/><Relationship Id="rId2" Type="http://schemas.openxmlformats.org/officeDocument/2006/relationships/slide" Target="../slides/slide53.xml"/><Relationship Id="rId1" Type="http://schemas.openxmlformats.org/officeDocument/2006/relationships/notesMaster" Target="../notesMasters/notesMaster1.xml"/><Relationship Id="rId6" Type="http://schemas.openxmlformats.org/officeDocument/2006/relationships/hyperlink" Target="https://docs.n8n.io/integrations/builtin/cluster-nodes/" TargetMode="External"/><Relationship Id="rId5" Type="http://schemas.openxmlformats.org/officeDocument/2006/relationships/hyperlink" Target="https://docs.n8n.io/integrations/builtin/core-nodes/" TargetMode="External"/><Relationship Id="rId4" Type="http://schemas.openxmlformats.org/officeDocument/2006/relationships/hyperlink" Target="https://docs.n8n.io/integrations/builtin/trigger-nodes/"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5a697c2256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5a697c2256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https://assets.openstax.org/oscms-prodcms/media/documents/PrinciplesofFinance-WEB.pdf</a:t>
            </a:r>
          </a:p>
        </p:txBody>
      </p:sp>
      <p:sp>
        <p:nvSpPr>
          <p:cNvPr id="4" name="Slide Number Placeholder 3"/>
          <p:cNvSpPr>
            <a:spLocks noGrp="1"/>
          </p:cNvSpPr>
          <p:nvPr>
            <p:ph type="sldNum" sz="quarter" idx="5"/>
          </p:nvPr>
        </p:nvSpPr>
        <p:spPr/>
        <p:txBody>
          <a:bodyPr/>
          <a:lstStyle/>
          <a:p>
            <a:fld id="{27F0A7C2-064D-4D79-B253-2E4BF9F8226C}" type="slidenum">
              <a:rPr lang="en-US" smtClean="0"/>
              <a:t>8</a:t>
            </a:fld>
            <a:endParaRPr lang="en-US"/>
          </a:p>
        </p:txBody>
      </p:sp>
    </p:spTree>
    <p:extLst>
      <p:ext uri="{BB962C8B-B14F-4D97-AF65-F5344CB8AC3E}">
        <p14:creationId xmlns:p14="http://schemas.microsoft.com/office/powerpoint/2010/main" val="2248131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a:solidFill>
                  <a:schemeClr val="tx1"/>
                </a:solidFill>
                <a:effectLst/>
                <a:latin typeface="+mn-lt"/>
                <a:ea typeface="+mn-ea"/>
                <a:cs typeface="+mn-cs"/>
              </a:rPr>
              <a:t>2. Digital Transformation Analyst</a:t>
            </a:r>
          </a:p>
          <a:p>
            <a:pPr fontAlgn="t"/>
            <a:r>
              <a:rPr lang="en-US" sz="1200" b="0" i="0" kern="1200">
                <a:solidFill>
                  <a:schemeClr val="tx1"/>
                </a:solidFill>
                <a:effectLst/>
                <a:latin typeface="+mn-lt"/>
                <a:ea typeface="+mn-ea"/>
                <a:cs typeface="+mn-cs"/>
              </a:rPr>
              <a:t>Guides financial institutions through modernization using AI, automation, and blockchain to redesign processes and drive efficiency.</a:t>
            </a:r>
          </a:p>
          <a:p>
            <a:pPr fontAlgn="t"/>
            <a:r>
              <a:rPr lang="en-US" sz="1200" b="1" i="0" kern="1200">
                <a:solidFill>
                  <a:schemeClr val="tx1"/>
                </a:solidFill>
                <a:effectLst/>
                <a:latin typeface="+mn-lt"/>
                <a:ea typeface="+mn-ea"/>
                <a:cs typeface="+mn-cs"/>
              </a:rPr>
              <a:t>3. </a:t>
            </a:r>
            <a:r>
              <a:rPr lang="en-US" sz="1200" b="1" i="0" kern="1200" err="1">
                <a:solidFill>
                  <a:schemeClr val="tx1"/>
                </a:solidFill>
                <a:effectLst/>
                <a:latin typeface="+mn-lt"/>
                <a:ea typeface="+mn-ea"/>
                <a:cs typeface="+mn-cs"/>
              </a:rPr>
              <a:t>RegTech</a:t>
            </a:r>
            <a:r>
              <a:rPr lang="en-US" sz="1200" b="1" i="0" kern="1200">
                <a:solidFill>
                  <a:schemeClr val="tx1"/>
                </a:solidFill>
                <a:effectLst/>
                <a:latin typeface="+mn-lt"/>
                <a:ea typeface="+mn-ea"/>
                <a:cs typeface="+mn-cs"/>
              </a:rPr>
              <a:t> (Regulatory Technology) Specialist</a:t>
            </a:r>
          </a:p>
          <a:p>
            <a:pPr fontAlgn="t"/>
            <a:r>
              <a:rPr lang="en-US" sz="1200" b="0" i="0" kern="1200">
                <a:solidFill>
                  <a:schemeClr val="tx1"/>
                </a:solidFill>
                <a:effectLst/>
                <a:latin typeface="+mn-lt"/>
                <a:ea typeface="+mn-ea"/>
                <a:cs typeface="+mn-cs"/>
              </a:rPr>
              <a:t>Builds and manages automated compliance systems that monitor transactions, flag risks, and ensure alignment with fast‑changing regulations.</a:t>
            </a:r>
          </a:p>
          <a:p>
            <a:pPr fontAlgn="t"/>
            <a:r>
              <a:rPr lang="en-US" sz="1200" b="1" i="0" kern="1200">
                <a:solidFill>
                  <a:schemeClr val="tx1"/>
                </a:solidFill>
                <a:effectLst/>
                <a:latin typeface="+mn-lt"/>
                <a:ea typeface="+mn-ea"/>
                <a:cs typeface="+mn-cs"/>
              </a:rPr>
              <a:t>4. Cryptocurrency &amp; Digital Asset Strategist</a:t>
            </a:r>
          </a:p>
          <a:p>
            <a:pPr fontAlgn="t"/>
            <a:r>
              <a:rPr lang="en-US" sz="1200" b="0" i="0" kern="1200">
                <a:solidFill>
                  <a:schemeClr val="tx1"/>
                </a:solidFill>
                <a:effectLst/>
                <a:latin typeface="+mn-lt"/>
                <a:ea typeface="+mn-ea"/>
                <a:cs typeface="+mn-cs"/>
              </a:rPr>
              <a:t>Focuses on blockchain‑based financial products, digital asset valuation, token regulation strategy, and risk analysis.</a:t>
            </a:r>
            <a:br>
              <a:rPr lang="en-US" sz="1200" b="0" i="0" kern="1200">
                <a:solidFill>
                  <a:schemeClr val="tx1"/>
                </a:solidFill>
                <a:effectLst/>
                <a:latin typeface="+mn-lt"/>
                <a:ea typeface="+mn-ea"/>
                <a:cs typeface="+mn-cs"/>
              </a:rPr>
            </a:br>
            <a:r>
              <a:rPr lang="en-US" sz="1200" b="0" i="0" u="none" strike="noStrike" kern="1200">
                <a:solidFill>
                  <a:schemeClr val="tx1"/>
                </a:solidFill>
                <a:effectLst/>
                <a:latin typeface="+mn-lt"/>
                <a:ea typeface="+mn-ea"/>
                <a:cs typeface="+mn-cs"/>
                <a:hlinkClick r:id="rId3"/>
              </a:rPr>
              <a:t>[linkedin.com]</a:t>
            </a:r>
            <a:endParaRPr lang="en-US" sz="1200" b="0"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5. AI‑Driven Financial Risk Modeler</a:t>
            </a:r>
          </a:p>
          <a:p>
            <a:pPr fontAlgn="t"/>
            <a:r>
              <a:rPr lang="en-US" sz="1200" b="0" i="0" kern="1200">
                <a:solidFill>
                  <a:schemeClr val="tx1"/>
                </a:solidFill>
                <a:effectLst/>
                <a:latin typeface="+mn-lt"/>
                <a:ea typeface="+mn-ea"/>
                <a:cs typeface="+mn-cs"/>
              </a:rPr>
              <a:t>Develops ML‑based models to predict credit risk, market volatility, and stress‑test scenarios for financial institutions.</a:t>
            </a:r>
            <a:br>
              <a:rPr lang="en-US" sz="1200" b="0" i="0" kern="1200">
                <a:solidFill>
                  <a:schemeClr val="tx1"/>
                </a:solidFill>
                <a:effectLst/>
                <a:latin typeface="+mn-lt"/>
                <a:ea typeface="+mn-ea"/>
                <a:cs typeface="+mn-cs"/>
              </a:rPr>
            </a:br>
            <a:r>
              <a:rPr lang="en-US" sz="1200" b="0" i="0" u="none" strike="noStrike" kern="1200">
                <a:solidFill>
                  <a:schemeClr val="tx1"/>
                </a:solidFill>
                <a:effectLst/>
                <a:latin typeface="+mn-lt"/>
                <a:ea typeface="+mn-ea"/>
                <a:cs typeface="+mn-cs"/>
                <a:hlinkClick r:id="rId4"/>
              </a:rPr>
              <a:t>[forbes.com]</a:t>
            </a:r>
            <a:endParaRPr lang="en-US" sz="1200" b="0"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6. FinTech Product Manager</a:t>
            </a:r>
          </a:p>
          <a:p>
            <a:pPr fontAlgn="t"/>
            <a:r>
              <a:rPr lang="en-US" sz="1200" b="0" i="0" kern="1200">
                <a:solidFill>
                  <a:schemeClr val="tx1"/>
                </a:solidFill>
                <a:effectLst/>
                <a:latin typeface="+mn-lt"/>
                <a:ea typeface="+mn-ea"/>
                <a:cs typeface="+mn-cs"/>
              </a:rPr>
              <a:t>Oversees financial technology products such as digital banking apps, embedded finance tools, and payment platforms.</a:t>
            </a:r>
            <a:br>
              <a:rPr lang="en-US" sz="1200" b="0" i="0" kern="1200">
                <a:solidFill>
                  <a:schemeClr val="tx1"/>
                </a:solidFill>
                <a:effectLst/>
                <a:latin typeface="+mn-lt"/>
                <a:ea typeface="+mn-ea"/>
                <a:cs typeface="+mn-cs"/>
              </a:rPr>
            </a:br>
            <a:r>
              <a:rPr lang="en-US" sz="1200" b="0" i="0" u="none" strike="noStrike" kern="1200">
                <a:solidFill>
                  <a:schemeClr val="tx1"/>
                </a:solidFill>
                <a:effectLst/>
                <a:latin typeface="+mn-lt"/>
                <a:ea typeface="+mn-ea"/>
                <a:cs typeface="+mn-cs"/>
                <a:hlinkClick r:id="rId3"/>
              </a:rPr>
              <a:t>[linkedin.com]</a:t>
            </a:r>
            <a:endParaRPr lang="en-US" sz="1200" b="0"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7. Blockchain &amp; Smart‑Contract Auditor</a:t>
            </a:r>
          </a:p>
          <a:p>
            <a:pPr fontAlgn="t"/>
            <a:r>
              <a:rPr lang="en-US" sz="1200" b="0" i="0" kern="1200">
                <a:solidFill>
                  <a:schemeClr val="tx1"/>
                </a:solidFill>
                <a:effectLst/>
                <a:latin typeface="+mn-lt"/>
                <a:ea typeface="+mn-ea"/>
                <a:cs typeface="+mn-cs"/>
              </a:rPr>
              <a:t>Examines smart‑contract code, evaluates tokenized assets, and ensures security/compliance in decentralized financial systems.</a:t>
            </a:r>
            <a:br>
              <a:rPr lang="en-US" sz="1200" b="0" i="0" kern="1200">
                <a:solidFill>
                  <a:schemeClr val="tx1"/>
                </a:solidFill>
                <a:effectLst/>
                <a:latin typeface="+mn-lt"/>
                <a:ea typeface="+mn-ea"/>
                <a:cs typeface="+mn-cs"/>
              </a:rPr>
            </a:br>
            <a:r>
              <a:rPr lang="en-US" sz="1200" b="0" i="0" u="none" strike="noStrike" kern="1200">
                <a:solidFill>
                  <a:schemeClr val="tx1"/>
                </a:solidFill>
                <a:effectLst/>
                <a:latin typeface="+mn-lt"/>
                <a:ea typeface="+mn-ea"/>
                <a:cs typeface="+mn-cs"/>
                <a:hlinkClick r:id="rId5"/>
              </a:rPr>
              <a:t>[stcusa.com]</a:t>
            </a:r>
            <a:endParaRPr lang="en-US" sz="1200" b="0"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8. Real‑Time Financial Data Analyst</a:t>
            </a:r>
          </a:p>
          <a:p>
            <a:pPr fontAlgn="t"/>
            <a:r>
              <a:rPr lang="en-US" sz="1200" b="0" i="0" kern="1200">
                <a:solidFill>
                  <a:schemeClr val="tx1"/>
                </a:solidFill>
                <a:effectLst/>
                <a:latin typeface="+mn-lt"/>
                <a:ea typeface="+mn-ea"/>
                <a:cs typeface="+mn-cs"/>
              </a:rPr>
              <a:t>Leverages cloud‑based platforms and AI dashboards to provide instant financial insights for decision‑making.</a:t>
            </a:r>
          </a:p>
          <a:p>
            <a:endParaRPr lang="en-US"/>
          </a:p>
        </p:txBody>
      </p:sp>
      <p:sp>
        <p:nvSpPr>
          <p:cNvPr id="4" name="Slide Number Placeholder 3"/>
          <p:cNvSpPr>
            <a:spLocks noGrp="1"/>
          </p:cNvSpPr>
          <p:nvPr>
            <p:ph type="sldNum" sz="quarter" idx="5"/>
          </p:nvPr>
        </p:nvSpPr>
        <p:spPr/>
        <p:txBody>
          <a:bodyPr/>
          <a:lstStyle/>
          <a:p>
            <a:fld id="{27F0A7C2-064D-4D79-B253-2E4BF9F8226C}" type="slidenum">
              <a:rPr lang="en-US" smtClean="0"/>
              <a:t>13</a:t>
            </a:fld>
            <a:endParaRPr lang="en-US"/>
          </a:p>
        </p:txBody>
      </p:sp>
    </p:spTree>
    <p:extLst>
      <p:ext uri="{BB962C8B-B14F-4D97-AF65-F5344CB8AC3E}">
        <p14:creationId xmlns:p14="http://schemas.microsoft.com/office/powerpoint/2010/main" val="338014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https://www.youtube.com/watch?v=i6MQxJz3t2Y</a:t>
            </a:r>
          </a:p>
        </p:txBody>
      </p:sp>
      <p:sp>
        <p:nvSpPr>
          <p:cNvPr id="4" name="Slide Number Placeholder 3"/>
          <p:cNvSpPr>
            <a:spLocks noGrp="1"/>
          </p:cNvSpPr>
          <p:nvPr>
            <p:ph type="sldNum" sz="quarter" idx="5"/>
          </p:nvPr>
        </p:nvSpPr>
        <p:spPr/>
        <p:txBody>
          <a:bodyPr/>
          <a:lstStyle/>
          <a:p>
            <a:fld id="{27F0A7C2-064D-4D79-B253-2E4BF9F8226C}" type="slidenum">
              <a:rPr lang="en-US" smtClean="0"/>
              <a:t>22</a:t>
            </a:fld>
            <a:endParaRPr lang="en-US"/>
          </a:p>
        </p:txBody>
      </p:sp>
    </p:spTree>
    <p:extLst>
      <p:ext uri="{BB962C8B-B14F-4D97-AF65-F5344CB8AC3E}">
        <p14:creationId xmlns:p14="http://schemas.microsoft.com/office/powerpoint/2010/main" val="2203756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These results are converted to a single row which contains the Open, High, Low, Close, Volume, Data, and Time values.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Thus, it is possible to collapse dozens, if not hundreds, of tick data rows into one single OHLCV row.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0B52DA45-AEC1-4802-A9AC-33288EF9F6A7}" type="slidenum">
              <a:rPr lang="en-US" smtClean="0"/>
              <a:t>33</a:t>
            </a:fld>
            <a:endParaRPr lang="en-US"/>
          </a:p>
        </p:txBody>
      </p:sp>
    </p:spTree>
    <p:extLst>
      <p:ext uri="{BB962C8B-B14F-4D97-AF65-F5344CB8AC3E}">
        <p14:creationId xmlns:p14="http://schemas.microsoft.com/office/powerpoint/2010/main" val="39744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note</a:t>
            </a:r>
            <a:r>
              <a:rPr lang="en-US" sz="1200" b="0" i="0" kern="1200">
                <a:solidFill>
                  <a:schemeClr val="tx1"/>
                </a:solidFill>
                <a:effectLst/>
                <a:latin typeface="+mn-lt"/>
                <a:ea typeface="+mn-ea"/>
                <a:cs typeface="+mn-cs"/>
              </a:rPr>
              <a:t> on </a:t>
            </a:r>
            <a:r>
              <a:rPr lang="en-US" sz="1200" b="0" i="0" kern="1200" err="1">
                <a:solidFill>
                  <a:schemeClr val="tx1"/>
                </a:solidFill>
                <a:effectLst/>
                <a:latin typeface="+mn-lt"/>
                <a:ea typeface="+mn-ea"/>
                <a:cs typeface="+mn-cs"/>
              </a:rPr>
              <a:t>firefox</a:t>
            </a:r>
            <a:r>
              <a:rPr lang="en-US" sz="1200" b="0" i="0" kern="1200">
                <a:solidFill>
                  <a:schemeClr val="tx1"/>
                </a:solidFill>
                <a:effectLst/>
                <a:latin typeface="+mn-lt"/>
                <a:ea typeface="+mn-ea"/>
                <a:cs typeface="+mn-cs"/>
              </a:rPr>
              <a:t>, it sometimes does not render unless you use the </a:t>
            </a:r>
            <a:r>
              <a:rPr lang="en-US" sz="1200" b="0" i="0" u="none" strike="noStrike" kern="1200">
                <a:solidFill>
                  <a:schemeClr val="tx1"/>
                </a:solidFill>
                <a:effectLst/>
                <a:latin typeface="+mn-lt"/>
                <a:ea typeface="+mn-ea"/>
                <a:cs typeface="+mn-cs"/>
                <a:hlinkClick r:id="rId3"/>
              </a:rPr>
              <a:t>direct link</a:t>
            </a:r>
            <a:endParaRPr lang="en-US"/>
          </a:p>
        </p:txBody>
      </p:sp>
      <p:sp>
        <p:nvSpPr>
          <p:cNvPr id="4" name="Slide Number Placeholder 3"/>
          <p:cNvSpPr>
            <a:spLocks noGrp="1"/>
          </p:cNvSpPr>
          <p:nvPr>
            <p:ph type="sldNum" sz="quarter" idx="5"/>
          </p:nvPr>
        </p:nvSpPr>
        <p:spPr/>
        <p:txBody>
          <a:bodyPr/>
          <a:lstStyle/>
          <a:p>
            <a:fld id="{27F0A7C2-064D-4D79-B253-2E4BF9F8226C}" type="slidenum">
              <a:rPr lang="en-US" smtClean="0"/>
              <a:t>39</a:t>
            </a:fld>
            <a:endParaRPr lang="en-US"/>
          </a:p>
        </p:txBody>
      </p:sp>
    </p:spTree>
    <p:extLst>
      <p:ext uri="{BB962C8B-B14F-4D97-AF65-F5344CB8AC3E}">
        <p14:creationId xmlns:p14="http://schemas.microsoft.com/office/powerpoint/2010/main" val="39602067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https://docs.cloud.google.com/free/docs/free-cloud-features#compute</a:t>
            </a:r>
          </a:p>
        </p:txBody>
      </p:sp>
      <p:sp>
        <p:nvSpPr>
          <p:cNvPr id="4" name="Slide Number Placeholder 3"/>
          <p:cNvSpPr>
            <a:spLocks noGrp="1"/>
          </p:cNvSpPr>
          <p:nvPr>
            <p:ph type="sldNum" sz="quarter" idx="5"/>
          </p:nvPr>
        </p:nvSpPr>
        <p:spPr/>
        <p:txBody>
          <a:bodyPr/>
          <a:lstStyle/>
          <a:p>
            <a:fld id="{27F0A7C2-064D-4D79-B253-2E4BF9F8226C}" type="slidenum">
              <a:rPr lang="en-US" smtClean="0"/>
              <a:t>40</a:t>
            </a:fld>
            <a:endParaRPr lang="en-US"/>
          </a:p>
        </p:txBody>
      </p:sp>
    </p:spTree>
    <p:extLst>
      <p:ext uri="{BB962C8B-B14F-4D97-AF65-F5344CB8AC3E}">
        <p14:creationId xmlns:p14="http://schemas.microsoft.com/office/powerpoint/2010/main" val="1286403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a:solidFill>
                  <a:schemeClr val="tx1"/>
                </a:solidFill>
                <a:effectLst/>
                <a:latin typeface="+mn-lt"/>
                <a:ea typeface="+mn-ea"/>
                <a:cs typeface="+mn-cs"/>
              </a:rPr>
              <a:t>The Canvas is our </a:t>
            </a:r>
            <a:r>
              <a:rPr lang="en-US" sz="1200" b="0" i="1" kern="1200">
                <a:solidFill>
                  <a:schemeClr val="tx1"/>
                </a:solidFill>
                <a:effectLst/>
                <a:latin typeface="+mn-lt"/>
                <a:ea typeface="+mn-ea"/>
                <a:cs typeface="+mn-cs"/>
              </a:rPr>
              <a:t>*workstation*</a:t>
            </a:r>
            <a:r>
              <a:rPr lang="en-US" sz="1200" b="0" kern="1200">
                <a:solidFill>
                  <a:schemeClr val="tx1"/>
                </a:solidFill>
                <a:effectLst/>
                <a:latin typeface="+mn-lt"/>
                <a:ea typeface="+mn-ea"/>
                <a:cs typeface="+mn-cs"/>
              </a:rPr>
              <a:t>. It allows us to visualize and arrange our individual </a:t>
            </a:r>
            <a:r>
              <a:rPr lang="en-US" sz="1200" b="1" kern="1200">
                <a:solidFill>
                  <a:schemeClr val="tx1"/>
                </a:solidFill>
                <a:effectLst/>
                <a:latin typeface="+mn-lt"/>
                <a:ea typeface="+mn-ea"/>
                <a:cs typeface="+mn-cs"/>
              </a:rPr>
              <a:t>**nodes**</a:t>
            </a:r>
            <a:r>
              <a:rPr lang="en-US" sz="1200" b="0" kern="1200">
                <a:solidFill>
                  <a:schemeClr val="tx1"/>
                </a:solidFill>
                <a:effectLst/>
                <a:latin typeface="+mn-lt"/>
                <a:ea typeface="+mn-ea"/>
                <a:cs typeface="+mn-cs"/>
              </a:rPr>
              <a:t>.</a:t>
            </a:r>
          </a:p>
          <a:p>
            <a:endParaRPr lang="en-US"/>
          </a:p>
        </p:txBody>
      </p:sp>
      <p:sp>
        <p:nvSpPr>
          <p:cNvPr id="4" name="Slide Number Placeholder 3"/>
          <p:cNvSpPr>
            <a:spLocks noGrp="1"/>
          </p:cNvSpPr>
          <p:nvPr>
            <p:ph type="sldNum" sz="quarter" idx="5"/>
          </p:nvPr>
        </p:nvSpPr>
        <p:spPr/>
        <p:txBody>
          <a:bodyPr/>
          <a:lstStyle/>
          <a:p>
            <a:fld id="{27F0A7C2-064D-4D79-B253-2E4BF9F8226C}" type="slidenum">
              <a:rPr lang="en-US" smtClean="0"/>
              <a:t>48</a:t>
            </a:fld>
            <a:endParaRPr lang="en-US"/>
          </a:p>
        </p:txBody>
      </p:sp>
    </p:spTree>
    <p:extLst>
      <p:ext uri="{BB962C8B-B14F-4D97-AF65-F5344CB8AC3E}">
        <p14:creationId xmlns:p14="http://schemas.microsoft.com/office/powerpoint/2010/main" val="1998127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App</a:t>
            </a:r>
            <a:r>
              <a:rPr lang="en-US" sz="1200" b="0" i="0" kern="1200">
                <a:solidFill>
                  <a:schemeClr val="tx1"/>
                </a:solidFill>
                <a:effectLst/>
                <a:latin typeface="+mn-lt"/>
                <a:ea typeface="+mn-ea"/>
                <a:cs typeface="+mn-cs"/>
              </a:rPr>
              <a:t> or </a:t>
            </a:r>
            <a:r>
              <a:rPr lang="en-US" sz="1200" b="1" i="0" kern="1200">
                <a:solidFill>
                  <a:schemeClr val="tx1"/>
                </a:solidFill>
                <a:effectLst/>
                <a:latin typeface="+mn-lt"/>
                <a:ea typeface="+mn-ea"/>
                <a:cs typeface="+mn-cs"/>
              </a:rPr>
              <a:t>Action Nodes</a:t>
            </a:r>
            <a:r>
              <a:rPr lang="en-US" sz="1200" b="0" i="0" kern="1200">
                <a:solidFill>
                  <a:schemeClr val="tx1"/>
                </a:solidFill>
                <a:effectLst/>
                <a:latin typeface="+mn-lt"/>
                <a:ea typeface="+mn-ea"/>
                <a:cs typeface="+mn-cs"/>
              </a:rPr>
              <a:t> add, remove, and edit data; request and send external data; and trigger events in other systems. Refer to the </a:t>
            </a:r>
            <a:r>
              <a:rPr lang="en-US" sz="1200" b="0" i="0" u="none" strike="noStrike" kern="1200">
                <a:solidFill>
                  <a:schemeClr val="tx1"/>
                </a:solidFill>
                <a:effectLst/>
                <a:latin typeface="+mn-lt"/>
                <a:ea typeface="+mn-ea"/>
                <a:cs typeface="+mn-cs"/>
                <a:hlinkClick r:id="rId3"/>
              </a:rPr>
              <a:t>Action nodes library</a:t>
            </a:r>
            <a:r>
              <a:rPr lang="en-US" sz="1200" b="0" i="0" kern="1200">
                <a:solidFill>
                  <a:schemeClr val="tx1"/>
                </a:solidFill>
                <a:effectLst/>
                <a:latin typeface="+mn-lt"/>
                <a:ea typeface="+mn-ea"/>
                <a:cs typeface="+mn-cs"/>
              </a:rPr>
              <a:t> for a full list of these nodes.</a:t>
            </a:r>
          </a:p>
          <a:p>
            <a:r>
              <a:rPr lang="en-US" sz="1200" b="1" i="0" kern="1200">
                <a:solidFill>
                  <a:schemeClr val="tx1"/>
                </a:solidFill>
                <a:effectLst/>
                <a:latin typeface="+mn-lt"/>
                <a:ea typeface="+mn-ea"/>
                <a:cs typeface="+mn-cs"/>
              </a:rPr>
              <a:t>Trigger Nodes</a:t>
            </a:r>
            <a:r>
              <a:rPr lang="en-US" sz="1200" b="0" i="0" kern="1200">
                <a:solidFill>
                  <a:schemeClr val="tx1"/>
                </a:solidFill>
                <a:effectLst/>
                <a:latin typeface="+mn-lt"/>
                <a:ea typeface="+mn-ea"/>
                <a:cs typeface="+mn-cs"/>
              </a:rPr>
              <a:t> start a workflow and supply the initial data. Refer to the </a:t>
            </a:r>
            <a:r>
              <a:rPr lang="en-US" sz="1200" b="0" i="0" u="none" strike="noStrike" kern="1200">
                <a:solidFill>
                  <a:schemeClr val="tx1"/>
                </a:solidFill>
                <a:effectLst/>
                <a:latin typeface="+mn-lt"/>
                <a:ea typeface="+mn-ea"/>
                <a:cs typeface="+mn-cs"/>
                <a:hlinkClick r:id="rId4"/>
              </a:rPr>
              <a:t>Trigger nodes library</a:t>
            </a:r>
            <a:r>
              <a:rPr lang="en-US" sz="1200" b="0" i="0" kern="1200">
                <a:solidFill>
                  <a:schemeClr val="tx1"/>
                </a:solidFill>
                <a:effectLst/>
                <a:latin typeface="+mn-lt"/>
                <a:ea typeface="+mn-ea"/>
                <a:cs typeface="+mn-cs"/>
              </a:rPr>
              <a:t> for a list of trigger nodes.</a:t>
            </a:r>
          </a:p>
          <a:p>
            <a:r>
              <a:rPr lang="en-US" sz="1200" b="1" i="0" kern="1200">
                <a:solidFill>
                  <a:schemeClr val="tx1"/>
                </a:solidFill>
                <a:effectLst/>
                <a:latin typeface="+mn-lt"/>
                <a:ea typeface="+mn-ea"/>
                <a:cs typeface="+mn-cs"/>
              </a:rPr>
              <a:t>Core Nodes</a:t>
            </a:r>
            <a:r>
              <a:rPr lang="en-US" sz="1200" b="0" i="0" kern="1200">
                <a:solidFill>
                  <a:schemeClr val="tx1"/>
                </a:solidFill>
                <a:effectLst/>
                <a:latin typeface="+mn-lt"/>
                <a:ea typeface="+mn-ea"/>
                <a:cs typeface="+mn-cs"/>
              </a:rPr>
              <a:t> can be trigger or app nodes. Whereas most nodes connect to a specific external service, core nodes provide functionality such as logic, scheduling, or generic API calls. Refer to the </a:t>
            </a:r>
            <a:r>
              <a:rPr lang="en-US" sz="1200" b="0" i="0" u="none" strike="noStrike" kern="1200">
                <a:solidFill>
                  <a:schemeClr val="tx1"/>
                </a:solidFill>
                <a:effectLst/>
                <a:latin typeface="+mn-lt"/>
                <a:ea typeface="+mn-ea"/>
                <a:cs typeface="+mn-cs"/>
                <a:hlinkClick r:id="rId5"/>
              </a:rPr>
              <a:t>Core Nodes library</a:t>
            </a:r>
            <a:r>
              <a:rPr lang="en-US" sz="1200" b="0" i="0" kern="1200">
                <a:solidFill>
                  <a:schemeClr val="tx1"/>
                </a:solidFill>
                <a:effectLst/>
                <a:latin typeface="+mn-lt"/>
                <a:ea typeface="+mn-ea"/>
                <a:cs typeface="+mn-cs"/>
              </a:rPr>
              <a:t> for a full list of core nodes.</a:t>
            </a:r>
          </a:p>
          <a:p>
            <a:r>
              <a:rPr lang="en-US" sz="1200" b="1" i="0" kern="1200">
                <a:solidFill>
                  <a:schemeClr val="tx1"/>
                </a:solidFill>
                <a:effectLst/>
                <a:latin typeface="+mn-lt"/>
                <a:ea typeface="+mn-ea"/>
                <a:cs typeface="+mn-cs"/>
              </a:rPr>
              <a:t>Cluster Nodes</a:t>
            </a:r>
            <a:r>
              <a:rPr lang="en-US" sz="1200" b="0" i="0" kern="1200">
                <a:solidFill>
                  <a:schemeClr val="tx1"/>
                </a:solidFill>
                <a:effectLst/>
                <a:latin typeface="+mn-lt"/>
                <a:ea typeface="+mn-ea"/>
                <a:cs typeface="+mn-cs"/>
              </a:rPr>
              <a:t> are node groups that work together to provide functionality in a workflow, primarily for AI workflows. Refer to </a:t>
            </a:r>
            <a:r>
              <a:rPr lang="en-US" sz="1200" b="0" i="0" u="none" strike="noStrike" kern="1200">
                <a:solidFill>
                  <a:schemeClr val="tx1"/>
                </a:solidFill>
                <a:effectLst/>
                <a:latin typeface="+mn-lt"/>
                <a:ea typeface="+mn-ea"/>
                <a:cs typeface="+mn-cs"/>
                <a:hlinkClick r:id="rId6"/>
              </a:rPr>
              <a:t>Cluster nodes</a:t>
            </a:r>
            <a:r>
              <a:rPr lang="en-US" sz="1200" b="0" i="0" kern="1200">
                <a:solidFill>
                  <a:schemeClr val="tx1"/>
                </a:solidFill>
                <a:effectLst/>
                <a:latin typeface="+mn-lt"/>
                <a:ea typeface="+mn-ea"/>
                <a:cs typeface="+mn-cs"/>
              </a:rPr>
              <a:t> for more information.</a:t>
            </a:r>
          </a:p>
          <a:p>
            <a:endParaRPr lang="en-US"/>
          </a:p>
        </p:txBody>
      </p:sp>
      <p:sp>
        <p:nvSpPr>
          <p:cNvPr id="4" name="Slide Number Placeholder 3"/>
          <p:cNvSpPr>
            <a:spLocks noGrp="1"/>
          </p:cNvSpPr>
          <p:nvPr>
            <p:ph type="sldNum" sz="quarter" idx="5"/>
          </p:nvPr>
        </p:nvSpPr>
        <p:spPr/>
        <p:txBody>
          <a:bodyPr/>
          <a:lstStyle/>
          <a:p>
            <a:fld id="{27F0A7C2-064D-4D79-B253-2E4BF9F8226C}" type="slidenum">
              <a:rPr lang="en-US" smtClean="0"/>
              <a:t>53</a:t>
            </a:fld>
            <a:endParaRPr lang="en-US"/>
          </a:p>
        </p:txBody>
      </p:sp>
    </p:spTree>
    <p:extLst>
      <p:ext uri="{BB962C8B-B14F-4D97-AF65-F5344CB8AC3E}">
        <p14:creationId xmlns:p14="http://schemas.microsoft.com/office/powerpoint/2010/main" val="1918356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4D5155-EDC9-4C8C-84AC-F079F84E3430}" type="slidenum">
              <a:rPr lang="en-US" smtClean="0"/>
              <a:t>65</a:t>
            </a:fld>
            <a:endParaRPr lang="en-US"/>
          </a:p>
        </p:txBody>
      </p:sp>
    </p:spTree>
    <p:extLst>
      <p:ext uri="{BB962C8B-B14F-4D97-AF65-F5344CB8AC3E}">
        <p14:creationId xmlns:p14="http://schemas.microsoft.com/office/powerpoint/2010/main" val="322889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A02E22EA-5A77-4A06-8B5A-BAA0C2B2BE92}"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7CCA08-27D8-4A06-A413-FEF1A056C56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5256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2E22EA-5A77-4A06-8B5A-BAA0C2B2BE92}"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7CCA08-27D8-4A06-A413-FEF1A056C56F}" type="slidenum">
              <a:rPr lang="en-US" smtClean="0"/>
              <a:t>‹#›</a:t>
            </a:fld>
            <a:endParaRPr lang="en-US"/>
          </a:p>
        </p:txBody>
      </p:sp>
    </p:spTree>
    <p:extLst>
      <p:ext uri="{BB962C8B-B14F-4D97-AF65-F5344CB8AC3E}">
        <p14:creationId xmlns:p14="http://schemas.microsoft.com/office/powerpoint/2010/main" val="1270840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2E22EA-5A77-4A06-8B5A-BAA0C2B2BE92}"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7CCA08-27D8-4A06-A413-FEF1A056C56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3083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02E22EA-5A77-4A06-8B5A-BAA0C2B2BE92}" type="datetimeFigureOut">
              <a:rPr lang="en-US" smtClean="0"/>
              <a:t>1/27/26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7CCA08-27D8-4A06-A413-FEF1A056C56F}" type="slidenum">
              <a:rPr lang="en-US" smtClean="0"/>
              <a:t>‹#›</a:t>
            </a:fld>
            <a:endParaRPr lang="en-US"/>
          </a:p>
        </p:txBody>
      </p:sp>
    </p:spTree>
    <p:extLst>
      <p:ext uri="{BB962C8B-B14F-4D97-AF65-F5344CB8AC3E}">
        <p14:creationId xmlns:p14="http://schemas.microsoft.com/office/powerpoint/2010/main" val="880584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02E22EA-5A77-4A06-8B5A-BAA0C2B2BE92}" type="datetimeFigureOut">
              <a:rPr lang="en-US" smtClean="0"/>
              <a:t>1/27/26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7CCA08-27D8-4A06-A413-FEF1A056C56F}" type="slidenum">
              <a:rPr lang="en-US" smtClean="0"/>
              <a:t>‹#›</a:t>
            </a:fld>
            <a:endParaRPr lang="en-US"/>
          </a:p>
        </p:txBody>
      </p:sp>
    </p:spTree>
    <p:extLst>
      <p:ext uri="{BB962C8B-B14F-4D97-AF65-F5344CB8AC3E}">
        <p14:creationId xmlns:p14="http://schemas.microsoft.com/office/powerpoint/2010/main" val="2912694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02E22EA-5A77-4A06-8B5A-BAA0C2B2BE92}" type="datetimeFigureOut">
              <a:rPr lang="en-US" smtClean="0"/>
              <a:t>1/27/26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7CCA08-27D8-4A06-A413-FEF1A056C56F}" type="slidenum">
              <a:rPr lang="en-US" smtClean="0"/>
              <a:t>‹#›</a:t>
            </a:fld>
            <a:endParaRPr lang="en-US"/>
          </a:p>
        </p:txBody>
      </p:sp>
    </p:spTree>
    <p:extLst>
      <p:ext uri="{BB962C8B-B14F-4D97-AF65-F5344CB8AC3E}">
        <p14:creationId xmlns:p14="http://schemas.microsoft.com/office/powerpoint/2010/main" val="3493197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2E22EA-5A77-4A06-8B5A-BAA0C2B2BE92}" type="datetimeFigureOut">
              <a:rPr lang="en-US" smtClean="0"/>
              <a:t>1/27/26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67CCA08-27D8-4A06-A413-FEF1A056C56F}" type="slidenum">
              <a:rPr lang="en-US" smtClean="0"/>
              <a:t>‹#›</a:t>
            </a:fld>
            <a:endParaRPr lang="en-US"/>
          </a:p>
        </p:txBody>
      </p:sp>
    </p:spTree>
    <p:extLst>
      <p:ext uri="{BB962C8B-B14F-4D97-AF65-F5344CB8AC3E}">
        <p14:creationId xmlns:p14="http://schemas.microsoft.com/office/powerpoint/2010/main" val="1354481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2E22EA-5A77-4A06-8B5A-BAA0C2B2BE92}" type="datetimeFigureOut">
              <a:rPr lang="en-US" smtClean="0"/>
              <a:t>1/27/26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67CCA08-27D8-4A06-A413-FEF1A056C56F}" type="slidenum">
              <a:rPr lang="en-US" smtClean="0"/>
              <a:t>‹#›</a:t>
            </a:fld>
            <a:endParaRPr lang="en-US"/>
          </a:p>
        </p:txBody>
      </p:sp>
    </p:spTree>
    <p:extLst>
      <p:ext uri="{BB962C8B-B14F-4D97-AF65-F5344CB8AC3E}">
        <p14:creationId xmlns:p14="http://schemas.microsoft.com/office/powerpoint/2010/main" val="2447375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2E22EA-5A77-4A06-8B5A-BAA0C2B2BE92}" type="datetimeFigureOut">
              <a:rPr lang="en-US" smtClean="0"/>
              <a:t>1/27/26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7CCA08-27D8-4A06-A413-FEF1A056C56F}" type="slidenum">
              <a:rPr lang="en-US" smtClean="0"/>
              <a:t>‹#›</a:t>
            </a:fld>
            <a:endParaRPr lang="en-US"/>
          </a:p>
        </p:txBody>
      </p:sp>
    </p:spTree>
    <p:extLst>
      <p:ext uri="{BB962C8B-B14F-4D97-AF65-F5344CB8AC3E}">
        <p14:creationId xmlns:p14="http://schemas.microsoft.com/office/powerpoint/2010/main" val="3334081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2E22EA-5A77-4A06-8B5A-BAA0C2B2BE92}"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7CCA08-27D8-4A06-A413-FEF1A056C56F}" type="slidenum">
              <a:rPr lang="en-US" smtClean="0"/>
              <a:t>‹#›</a:t>
            </a:fld>
            <a:endParaRPr lang="en-US"/>
          </a:p>
        </p:txBody>
      </p:sp>
    </p:spTree>
    <p:extLst>
      <p:ext uri="{BB962C8B-B14F-4D97-AF65-F5344CB8AC3E}">
        <p14:creationId xmlns:p14="http://schemas.microsoft.com/office/powerpoint/2010/main" val="4145291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2E22EA-5A77-4A06-8B5A-BAA0C2B2BE92}"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7CCA08-27D8-4A06-A413-FEF1A056C56F}" type="slidenum">
              <a:rPr lang="en-US" smtClean="0"/>
              <a:t>‹#›</a:t>
            </a:fld>
            <a:endParaRPr lang="en-US"/>
          </a:p>
        </p:txBody>
      </p:sp>
    </p:spTree>
    <p:extLst>
      <p:ext uri="{BB962C8B-B14F-4D97-AF65-F5344CB8AC3E}">
        <p14:creationId xmlns:p14="http://schemas.microsoft.com/office/powerpoint/2010/main" val="33168586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73"/>
        <p:cNvGrpSpPr/>
        <p:nvPr/>
      </p:nvGrpSpPr>
      <p:grpSpPr>
        <a:xfrm>
          <a:off x="0" y="0"/>
          <a:ext cx="0" cy="0"/>
          <a:chOff x="0" y="0"/>
          <a:chExt cx="0" cy="0"/>
        </a:xfrm>
      </p:grpSpPr>
      <p:grpSp>
        <p:nvGrpSpPr>
          <p:cNvPr id="74" name="Google Shape;74;p16"/>
          <p:cNvGrpSpPr/>
          <p:nvPr/>
        </p:nvGrpSpPr>
        <p:grpSpPr>
          <a:xfrm>
            <a:off x="0" y="5204893"/>
            <a:ext cx="12192000" cy="1653233"/>
            <a:chOff x="0" y="3903669"/>
            <a:chExt cx="9144000" cy="1239925"/>
          </a:xfrm>
        </p:grpSpPr>
        <p:sp>
          <p:nvSpPr>
            <p:cNvPr id="75" name="Google Shape;75;p16"/>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 name="Google Shape;76;p16"/>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 name="Google Shape;77;p16"/>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 name="Google Shape;78;p16"/>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 name="Google Shape;79;p16"/>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0" name="Google Shape;80;p16"/>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1" name="Google Shape;81;p16"/>
          <p:cNvSpPr txBox="1">
            <a:spLocks noGrp="1"/>
          </p:cNvSpPr>
          <p:nvPr>
            <p:ph type="body" idx="1"/>
          </p:nvPr>
        </p:nvSpPr>
        <p:spPr>
          <a:xfrm>
            <a:off x="415600" y="1639833"/>
            <a:ext cx="11360800" cy="44520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82" name="Google Shape;82;p16"/>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573986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solidFill>
          <a:schemeClr val="dk1"/>
        </a:solidFill>
        <a:effectLst/>
      </p:bgPr>
    </p:bg>
    <p:spTree>
      <p:nvGrpSpPr>
        <p:cNvPr id="1" name="Shape 64"/>
        <p:cNvGrpSpPr/>
        <p:nvPr/>
      </p:nvGrpSpPr>
      <p:grpSpPr>
        <a:xfrm>
          <a:off x="0" y="0"/>
          <a:ext cx="0" cy="0"/>
          <a:chOff x="0" y="0"/>
          <a:chExt cx="0" cy="0"/>
        </a:xfrm>
      </p:grpSpPr>
      <p:grpSp>
        <p:nvGrpSpPr>
          <p:cNvPr id="65" name="Google Shape;65;p15"/>
          <p:cNvGrpSpPr/>
          <p:nvPr/>
        </p:nvGrpSpPr>
        <p:grpSpPr>
          <a:xfrm>
            <a:off x="8131172" y="7"/>
            <a:ext cx="4060833" cy="2707427"/>
            <a:chOff x="6098378" y="5"/>
            <a:chExt cx="3045625" cy="2030570"/>
          </a:xfrm>
        </p:grpSpPr>
        <p:sp>
          <p:nvSpPr>
            <p:cNvPr id="66" name="Google Shape;66;p15"/>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 name="Google Shape;67;p15"/>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 name="Google Shape;68;p15"/>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 name="Google Shape;69;p15"/>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 name="Google Shape;70;p15"/>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1" name="Google Shape;71;p15"/>
          <p:cNvSpPr txBox="1">
            <a:spLocks noGrp="1"/>
          </p:cNvSpPr>
          <p:nvPr>
            <p:ph type="title"/>
          </p:nvPr>
        </p:nvSpPr>
        <p:spPr>
          <a:xfrm>
            <a:off x="797467" y="2869796"/>
            <a:ext cx="10962800" cy="1118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5600">
                <a:solidFill>
                  <a:schemeClr val="lt1"/>
                </a:solidFill>
              </a:defRPr>
            </a:lvl1pPr>
            <a:lvl2pPr lvl="1">
              <a:spcBef>
                <a:spcPts val="0"/>
              </a:spcBef>
              <a:spcAft>
                <a:spcPts val="0"/>
              </a:spcAft>
              <a:buClr>
                <a:schemeClr val="lt1"/>
              </a:buClr>
              <a:buSzPts val="4200"/>
              <a:buNone/>
              <a:defRPr sz="5600">
                <a:solidFill>
                  <a:schemeClr val="lt1"/>
                </a:solidFill>
              </a:defRPr>
            </a:lvl2pPr>
            <a:lvl3pPr lvl="2">
              <a:spcBef>
                <a:spcPts val="0"/>
              </a:spcBef>
              <a:spcAft>
                <a:spcPts val="0"/>
              </a:spcAft>
              <a:buClr>
                <a:schemeClr val="lt1"/>
              </a:buClr>
              <a:buSzPts val="4200"/>
              <a:buNone/>
              <a:defRPr sz="5600">
                <a:solidFill>
                  <a:schemeClr val="lt1"/>
                </a:solidFill>
              </a:defRPr>
            </a:lvl3pPr>
            <a:lvl4pPr lvl="3">
              <a:spcBef>
                <a:spcPts val="0"/>
              </a:spcBef>
              <a:spcAft>
                <a:spcPts val="0"/>
              </a:spcAft>
              <a:buClr>
                <a:schemeClr val="lt1"/>
              </a:buClr>
              <a:buSzPts val="4200"/>
              <a:buNone/>
              <a:defRPr sz="5600">
                <a:solidFill>
                  <a:schemeClr val="lt1"/>
                </a:solidFill>
              </a:defRPr>
            </a:lvl4pPr>
            <a:lvl5pPr lvl="4">
              <a:spcBef>
                <a:spcPts val="0"/>
              </a:spcBef>
              <a:spcAft>
                <a:spcPts val="0"/>
              </a:spcAft>
              <a:buClr>
                <a:schemeClr val="lt1"/>
              </a:buClr>
              <a:buSzPts val="4200"/>
              <a:buNone/>
              <a:defRPr sz="5600">
                <a:solidFill>
                  <a:schemeClr val="lt1"/>
                </a:solidFill>
              </a:defRPr>
            </a:lvl5pPr>
            <a:lvl6pPr lvl="5">
              <a:spcBef>
                <a:spcPts val="0"/>
              </a:spcBef>
              <a:spcAft>
                <a:spcPts val="0"/>
              </a:spcAft>
              <a:buClr>
                <a:schemeClr val="lt1"/>
              </a:buClr>
              <a:buSzPts val="4200"/>
              <a:buNone/>
              <a:defRPr sz="5600">
                <a:solidFill>
                  <a:schemeClr val="lt1"/>
                </a:solidFill>
              </a:defRPr>
            </a:lvl6pPr>
            <a:lvl7pPr lvl="6">
              <a:spcBef>
                <a:spcPts val="0"/>
              </a:spcBef>
              <a:spcAft>
                <a:spcPts val="0"/>
              </a:spcAft>
              <a:buClr>
                <a:schemeClr val="lt1"/>
              </a:buClr>
              <a:buSzPts val="4200"/>
              <a:buNone/>
              <a:defRPr sz="5600">
                <a:solidFill>
                  <a:schemeClr val="lt1"/>
                </a:solidFill>
              </a:defRPr>
            </a:lvl7pPr>
            <a:lvl8pPr lvl="7">
              <a:spcBef>
                <a:spcPts val="0"/>
              </a:spcBef>
              <a:spcAft>
                <a:spcPts val="0"/>
              </a:spcAft>
              <a:buClr>
                <a:schemeClr val="lt1"/>
              </a:buClr>
              <a:buSzPts val="4200"/>
              <a:buNone/>
              <a:defRPr sz="5600">
                <a:solidFill>
                  <a:schemeClr val="lt1"/>
                </a:solidFill>
              </a:defRPr>
            </a:lvl8pPr>
            <a:lvl9pPr lvl="8">
              <a:spcBef>
                <a:spcPts val="0"/>
              </a:spcBef>
              <a:spcAft>
                <a:spcPts val="0"/>
              </a:spcAft>
              <a:buClr>
                <a:schemeClr val="lt1"/>
              </a:buClr>
              <a:buSzPts val="4200"/>
              <a:buNone/>
              <a:defRPr sz="5600">
                <a:solidFill>
                  <a:schemeClr val="lt1"/>
                </a:solidFill>
              </a:defRPr>
            </a:lvl9pPr>
          </a:lstStyle>
          <a:p>
            <a:endParaRPr/>
          </a:p>
        </p:txBody>
      </p:sp>
      <p:sp>
        <p:nvSpPr>
          <p:cNvPr id="72" name="Google Shape;72;p15"/>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00325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2E22EA-5A77-4A06-8B5A-BAA0C2B2BE92}" type="datetimeFigureOut">
              <a:rPr lang="en-US" smtClean="0"/>
              <a:t>1/27/26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67CCA08-27D8-4A06-A413-FEF1A056C56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268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console.cloud.google.com/welcome?hl=en&amp;project=carrolleducationcredits" TargetMode="Externa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hyperlink" Target="https://cloud.google.com/free/docs/free-cloud-features#compute"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hyperlink" Target="https://www.noip.com/" TargetMode="Externa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hyperlink" Target="https://docs.n8n.io/user-management/rbac/role-types/" TargetMode="Externa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hyperlink" Target="https://docs.n8n.io/workflows/components/sticky-notes/" TargetMode="Externa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hyperlink" Target="https://app.alpaca.markets/brokerage/new-account"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docs.alpaca.markets/reference/issuetoken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3BDB2-C0D0-8B9C-A456-686F81FC2D48}"/>
              </a:ext>
            </a:extLst>
          </p:cNvPr>
          <p:cNvSpPr>
            <a:spLocks noGrp="1"/>
          </p:cNvSpPr>
          <p:nvPr>
            <p:ph type="ctrTitle"/>
          </p:nvPr>
        </p:nvSpPr>
        <p:spPr/>
        <p:txBody>
          <a:bodyPr/>
          <a:lstStyle/>
          <a:p>
            <a:r>
              <a:rPr lang="en-US"/>
              <a:t>Course Introduction</a:t>
            </a:r>
          </a:p>
        </p:txBody>
      </p:sp>
      <p:sp>
        <p:nvSpPr>
          <p:cNvPr id="3" name="Subtitle 2">
            <a:extLst>
              <a:ext uri="{FF2B5EF4-FFF2-40B4-BE49-F238E27FC236}">
                <a16:creationId xmlns:a16="http://schemas.microsoft.com/office/drawing/2014/main" id="{23D45674-4ADB-82E3-CC62-247426F19C78}"/>
              </a:ext>
            </a:extLst>
          </p:cNvPr>
          <p:cNvSpPr>
            <a:spLocks noGrp="1"/>
          </p:cNvSpPr>
          <p:nvPr>
            <p:ph type="subTitle" idx="1"/>
          </p:nvPr>
        </p:nvSpPr>
        <p:spPr/>
        <p:txBody>
          <a:bodyPr/>
          <a:lstStyle/>
          <a:p>
            <a:r>
              <a:rPr lang="en-US"/>
              <a:t>Expectations, Failure, Fun</a:t>
            </a:r>
          </a:p>
        </p:txBody>
      </p:sp>
    </p:spTree>
    <p:extLst>
      <p:ext uri="{BB962C8B-B14F-4D97-AF65-F5344CB8AC3E}">
        <p14:creationId xmlns:p14="http://schemas.microsoft.com/office/powerpoint/2010/main" val="332546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p37"/>
          <p:cNvPicPr preferRelativeResize="0"/>
          <p:nvPr/>
        </p:nvPicPr>
        <p:blipFill>
          <a:blip r:embed="rId3">
            <a:alphaModFix/>
          </a:blip>
          <a:stretch>
            <a:fillRect/>
          </a:stretch>
        </p:blipFill>
        <p:spPr>
          <a:xfrm>
            <a:off x="8957475" y="2300334"/>
            <a:ext cx="3929392" cy="3553433"/>
          </a:xfrm>
          <a:prstGeom prst="rect">
            <a:avLst/>
          </a:prstGeom>
          <a:noFill/>
          <a:ln>
            <a:noFill/>
          </a:ln>
        </p:spPr>
      </p:pic>
      <p:sp>
        <p:nvSpPr>
          <p:cNvPr id="176" name="Google Shape;176;p37"/>
          <p:cNvSpPr txBox="1">
            <a:spLocks noGrp="1"/>
          </p:cNvSpPr>
          <p:nvPr>
            <p:ph type="title"/>
          </p:nvPr>
        </p:nvSpPr>
        <p:spPr>
          <a:xfrm>
            <a:off x="415600" y="546667"/>
            <a:ext cx="11360800" cy="810400"/>
          </a:xfrm>
          <a:prstGeom prst="rect">
            <a:avLst/>
          </a:prstGeom>
        </p:spPr>
        <p:txBody>
          <a:bodyPr spcFirstLastPara="1" wrap="square" lIns="121900" tIns="121900" rIns="121900" bIns="121900" anchor="t" anchorCtr="0">
            <a:normAutofit fontScale="90000"/>
          </a:bodyPr>
          <a:lstStyle/>
          <a:p>
            <a:r>
              <a:rPr lang="en"/>
              <a:t>Who Am I?</a:t>
            </a:r>
            <a:endParaRPr/>
          </a:p>
        </p:txBody>
      </p:sp>
      <p:sp>
        <p:nvSpPr>
          <p:cNvPr id="177" name="Google Shape;177;p37"/>
          <p:cNvSpPr txBox="1">
            <a:spLocks noGrp="1"/>
          </p:cNvSpPr>
          <p:nvPr>
            <p:ph type="body" idx="1"/>
          </p:nvPr>
        </p:nvSpPr>
        <p:spPr>
          <a:xfrm>
            <a:off x="415600" y="1572967"/>
            <a:ext cx="11360800" cy="4452000"/>
          </a:xfrm>
          <a:prstGeom prst="rect">
            <a:avLst/>
          </a:prstGeom>
        </p:spPr>
        <p:txBody>
          <a:bodyPr spcFirstLastPara="1" wrap="square" lIns="121900" tIns="121900" rIns="121900" bIns="121900" anchor="t" anchorCtr="0">
            <a:normAutofit/>
          </a:bodyPr>
          <a:lstStyle/>
          <a:p>
            <a:pPr marL="0" indent="0">
              <a:buNone/>
            </a:pPr>
            <a:r>
              <a:rPr lang="en"/>
              <a:t>Jack Forden</a:t>
            </a:r>
            <a:endParaRPr/>
          </a:p>
          <a:p>
            <a:pPr indent="-422899">
              <a:spcBef>
                <a:spcPts val="1600"/>
              </a:spcBef>
              <a:buSzPct val="100000"/>
              <a:buChar char="-"/>
            </a:pPr>
            <a:r>
              <a:rPr lang="en"/>
              <a:t>Marquette alumni ‘22, -&gt; Graduate Program: ‘25</a:t>
            </a:r>
            <a:endParaRPr/>
          </a:p>
          <a:p>
            <a:pPr indent="-422899">
              <a:buSzPct val="100000"/>
              <a:buChar char="-"/>
            </a:pPr>
            <a:r>
              <a:rPr lang="en"/>
              <a:t>Focus Areas:</a:t>
            </a:r>
            <a:endParaRPr/>
          </a:p>
          <a:p>
            <a:pPr lvl="1" indent="-389560">
              <a:buSzPct val="100000"/>
              <a:buChar char="-"/>
            </a:pPr>
            <a:r>
              <a:rPr lang="en" sz="1721"/>
              <a:t>CS-Education, Student Retention,  Languages, CS History, OS, Compilers</a:t>
            </a:r>
            <a:endParaRPr sz="1721"/>
          </a:p>
          <a:p>
            <a:pPr indent="-422899">
              <a:buSzPct val="100000"/>
              <a:buChar char="-"/>
            </a:pPr>
            <a:r>
              <a:rPr lang="en"/>
              <a:t>Outside of Academics</a:t>
            </a:r>
          </a:p>
          <a:p>
            <a:pPr lvl="1" indent="-422899">
              <a:buSzPct val="100000"/>
              <a:buChar char="-"/>
            </a:pPr>
            <a:r>
              <a:rPr lang="en"/>
              <a:t>Competitive Games +++</a:t>
            </a:r>
          </a:p>
          <a:p>
            <a:pPr lvl="2" indent="-422899">
              <a:buSzPct val="100000"/>
              <a:buChar char="-"/>
            </a:pPr>
            <a:r>
              <a:rPr lang="en"/>
              <a:t>CS2</a:t>
            </a:r>
          </a:p>
          <a:p>
            <a:pPr lvl="2" indent="-422899">
              <a:buSzPct val="100000"/>
              <a:buChar char="-"/>
            </a:pPr>
            <a:r>
              <a:rPr lang="en-US"/>
              <a:t>Tarkov</a:t>
            </a:r>
          </a:p>
          <a:p>
            <a:pPr lvl="1" indent="-396653">
              <a:buSzPct val="100000"/>
              <a:buChar char="-"/>
            </a:pPr>
            <a:r>
              <a:rPr lang="en"/>
              <a:t>Chillies aficionado</a:t>
            </a:r>
            <a:endParaRPr/>
          </a:p>
          <a:p>
            <a:pPr lvl="1" indent="-396653">
              <a:buSzPct val="100000"/>
              <a:buChar char="-"/>
            </a:pPr>
            <a:r>
              <a:rPr lang="en"/>
              <a:t>Favorite things:</a:t>
            </a:r>
            <a:endParaRPr/>
          </a:p>
          <a:p>
            <a:pPr lvl="2" indent="-379723">
              <a:buSzPct val="100000"/>
              <a:buChar char="-"/>
            </a:pPr>
            <a:r>
              <a:rPr lang="en" sz="1521"/>
              <a:t>FMAB</a:t>
            </a:r>
          </a:p>
          <a:p>
            <a:pPr lvl="2" indent="-379723">
              <a:buSzPct val="100000"/>
              <a:buChar char="-"/>
            </a:pPr>
            <a:r>
              <a:rPr lang="en" sz="1521"/>
              <a:t>Wilder Woods(FEVER/Sky, Patience) </a:t>
            </a:r>
            <a:endParaRPr sz="1521"/>
          </a:p>
          <a:p>
            <a:pPr lvl="1" indent="-379723">
              <a:buSzPct val="100000"/>
              <a:buChar char="-"/>
            </a:pPr>
            <a:r>
              <a:rPr lang="en" sz="1521"/>
              <a:t>Toes in the water</a:t>
            </a:r>
            <a:endParaRPr sz="1521"/>
          </a:p>
          <a:p>
            <a:pPr lvl="2" indent="-379723">
              <a:buSzPct val="100000"/>
              <a:buChar char="-"/>
            </a:pPr>
            <a:r>
              <a:rPr lang="en" sz="1521"/>
              <a:t>Game Design</a:t>
            </a:r>
          </a:p>
          <a:p>
            <a:pPr lvl="2" indent="-379723">
              <a:buSzPct val="100000"/>
              <a:buChar char="-"/>
            </a:pPr>
            <a:r>
              <a:rPr lang="en" sz="1521"/>
              <a:t>Tournament organizing for Broken Arrow</a:t>
            </a:r>
          </a:p>
          <a:p>
            <a:pPr lvl="3" indent="-379723">
              <a:buSzPct val="100000"/>
              <a:buChar char="-"/>
            </a:pPr>
            <a:r>
              <a:rPr lang="en-US" sz="1521"/>
              <a:t>https://www.ba-hub.net/</a:t>
            </a:r>
            <a:endParaRPr sz="1521"/>
          </a:p>
          <a:p>
            <a:pPr lvl="2" indent="-379723">
              <a:buSzPct val="100000"/>
              <a:buChar char="-"/>
            </a:pPr>
            <a:r>
              <a:rPr lang="en" sz="1521"/>
              <a:t>Extreme couponing </a:t>
            </a:r>
            <a:endParaRPr sz="1521"/>
          </a:p>
        </p:txBody>
      </p:sp>
      <p:pic>
        <p:nvPicPr>
          <p:cNvPr id="178" name="Google Shape;178;p37"/>
          <p:cNvPicPr preferRelativeResize="0"/>
          <p:nvPr/>
        </p:nvPicPr>
        <p:blipFill>
          <a:blip r:embed="rId4">
            <a:alphaModFix/>
          </a:blip>
          <a:stretch>
            <a:fillRect/>
          </a:stretch>
        </p:blipFill>
        <p:spPr>
          <a:xfrm>
            <a:off x="7430501" y="-120367"/>
            <a:ext cx="3427700" cy="3215101"/>
          </a:xfrm>
          <a:prstGeom prst="rect">
            <a:avLst/>
          </a:prstGeom>
          <a:noFill/>
          <a:ln>
            <a:noFill/>
          </a:ln>
        </p:spPr>
      </p:pic>
      <p:pic>
        <p:nvPicPr>
          <p:cNvPr id="179" name="Google Shape;179;p37"/>
          <p:cNvPicPr preferRelativeResize="0"/>
          <p:nvPr/>
        </p:nvPicPr>
        <p:blipFill>
          <a:blip r:embed="rId5">
            <a:alphaModFix/>
          </a:blip>
          <a:stretch>
            <a:fillRect/>
          </a:stretch>
        </p:blipFill>
        <p:spPr>
          <a:xfrm>
            <a:off x="6267733" y="2885233"/>
            <a:ext cx="3591235" cy="338863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66313-334A-3E25-6723-9154643C1061}"/>
              </a:ext>
            </a:extLst>
          </p:cNvPr>
          <p:cNvSpPr>
            <a:spLocks noGrp="1"/>
          </p:cNvSpPr>
          <p:nvPr>
            <p:ph type="title"/>
          </p:nvPr>
        </p:nvSpPr>
        <p:spPr/>
        <p:txBody>
          <a:bodyPr/>
          <a:lstStyle/>
          <a:p>
            <a:r>
              <a:rPr lang="en-US">
                <a:ea typeface="Calibri Light"/>
                <a:cs typeface="Calibri Light"/>
              </a:rPr>
              <a:t>What is this course?</a:t>
            </a:r>
            <a:endParaRPr lang="en-US"/>
          </a:p>
        </p:txBody>
      </p:sp>
      <p:sp>
        <p:nvSpPr>
          <p:cNvPr id="3" name="Text Placeholder 2">
            <a:extLst>
              <a:ext uri="{FF2B5EF4-FFF2-40B4-BE49-F238E27FC236}">
                <a16:creationId xmlns:a16="http://schemas.microsoft.com/office/drawing/2014/main" id="{A8CD44F3-3FEB-7C1F-C7FD-29FE86DC675C}"/>
              </a:ext>
            </a:extLst>
          </p:cNvPr>
          <p:cNvSpPr>
            <a:spLocks noGrp="1"/>
          </p:cNvSpPr>
          <p:nvPr>
            <p:ph type="body" idx="1"/>
          </p:nvPr>
        </p:nvSpPr>
        <p:spPr/>
        <p:txBody>
          <a:bodyPr/>
          <a:lstStyle/>
          <a:p>
            <a:pPr marL="608965" indent="-456565"/>
            <a:endParaRPr lang="en-US">
              <a:ea typeface="Calibri"/>
              <a:cs typeface="Calibri"/>
            </a:endParaRPr>
          </a:p>
        </p:txBody>
      </p:sp>
    </p:spTree>
    <p:extLst>
      <p:ext uri="{BB962C8B-B14F-4D97-AF65-F5344CB8AC3E}">
        <p14:creationId xmlns:p14="http://schemas.microsoft.com/office/powerpoint/2010/main" val="1424344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3507E-4334-2359-275B-A639E2296D81}"/>
              </a:ext>
            </a:extLst>
          </p:cNvPr>
          <p:cNvSpPr>
            <a:spLocks noGrp="1"/>
          </p:cNvSpPr>
          <p:nvPr>
            <p:ph type="title"/>
          </p:nvPr>
        </p:nvSpPr>
        <p:spPr/>
        <p:txBody>
          <a:bodyPr>
            <a:normAutofit/>
          </a:bodyPr>
          <a:lstStyle/>
          <a:p>
            <a:r>
              <a:rPr lang="en-US"/>
              <a:t>What Does Success in This Course Mean?</a:t>
            </a:r>
          </a:p>
        </p:txBody>
      </p:sp>
      <p:sp>
        <p:nvSpPr>
          <p:cNvPr id="3" name="Text Placeholder 2">
            <a:extLst>
              <a:ext uri="{FF2B5EF4-FFF2-40B4-BE49-F238E27FC236}">
                <a16:creationId xmlns:a16="http://schemas.microsoft.com/office/drawing/2014/main" id="{EBBDECA5-8824-6463-1078-0F04E34FA2E5}"/>
              </a:ext>
            </a:extLst>
          </p:cNvPr>
          <p:cNvSpPr>
            <a:spLocks noGrp="1"/>
          </p:cNvSpPr>
          <p:nvPr>
            <p:ph type="body" idx="1"/>
          </p:nvPr>
        </p:nvSpPr>
        <p:spPr/>
        <p:txBody>
          <a:bodyPr/>
          <a:lstStyle/>
          <a:p>
            <a:r>
              <a:rPr lang="en-US"/>
              <a:t>Success in this course is </a:t>
            </a:r>
            <a:r>
              <a:rPr lang="en-US" b="1"/>
              <a:t>not</a:t>
            </a:r>
            <a:r>
              <a:rPr lang="en-US"/>
              <a:t> about making money</a:t>
            </a:r>
          </a:p>
          <a:p>
            <a:pPr lvl="1"/>
            <a:r>
              <a:rPr lang="en-US"/>
              <a:t>That would be nice though…</a:t>
            </a:r>
          </a:p>
          <a:p>
            <a:r>
              <a:rPr lang="en-US"/>
              <a:t>Success in this course is about </a:t>
            </a:r>
            <a:r>
              <a:rPr lang="en-US" b="1"/>
              <a:t>learning how systems fail</a:t>
            </a:r>
            <a:endParaRPr lang="en-US"/>
          </a:p>
          <a:p>
            <a:r>
              <a:rPr lang="en-US"/>
              <a:t>This course’s success metrics:</a:t>
            </a:r>
          </a:p>
          <a:p>
            <a:pPr lvl="1"/>
            <a:r>
              <a:rPr lang="en-US"/>
              <a:t>We build something that executes</a:t>
            </a:r>
          </a:p>
          <a:p>
            <a:pPr lvl="1"/>
            <a:r>
              <a:rPr lang="en-US"/>
              <a:t>We understand why we failed in the past</a:t>
            </a:r>
          </a:p>
          <a:p>
            <a:pPr lvl="1"/>
            <a:r>
              <a:rPr lang="en-US"/>
              <a:t>We learn the methodology</a:t>
            </a:r>
          </a:p>
          <a:p>
            <a:pPr lvl="2"/>
            <a:r>
              <a:rPr lang="en-US"/>
              <a:t>Data cleaning and feature engineering</a:t>
            </a:r>
          </a:p>
          <a:p>
            <a:pPr lvl="2"/>
            <a:r>
              <a:rPr lang="en-US"/>
              <a:t>Signal processing concepts</a:t>
            </a:r>
          </a:p>
          <a:p>
            <a:pPr lvl="2"/>
            <a:r>
              <a:rPr lang="en-US"/>
              <a:t>System design thinking</a:t>
            </a:r>
          </a:p>
          <a:p>
            <a:pPr lvl="2"/>
            <a:r>
              <a:rPr lang="en-US"/>
              <a:t>Risk management basics</a:t>
            </a:r>
          </a:p>
          <a:p>
            <a:r>
              <a:rPr lang="en-US"/>
              <a:t>You leave this course knowing </a:t>
            </a:r>
            <a:r>
              <a:rPr lang="en-US" b="1"/>
              <a:t>exactly</a:t>
            </a:r>
            <a:r>
              <a:rPr lang="en-US"/>
              <a:t> why get rich quick schemes don’t work</a:t>
            </a:r>
          </a:p>
          <a:p>
            <a:pPr lvl="1"/>
            <a:r>
              <a:rPr lang="en-US"/>
              <a:t>Well…because we are going to build one</a:t>
            </a:r>
          </a:p>
          <a:p>
            <a:endParaRPr lang="en-US"/>
          </a:p>
        </p:txBody>
      </p:sp>
    </p:spTree>
    <p:extLst>
      <p:ext uri="{BB962C8B-B14F-4D97-AF65-F5344CB8AC3E}">
        <p14:creationId xmlns:p14="http://schemas.microsoft.com/office/powerpoint/2010/main" val="920299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F23B-1412-502D-15EA-5F937E918B0B}"/>
              </a:ext>
            </a:extLst>
          </p:cNvPr>
          <p:cNvSpPr>
            <a:spLocks noGrp="1"/>
          </p:cNvSpPr>
          <p:nvPr>
            <p:ph type="title"/>
          </p:nvPr>
        </p:nvSpPr>
        <p:spPr/>
        <p:txBody>
          <a:bodyPr/>
          <a:lstStyle/>
          <a:p>
            <a:r>
              <a:rPr lang="en-US"/>
              <a:t>Why Trading is Hard</a:t>
            </a:r>
          </a:p>
        </p:txBody>
      </p:sp>
      <p:sp>
        <p:nvSpPr>
          <p:cNvPr id="3" name="Text Placeholder 2">
            <a:extLst>
              <a:ext uri="{FF2B5EF4-FFF2-40B4-BE49-F238E27FC236}">
                <a16:creationId xmlns:a16="http://schemas.microsoft.com/office/drawing/2014/main" id="{135BC602-FA02-9041-C194-F3397A90EA6B}"/>
              </a:ext>
            </a:extLst>
          </p:cNvPr>
          <p:cNvSpPr>
            <a:spLocks noGrp="1"/>
          </p:cNvSpPr>
          <p:nvPr>
            <p:ph type="body" idx="1"/>
          </p:nvPr>
        </p:nvSpPr>
        <p:spPr/>
        <p:txBody>
          <a:bodyPr/>
          <a:lstStyle/>
          <a:p>
            <a:r>
              <a:rPr lang="en-US"/>
              <a:t>Everything works against you</a:t>
            </a:r>
          </a:p>
          <a:p>
            <a:r>
              <a:rPr lang="en-US"/>
              <a:t>Speed</a:t>
            </a:r>
          </a:p>
          <a:p>
            <a:pPr lvl="1"/>
            <a:r>
              <a:rPr lang="en-US"/>
              <a:t>HFT firms spend millions to save milliseconds</a:t>
            </a:r>
          </a:p>
          <a:p>
            <a:pPr lvl="1"/>
            <a:r>
              <a:rPr lang="en-US"/>
              <a:t>Our systems are going to take seconds or longer</a:t>
            </a:r>
          </a:p>
          <a:p>
            <a:r>
              <a:rPr lang="en-US"/>
              <a:t>Information Asymmetry</a:t>
            </a:r>
          </a:p>
          <a:p>
            <a:pPr lvl="1"/>
            <a:r>
              <a:rPr lang="en-US"/>
              <a:t>The price we see is a memory, not reality</a:t>
            </a:r>
          </a:p>
          <a:p>
            <a:pPr lvl="1"/>
            <a:r>
              <a:rPr lang="en-US"/>
              <a:t>Order books constantly shift and move</a:t>
            </a:r>
          </a:p>
          <a:p>
            <a:r>
              <a:rPr lang="en-US"/>
              <a:t>The Noise Problem</a:t>
            </a:r>
          </a:p>
          <a:p>
            <a:pPr lvl="1"/>
            <a:r>
              <a:rPr lang="en-US"/>
              <a:t>Our brain wants to see patterns that don’t exist</a:t>
            </a:r>
          </a:p>
          <a:p>
            <a:pPr lvl="1"/>
            <a:r>
              <a:rPr lang="en-US"/>
              <a:t>Random walks look like trends</a:t>
            </a:r>
          </a:p>
          <a:p>
            <a:r>
              <a:rPr lang="en-US"/>
              <a:t>Psychology</a:t>
            </a:r>
          </a:p>
          <a:p>
            <a:pPr lvl="1"/>
            <a:r>
              <a:rPr lang="en-US"/>
              <a:t>We will watch our money evaporate in real-time</a:t>
            </a:r>
          </a:p>
          <a:p>
            <a:pPr lvl="1"/>
            <a:r>
              <a:rPr lang="en-US"/>
              <a:t>Every red bar feels personal</a:t>
            </a:r>
          </a:p>
        </p:txBody>
      </p:sp>
    </p:spTree>
    <p:extLst>
      <p:ext uri="{BB962C8B-B14F-4D97-AF65-F5344CB8AC3E}">
        <p14:creationId xmlns:p14="http://schemas.microsoft.com/office/powerpoint/2010/main" val="3229540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7657A-A7D0-877B-A499-6B5A4C496572}"/>
              </a:ext>
            </a:extLst>
          </p:cNvPr>
          <p:cNvSpPr>
            <a:spLocks noGrp="1"/>
          </p:cNvSpPr>
          <p:nvPr>
            <p:ph type="title"/>
          </p:nvPr>
        </p:nvSpPr>
        <p:spPr/>
        <p:txBody>
          <a:bodyPr/>
          <a:lstStyle/>
          <a:p>
            <a:r>
              <a:rPr lang="en-US"/>
              <a:t>Why Automation Fails Faster</a:t>
            </a:r>
          </a:p>
        </p:txBody>
      </p:sp>
      <p:sp>
        <p:nvSpPr>
          <p:cNvPr id="3" name="Text Placeholder 2">
            <a:extLst>
              <a:ext uri="{FF2B5EF4-FFF2-40B4-BE49-F238E27FC236}">
                <a16:creationId xmlns:a16="http://schemas.microsoft.com/office/drawing/2014/main" id="{9B27D78E-3DDF-CC9B-A5F1-6F1C2A94CE5A}"/>
              </a:ext>
            </a:extLst>
          </p:cNvPr>
          <p:cNvSpPr>
            <a:spLocks noGrp="1"/>
          </p:cNvSpPr>
          <p:nvPr>
            <p:ph type="body" idx="1"/>
          </p:nvPr>
        </p:nvSpPr>
        <p:spPr/>
        <p:txBody>
          <a:bodyPr/>
          <a:lstStyle/>
          <a:p>
            <a:r>
              <a:rPr lang="en-US"/>
              <a:t>Automation doesn’t fix problems – it amplifies them</a:t>
            </a:r>
          </a:p>
          <a:p>
            <a:r>
              <a:rPr lang="en-US"/>
              <a:t>Human Trading Failures</a:t>
            </a:r>
          </a:p>
          <a:p>
            <a:pPr lvl="1"/>
            <a:r>
              <a:rPr lang="en-US"/>
              <a:t>Emotional Decisions</a:t>
            </a:r>
          </a:p>
          <a:p>
            <a:pPr lvl="1"/>
            <a:r>
              <a:rPr lang="en-US"/>
              <a:t>Second Guessing</a:t>
            </a:r>
          </a:p>
          <a:p>
            <a:pPr lvl="1"/>
            <a:r>
              <a:rPr lang="en-US"/>
              <a:t>Fatigue</a:t>
            </a:r>
          </a:p>
          <a:p>
            <a:r>
              <a:rPr lang="en-US"/>
              <a:t>Automated Trading Failure Modes</a:t>
            </a:r>
          </a:p>
          <a:p>
            <a:pPr lvl="1"/>
            <a:r>
              <a:rPr lang="en-US"/>
              <a:t>Bad Logic</a:t>
            </a:r>
          </a:p>
          <a:p>
            <a:pPr lvl="1"/>
            <a:r>
              <a:rPr lang="en-US"/>
              <a:t>No emotional circuit breaker</a:t>
            </a:r>
          </a:p>
          <a:p>
            <a:pPr lvl="2"/>
            <a:r>
              <a:rPr lang="en-US"/>
              <a:t>Ride losses to zero</a:t>
            </a:r>
          </a:p>
          <a:p>
            <a:pPr lvl="1"/>
            <a:r>
              <a:rPr lang="en-US"/>
              <a:t>Perfect Consistency</a:t>
            </a:r>
          </a:p>
          <a:p>
            <a:pPr lvl="2"/>
            <a:r>
              <a:rPr lang="en-US"/>
              <a:t>Wrong at high speeds</a:t>
            </a:r>
          </a:p>
        </p:txBody>
      </p:sp>
    </p:spTree>
    <p:extLst>
      <p:ext uri="{BB962C8B-B14F-4D97-AF65-F5344CB8AC3E}">
        <p14:creationId xmlns:p14="http://schemas.microsoft.com/office/powerpoint/2010/main" val="4187166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995DA-6937-D197-52A6-15C9478152C8}"/>
              </a:ext>
            </a:extLst>
          </p:cNvPr>
          <p:cNvSpPr>
            <a:spLocks noGrp="1"/>
          </p:cNvSpPr>
          <p:nvPr>
            <p:ph type="title"/>
          </p:nvPr>
        </p:nvSpPr>
        <p:spPr/>
        <p:txBody>
          <a:bodyPr/>
          <a:lstStyle/>
          <a:p>
            <a:r>
              <a:rPr lang="en-US"/>
              <a:t>What is Finance in this course?</a:t>
            </a:r>
          </a:p>
        </p:txBody>
      </p:sp>
      <p:sp>
        <p:nvSpPr>
          <p:cNvPr id="3" name="Text Placeholder 2">
            <a:extLst>
              <a:ext uri="{FF2B5EF4-FFF2-40B4-BE49-F238E27FC236}">
                <a16:creationId xmlns:a16="http://schemas.microsoft.com/office/drawing/2014/main" id="{F73911C9-5EEA-A319-14FA-8E5D43E6615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18715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8BF89-B6FC-D048-9522-806BB32DC4A7}"/>
              </a:ext>
            </a:extLst>
          </p:cNvPr>
          <p:cNvSpPr>
            <a:spLocks noGrp="1"/>
          </p:cNvSpPr>
          <p:nvPr>
            <p:ph type="title"/>
          </p:nvPr>
        </p:nvSpPr>
        <p:spPr/>
        <p:txBody>
          <a:bodyPr/>
          <a:lstStyle/>
          <a:p>
            <a:r>
              <a:rPr lang="en-US"/>
              <a:t>What is Finance as a whole?</a:t>
            </a:r>
          </a:p>
        </p:txBody>
      </p:sp>
      <p:sp>
        <p:nvSpPr>
          <p:cNvPr id="3" name="Text Placeholder 2">
            <a:extLst>
              <a:ext uri="{FF2B5EF4-FFF2-40B4-BE49-F238E27FC236}">
                <a16:creationId xmlns:a16="http://schemas.microsoft.com/office/drawing/2014/main" id="{41D5921B-A8B0-4145-3AC3-398D4D4C47A9}"/>
              </a:ext>
            </a:extLst>
          </p:cNvPr>
          <p:cNvSpPr>
            <a:spLocks noGrp="1"/>
          </p:cNvSpPr>
          <p:nvPr>
            <p:ph type="body" idx="1"/>
          </p:nvPr>
        </p:nvSpPr>
        <p:spPr/>
        <p:txBody>
          <a:bodyPr/>
          <a:lstStyle/>
          <a:p>
            <a:r>
              <a:rPr lang="en-US"/>
              <a:t>Finance</a:t>
            </a:r>
          </a:p>
          <a:p>
            <a:pPr lvl="1"/>
            <a:r>
              <a:rPr lang="en-US"/>
              <a:t>The study of the management, movement, and raising of money</a:t>
            </a:r>
          </a:p>
          <a:p>
            <a:pPr lvl="1"/>
            <a:r>
              <a:rPr lang="en-US"/>
              <a:t>The study of understanding the uses and sources of cash, as well as the concept of a risk-reward trade-off</a:t>
            </a:r>
          </a:p>
          <a:p>
            <a:pPr lvl="1"/>
            <a:r>
              <a:rPr lang="en-US"/>
              <a:t>Finance is a tool that can help us be better decision makers</a:t>
            </a:r>
          </a:p>
          <a:p>
            <a:r>
              <a:rPr lang="en-US"/>
              <a:t>Finance is divided into three primary areas in the domestic market</a:t>
            </a:r>
          </a:p>
          <a:p>
            <a:pPr lvl="1"/>
            <a:r>
              <a:rPr lang="en-US"/>
              <a:t>Business finance</a:t>
            </a:r>
          </a:p>
          <a:p>
            <a:pPr lvl="1"/>
            <a:r>
              <a:rPr lang="en-US"/>
              <a:t>Investments</a:t>
            </a:r>
          </a:p>
          <a:p>
            <a:pPr lvl="1"/>
            <a:r>
              <a:rPr lang="en-US"/>
              <a:t>Financial markets and institutions</a:t>
            </a:r>
          </a:p>
        </p:txBody>
      </p:sp>
      <p:pic>
        <p:nvPicPr>
          <p:cNvPr id="5" name="Picture 4" descr="A diagram of a financial system&#10;&#10;AI-generated content may be incorrect.">
            <a:extLst>
              <a:ext uri="{FF2B5EF4-FFF2-40B4-BE49-F238E27FC236}">
                <a16:creationId xmlns:a16="http://schemas.microsoft.com/office/drawing/2014/main" id="{93136BEC-A1AF-A9DB-FC22-502D550765B5}"/>
              </a:ext>
            </a:extLst>
          </p:cNvPr>
          <p:cNvPicPr>
            <a:picLocks noChangeAspect="1"/>
          </p:cNvPicPr>
          <p:nvPr/>
        </p:nvPicPr>
        <p:blipFill>
          <a:blip r:embed="rId3"/>
          <a:stretch>
            <a:fillRect/>
          </a:stretch>
        </p:blipFill>
        <p:spPr>
          <a:xfrm>
            <a:off x="8108264" y="2903622"/>
            <a:ext cx="3609576" cy="2051384"/>
          </a:xfrm>
          <a:prstGeom prst="rect">
            <a:avLst/>
          </a:prstGeom>
        </p:spPr>
      </p:pic>
    </p:spTree>
    <p:extLst>
      <p:ext uri="{BB962C8B-B14F-4D97-AF65-F5344CB8AC3E}">
        <p14:creationId xmlns:p14="http://schemas.microsoft.com/office/powerpoint/2010/main" val="339800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7FE6B-86F7-BDE6-896F-75B83AEF357D}"/>
              </a:ext>
            </a:extLst>
          </p:cNvPr>
          <p:cNvSpPr>
            <a:spLocks noGrp="1"/>
          </p:cNvSpPr>
          <p:nvPr>
            <p:ph type="title"/>
          </p:nvPr>
        </p:nvSpPr>
        <p:spPr/>
        <p:txBody>
          <a:bodyPr/>
          <a:lstStyle/>
          <a:p>
            <a:r>
              <a:rPr lang="en-US"/>
              <a:t>What is Finance: Business Finance</a:t>
            </a:r>
          </a:p>
        </p:txBody>
      </p:sp>
      <p:sp>
        <p:nvSpPr>
          <p:cNvPr id="3" name="Text Placeholder 2">
            <a:extLst>
              <a:ext uri="{FF2B5EF4-FFF2-40B4-BE49-F238E27FC236}">
                <a16:creationId xmlns:a16="http://schemas.microsoft.com/office/drawing/2014/main" id="{2AD0C213-A8FA-9C72-3990-7054884E1B05}"/>
              </a:ext>
            </a:extLst>
          </p:cNvPr>
          <p:cNvSpPr>
            <a:spLocks noGrp="1"/>
          </p:cNvSpPr>
          <p:nvPr>
            <p:ph type="body" idx="1"/>
          </p:nvPr>
        </p:nvSpPr>
        <p:spPr/>
        <p:txBody>
          <a:bodyPr/>
          <a:lstStyle/>
          <a:p>
            <a:r>
              <a:rPr lang="en-US" b="1"/>
              <a:t>Business Finance</a:t>
            </a:r>
            <a:r>
              <a:rPr lang="en-US"/>
              <a:t> looks at how managers can apply financial principles to maximize the value of a firm in a risky environment</a:t>
            </a:r>
          </a:p>
          <a:p>
            <a:pPr lvl="1"/>
            <a:r>
              <a:rPr lang="en-US"/>
              <a:t>In the case of corporations, shareholders own the company who hire managers to run the company with the intent to maximize shareholder wealth</a:t>
            </a:r>
          </a:p>
          <a:p>
            <a:pPr lvl="2"/>
            <a:r>
              <a:rPr lang="en-US" i="1"/>
              <a:t>How does this decision impact the wealth of the shareholders</a:t>
            </a:r>
          </a:p>
          <a:p>
            <a:r>
              <a:rPr lang="en-US"/>
              <a:t>In business finance, managers focus on three broad areas</a:t>
            </a:r>
          </a:p>
          <a:p>
            <a:pPr lvl="1"/>
            <a:r>
              <a:rPr lang="en-US" b="1"/>
              <a:t>1. Working Capital Management</a:t>
            </a:r>
            <a:r>
              <a:rPr lang="en-US"/>
              <a:t> is the study and management of short-term assets and liabilities</a:t>
            </a:r>
          </a:p>
          <a:p>
            <a:pPr lvl="2"/>
            <a:r>
              <a:rPr lang="en-US"/>
              <a:t>The CFO and finance team set company policy on how to manage WCM</a:t>
            </a:r>
          </a:p>
          <a:p>
            <a:pPr lvl="2"/>
            <a:r>
              <a:rPr lang="en-US"/>
              <a:t>Determines credit policy, establishes minimum criteria for extension of credit, terms of lending, etc. </a:t>
            </a:r>
          </a:p>
        </p:txBody>
      </p:sp>
      <p:pic>
        <p:nvPicPr>
          <p:cNvPr id="5" name="Picture 4" descr="A diagram of a financial decision making&#10;&#10;AI-generated content may be incorrect.">
            <a:extLst>
              <a:ext uri="{FF2B5EF4-FFF2-40B4-BE49-F238E27FC236}">
                <a16:creationId xmlns:a16="http://schemas.microsoft.com/office/drawing/2014/main" id="{2058218F-CC27-271B-1F99-809D4C8E7976}"/>
              </a:ext>
            </a:extLst>
          </p:cNvPr>
          <p:cNvPicPr>
            <a:picLocks noChangeAspect="1"/>
          </p:cNvPicPr>
          <p:nvPr/>
        </p:nvPicPr>
        <p:blipFill>
          <a:blip r:embed="rId2"/>
          <a:stretch>
            <a:fillRect/>
          </a:stretch>
        </p:blipFill>
        <p:spPr>
          <a:xfrm>
            <a:off x="8879304" y="4924510"/>
            <a:ext cx="3084095" cy="1838276"/>
          </a:xfrm>
          <a:prstGeom prst="rect">
            <a:avLst/>
          </a:prstGeom>
        </p:spPr>
      </p:pic>
    </p:spTree>
    <p:extLst>
      <p:ext uri="{BB962C8B-B14F-4D97-AF65-F5344CB8AC3E}">
        <p14:creationId xmlns:p14="http://schemas.microsoft.com/office/powerpoint/2010/main" val="1508376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EF6F5-B8EE-7FE8-1FA9-CC2296750EDB}"/>
              </a:ext>
            </a:extLst>
          </p:cNvPr>
          <p:cNvSpPr>
            <a:spLocks noGrp="1"/>
          </p:cNvSpPr>
          <p:nvPr>
            <p:ph type="title"/>
          </p:nvPr>
        </p:nvSpPr>
        <p:spPr/>
        <p:txBody>
          <a:bodyPr/>
          <a:lstStyle/>
          <a:p>
            <a:r>
              <a:rPr lang="en-US"/>
              <a:t>What is Finance: Business Finance</a:t>
            </a:r>
          </a:p>
        </p:txBody>
      </p:sp>
      <p:sp>
        <p:nvSpPr>
          <p:cNvPr id="3" name="Text Placeholder 2">
            <a:extLst>
              <a:ext uri="{FF2B5EF4-FFF2-40B4-BE49-F238E27FC236}">
                <a16:creationId xmlns:a16="http://schemas.microsoft.com/office/drawing/2014/main" id="{0856B9CE-C145-9E16-02A6-DDD6F1B04EB2}"/>
              </a:ext>
            </a:extLst>
          </p:cNvPr>
          <p:cNvSpPr>
            <a:spLocks noGrp="1"/>
          </p:cNvSpPr>
          <p:nvPr>
            <p:ph type="body" idx="1"/>
          </p:nvPr>
        </p:nvSpPr>
        <p:spPr/>
        <p:txBody>
          <a:bodyPr/>
          <a:lstStyle/>
          <a:p>
            <a:r>
              <a:rPr lang="en-US"/>
              <a:t>2. </a:t>
            </a:r>
            <a:r>
              <a:rPr lang="en-US" b="1"/>
              <a:t>Capital budgeting </a:t>
            </a:r>
            <a:r>
              <a:rPr lang="en-US"/>
              <a:t>is the process of determining which long-term or fixed assets to acquire in an effort to maximize shareholder value.</a:t>
            </a:r>
          </a:p>
          <a:p>
            <a:pPr lvl="1"/>
            <a:r>
              <a:rPr lang="en-US"/>
              <a:t>Decisions ideally add the greatest value to a firm</a:t>
            </a:r>
          </a:p>
          <a:p>
            <a:pPr lvl="1"/>
            <a:r>
              <a:rPr lang="en-US"/>
              <a:t>Estimating the value of potential investments by forecasting the size, timing, and risk of cash flows associated with the investments</a:t>
            </a:r>
          </a:p>
          <a:p>
            <a:pPr lvl="1"/>
            <a:r>
              <a:rPr lang="en-US"/>
              <a:t>Finance departments develop and compile cash flow estimates to develop a portfolio of investment projects that maximize the value of the firm</a:t>
            </a:r>
          </a:p>
          <a:p>
            <a:r>
              <a:rPr lang="en-US"/>
              <a:t>3. </a:t>
            </a:r>
            <a:r>
              <a:rPr lang="en-US" b="1"/>
              <a:t>Capital structure </a:t>
            </a:r>
            <a:r>
              <a:rPr lang="en-US"/>
              <a:t>is the process by which managers focus more specifically on long-term debt and increasing shareholder wealth. </a:t>
            </a:r>
          </a:p>
          <a:p>
            <a:pPr lvl="1"/>
            <a:r>
              <a:rPr lang="en-US"/>
              <a:t>Capital structure questions require financial managers to work with economists, lenders, underwriters, investment bankers, and other sources of external financial information and financial capital</a:t>
            </a:r>
          </a:p>
        </p:txBody>
      </p:sp>
    </p:spTree>
    <p:extLst>
      <p:ext uri="{BB962C8B-B14F-4D97-AF65-F5344CB8AC3E}">
        <p14:creationId xmlns:p14="http://schemas.microsoft.com/office/powerpoint/2010/main" val="3337895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F480A-F659-CD29-B477-AD1A0DE38917}"/>
              </a:ext>
            </a:extLst>
          </p:cNvPr>
          <p:cNvSpPr>
            <a:spLocks noGrp="1"/>
          </p:cNvSpPr>
          <p:nvPr>
            <p:ph type="title"/>
          </p:nvPr>
        </p:nvSpPr>
        <p:spPr/>
        <p:txBody>
          <a:bodyPr/>
          <a:lstStyle/>
          <a:p>
            <a:r>
              <a:rPr lang="en-US"/>
              <a:t>What is Finance: Investments</a:t>
            </a:r>
          </a:p>
        </p:txBody>
      </p:sp>
      <p:sp>
        <p:nvSpPr>
          <p:cNvPr id="3" name="Text Placeholder 2">
            <a:extLst>
              <a:ext uri="{FF2B5EF4-FFF2-40B4-BE49-F238E27FC236}">
                <a16:creationId xmlns:a16="http://schemas.microsoft.com/office/drawing/2014/main" id="{4D1FA593-FA0B-8F92-3348-71F7B4E32F08}"/>
              </a:ext>
            </a:extLst>
          </p:cNvPr>
          <p:cNvSpPr>
            <a:spLocks noGrp="1"/>
          </p:cNvSpPr>
          <p:nvPr>
            <p:ph type="body" idx="1"/>
          </p:nvPr>
        </p:nvSpPr>
        <p:spPr/>
        <p:txBody>
          <a:bodyPr/>
          <a:lstStyle/>
          <a:p>
            <a:r>
              <a:rPr lang="en-US" b="1"/>
              <a:t>Investments</a:t>
            </a:r>
            <a:r>
              <a:rPr lang="en-US"/>
              <a:t> are products and processes used to create and grow wealth</a:t>
            </a:r>
          </a:p>
          <a:p>
            <a:pPr lvl="1"/>
            <a:r>
              <a:rPr lang="en-US"/>
              <a:t>Application of the different types of financial instruments, delivery vehicles, regulation, and risk-and-return opportunities</a:t>
            </a:r>
          </a:p>
          <a:p>
            <a:pPr lvl="1"/>
            <a:r>
              <a:rPr lang="en-US"/>
              <a:t>Stocks, bonds, derivative securities(futures and options)</a:t>
            </a:r>
          </a:p>
          <a:p>
            <a:r>
              <a:rPr lang="en-US"/>
              <a:t>Investments also include mutual funds, exchange-traded funds(ETFs), and investment vehicles such as</a:t>
            </a:r>
          </a:p>
          <a:p>
            <a:pPr lvl="1"/>
            <a:r>
              <a:rPr lang="en-US"/>
              <a:t>401k, 403b, Roth, IRA’s</a:t>
            </a:r>
          </a:p>
          <a:p>
            <a:r>
              <a:rPr lang="en-US"/>
              <a:t>Real Assets such as Gold, real estate, and commodities are also common investment opportunities</a:t>
            </a:r>
          </a:p>
        </p:txBody>
      </p:sp>
    </p:spTree>
    <p:extLst>
      <p:ext uri="{BB962C8B-B14F-4D97-AF65-F5344CB8AC3E}">
        <p14:creationId xmlns:p14="http://schemas.microsoft.com/office/powerpoint/2010/main" val="4118416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4FB80-499A-798A-CA15-016516F5EC48}"/>
              </a:ext>
            </a:extLst>
          </p:cNvPr>
          <p:cNvSpPr>
            <a:spLocks noGrp="1"/>
          </p:cNvSpPr>
          <p:nvPr>
            <p:ph type="title"/>
          </p:nvPr>
        </p:nvSpPr>
        <p:spPr/>
        <p:txBody>
          <a:bodyPr>
            <a:normAutofit fontScale="90000"/>
          </a:bodyPr>
          <a:lstStyle/>
          <a:p>
            <a:r>
              <a:rPr lang="en-US"/>
              <a:t>What is Finance: Financial Markets and Institutions</a:t>
            </a:r>
          </a:p>
        </p:txBody>
      </p:sp>
      <p:sp>
        <p:nvSpPr>
          <p:cNvPr id="3" name="Text Placeholder 2">
            <a:extLst>
              <a:ext uri="{FF2B5EF4-FFF2-40B4-BE49-F238E27FC236}">
                <a16:creationId xmlns:a16="http://schemas.microsoft.com/office/drawing/2014/main" id="{86221D51-028A-75C4-175F-9EA2A3BE3023}"/>
              </a:ext>
            </a:extLst>
          </p:cNvPr>
          <p:cNvSpPr>
            <a:spLocks noGrp="1"/>
          </p:cNvSpPr>
          <p:nvPr>
            <p:ph type="body" idx="1"/>
          </p:nvPr>
        </p:nvSpPr>
        <p:spPr/>
        <p:txBody>
          <a:bodyPr/>
          <a:lstStyle/>
          <a:p>
            <a:r>
              <a:rPr lang="en-US" b="1"/>
              <a:t>Financial Markets and Institutions</a:t>
            </a:r>
            <a:r>
              <a:rPr lang="en-US"/>
              <a:t> are the firms and regulatory agencies that oversee our financial system</a:t>
            </a:r>
          </a:p>
          <a:p>
            <a:pPr lvl="1"/>
            <a:r>
              <a:rPr lang="en-US"/>
              <a:t>There is </a:t>
            </a:r>
            <a:r>
              <a:rPr lang="en-US" i="1"/>
              <a:t>significant</a:t>
            </a:r>
            <a:r>
              <a:rPr lang="en-US"/>
              <a:t> overlap with the prior two categories of finance</a:t>
            </a:r>
          </a:p>
          <a:p>
            <a:pPr lvl="2"/>
            <a:r>
              <a:rPr lang="en-US"/>
              <a:t>A firm that is involved in profit seeking ultimately requires good financial management</a:t>
            </a:r>
          </a:p>
          <a:p>
            <a:r>
              <a:rPr lang="en-US" i="1"/>
              <a:t>Much</a:t>
            </a:r>
            <a:r>
              <a:rPr lang="en-US"/>
              <a:t> of the US regulatory structure for financial markets and institutions developed in the 1930’s as a response to the stock market crash of 1929 and the subsequent great depression. </a:t>
            </a:r>
            <a:endParaRPr lang="en-US" i="1"/>
          </a:p>
          <a:p>
            <a:r>
              <a:rPr lang="en-US"/>
              <a:t>In the US, the desire for safety and protection of investors and the financial industry led to the development of </a:t>
            </a:r>
          </a:p>
          <a:p>
            <a:pPr lvl="1"/>
            <a:r>
              <a:rPr lang="en-US"/>
              <a:t>Security and Exchange Commission</a:t>
            </a:r>
          </a:p>
          <a:p>
            <a:pPr lvl="2"/>
            <a:r>
              <a:rPr lang="en-US"/>
              <a:t>Formed from the Securities Act of 1933 and 1934</a:t>
            </a:r>
          </a:p>
          <a:p>
            <a:pPr lvl="1"/>
            <a:r>
              <a:rPr lang="en-US"/>
              <a:t>Major bank regulation in 1933 and 1935 gave rise to government backed bank deposit insurance(FDIC)</a:t>
            </a:r>
          </a:p>
          <a:p>
            <a:r>
              <a:rPr lang="en-US"/>
              <a:t>These regulatory acts separated investment banking from commercial banking.</a:t>
            </a:r>
          </a:p>
        </p:txBody>
      </p:sp>
    </p:spTree>
    <p:extLst>
      <p:ext uri="{BB962C8B-B14F-4D97-AF65-F5344CB8AC3E}">
        <p14:creationId xmlns:p14="http://schemas.microsoft.com/office/powerpoint/2010/main" val="2773756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973CD-E4B7-4589-3666-18155732B60D}"/>
              </a:ext>
            </a:extLst>
          </p:cNvPr>
          <p:cNvSpPr>
            <a:spLocks noGrp="1"/>
          </p:cNvSpPr>
          <p:nvPr>
            <p:ph type="title"/>
          </p:nvPr>
        </p:nvSpPr>
        <p:spPr/>
        <p:txBody>
          <a:bodyPr/>
          <a:lstStyle/>
          <a:p>
            <a:r>
              <a:rPr lang="en-US"/>
              <a:t>Why Study Finance?</a:t>
            </a:r>
          </a:p>
        </p:txBody>
      </p:sp>
      <p:sp>
        <p:nvSpPr>
          <p:cNvPr id="3" name="Text Placeholder 2">
            <a:extLst>
              <a:ext uri="{FF2B5EF4-FFF2-40B4-BE49-F238E27FC236}">
                <a16:creationId xmlns:a16="http://schemas.microsoft.com/office/drawing/2014/main" id="{6771C2A0-3DB2-E8A0-7ED0-419E49C5CD70}"/>
              </a:ext>
            </a:extLst>
          </p:cNvPr>
          <p:cNvSpPr>
            <a:spLocks noGrp="1"/>
          </p:cNvSpPr>
          <p:nvPr>
            <p:ph type="body" idx="1"/>
          </p:nvPr>
        </p:nvSpPr>
        <p:spPr/>
        <p:txBody>
          <a:bodyPr/>
          <a:lstStyle/>
          <a:p>
            <a:r>
              <a:rPr lang="en-US"/>
              <a:t>Finance is the lubricant that keeps our economy running smoothly</a:t>
            </a:r>
          </a:p>
          <a:p>
            <a:r>
              <a:rPr lang="en-US"/>
              <a:t>There are </a:t>
            </a:r>
            <a:r>
              <a:rPr lang="en-US" b="1"/>
              <a:t>many</a:t>
            </a:r>
            <a:r>
              <a:rPr lang="en-US"/>
              <a:t> career opportunities in the field of finance</a:t>
            </a:r>
          </a:p>
          <a:p>
            <a:pPr lvl="1"/>
            <a:r>
              <a:rPr lang="en-US"/>
              <a:t>BLS predicts that close to an additional 500,000 new finance and accounting related jobs will be created by 2029</a:t>
            </a:r>
          </a:p>
          <a:p>
            <a:r>
              <a:rPr lang="en-US" b="1"/>
              <a:t>Traditional Financial Roles:</a:t>
            </a:r>
          </a:p>
          <a:p>
            <a:pPr lvl="1"/>
            <a:r>
              <a:rPr lang="en-US"/>
              <a:t>Financial Manager, Investment relations associate, budget analysist, credit analyst, finance analyst, personal financial advisor, loan officer, insurance underwriter, financial examiner, finance professor</a:t>
            </a:r>
            <a:endParaRPr lang="en-US" b="1"/>
          </a:p>
          <a:p>
            <a:r>
              <a:rPr lang="en-US" b="1"/>
              <a:t>Immerging Financial Roles</a:t>
            </a:r>
          </a:p>
          <a:p>
            <a:pPr lvl="1"/>
            <a:r>
              <a:rPr lang="en-US"/>
              <a:t>Digital Transformation Analyst, regulatory technology specialist, Cryptocurrency &amp; Digital Asset Strategist, AI‑Driven Financial Risk Modeler, FinTech Product Manager, Blockchain &amp; Smart‑Contract Auditor, Real‑Time Financial Data Analyst</a:t>
            </a:r>
          </a:p>
        </p:txBody>
      </p:sp>
    </p:spTree>
    <p:extLst>
      <p:ext uri="{BB962C8B-B14F-4D97-AF65-F5344CB8AC3E}">
        <p14:creationId xmlns:p14="http://schemas.microsoft.com/office/powerpoint/2010/main" val="3730550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B0BBF-DABF-B095-CC02-45286E8E8B31}"/>
              </a:ext>
            </a:extLst>
          </p:cNvPr>
          <p:cNvSpPr>
            <a:spLocks noGrp="1"/>
          </p:cNvSpPr>
          <p:nvPr>
            <p:ph type="title"/>
          </p:nvPr>
        </p:nvSpPr>
        <p:spPr/>
        <p:txBody>
          <a:bodyPr/>
          <a:lstStyle/>
          <a:p>
            <a:r>
              <a:rPr lang="en-US"/>
              <a:t>Why Study Finance?</a:t>
            </a:r>
          </a:p>
        </p:txBody>
      </p:sp>
      <p:sp>
        <p:nvSpPr>
          <p:cNvPr id="3" name="Text Placeholder 2">
            <a:extLst>
              <a:ext uri="{FF2B5EF4-FFF2-40B4-BE49-F238E27FC236}">
                <a16:creationId xmlns:a16="http://schemas.microsoft.com/office/drawing/2014/main" id="{FD3F2C81-D1A4-437E-24AF-08BAFE06219F}"/>
              </a:ext>
            </a:extLst>
          </p:cNvPr>
          <p:cNvSpPr>
            <a:spLocks noGrp="1"/>
          </p:cNvSpPr>
          <p:nvPr>
            <p:ph type="body" idx="1"/>
          </p:nvPr>
        </p:nvSpPr>
        <p:spPr/>
        <p:txBody>
          <a:bodyPr/>
          <a:lstStyle/>
          <a:p>
            <a:r>
              <a:rPr lang="en-US"/>
              <a:t>A career in finance is just </a:t>
            </a:r>
            <a:r>
              <a:rPr lang="en-US" b="1"/>
              <a:t>one</a:t>
            </a:r>
            <a:r>
              <a:rPr lang="en-US"/>
              <a:t> reason to study finance</a:t>
            </a:r>
          </a:p>
          <a:p>
            <a:r>
              <a:rPr lang="en-US"/>
              <a:t>Finance is an </a:t>
            </a:r>
            <a:r>
              <a:rPr lang="en-US" i="1"/>
              <a:t>excellent</a:t>
            </a:r>
            <a:r>
              <a:rPr lang="en-US" b="1" i="1"/>
              <a:t> </a:t>
            </a:r>
            <a:r>
              <a:rPr lang="en-US"/>
              <a:t>decision making tool</a:t>
            </a:r>
          </a:p>
          <a:p>
            <a:pPr lvl="1"/>
            <a:r>
              <a:rPr lang="en-US"/>
              <a:t>Analytical thinking</a:t>
            </a:r>
          </a:p>
          <a:p>
            <a:pPr lvl="1"/>
            <a:r>
              <a:rPr lang="en-US"/>
              <a:t>Life and asset planning</a:t>
            </a:r>
          </a:p>
          <a:p>
            <a:r>
              <a:rPr lang="en-US"/>
              <a:t>An understanding of finance and financial markets opens a broader world of available financial investment opportunities</a:t>
            </a:r>
          </a:p>
          <a:p>
            <a:pPr lvl="1"/>
            <a:r>
              <a:rPr lang="en-US"/>
              <a:t>It also helps us plan our lives</a:t>
            </a:r>
          </a:p>
          <a:p>
            <a:pPr lvl="1"/>
            <a:r>
              <a:rPr lang="en-US"/>
              <a:t>understand how to make smarter decisions</a:t>
            </a:r>
          </a:p>
        </p:txBody>
      </p:sp>
    </p:spTree>
    <p:extLst>
      <p:ext uri="{BB962C8B-B14F-4D97-AF65-F5344CB8AC3E}">
        <p14:creationId xmlns:p14="http://schemas.microsoft.com/office/powerpoint/2010/main" val="2408028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DC2A2-0431-F056-390C-F19030B95EC3}"/>
              </a:ext>
            </a:extLst>
          </p:cNvPr>
          <p:cNvSpPr>
            <a:spLocks noGrp="1"/>
          </p:cNvSpPr>
          <p:nvPr>
            <p:ph type="title"/>
          </p:nvPr>
        </p:nvSpPr>
        <p:spPr/>
        <p:txBody>
          <a:bodyPr/>
          <a:lstStyle/>
          <a:p>
            <a:r>
              <a:rPr lang="en-US"/>
              <a:t>Finance as Coordination Under Uncertainty</a:t>
            </a:r>
          </a:p>
        </p:txBody>
      </p:sp>
      <p:sp>
        <p:nvSpPr>
          <p:cNvPr id="3" name="Text Placeholder 2">
            <a:extLst>
              <a:ext uri="{FF2B5EF4-FFF2-40B4-BE49-F238E27FC236}">
                <a16:creationId xmlns:a16="http://schemas.microsoft.com/office/drawing/2014/main" id="{6AA7C351-033E-2A7E-8469-CB35E9215537}"/>
              </a:ext>
            </a:extLst>
          </p:cNvPr>
          <p:cNvSpPr>
            <a:spLocks noGrp="1"/>
          </p:cNvSpPr>
          <p:nvPr>
            <p:ph type="body" idx="1"/>
          </p:nvPr>
        </p:nvSpPr>
        <p:spPr/>
        <p:txBody>
          <a:bodyPr/>
          <a:lstStyle/>
          <a:p>
            <a:r>
              <a:rPr lang="en-US"/>
              <a:t>Finance is how societies coordinate decisions about scarce resources</a:t>
            </a:r>
          </a:p>
        </p:txBody>
      </p:sp>
    </p:spTree>
    <p:extLst>
      <p:ext uri="{BB962C8B-B14F-4D97-AF65-F5344CB8AC3E}">
        <p14:creationId xmlns:p14="http://schemas.microsoft.com/office/powerpoint/2010/main" val="3559471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BBDA0-D46B-7B33-4CCB-4E0AC9C5888F}"/>
              </a:ext>
            </a:extLst>
          </p:cNvPr>
          <p:cNvSpPr>
            <a:spLocks noGrp="1"/>
          </p:cNvSpPr>
          <p:nvPr>
            <p:ph type="title"/>
          </p:nvPr>
        </p:nvSpPr>
        <p:spPr/>
        <p:txBody>
          <a:bodyPr/>
          <a:lstStyle/>
          <a:p>
            <a:r>
              <a:rPr lang="en-US"/>
              <a:t>Risk in Finance</a:t>
            </a:r>
          </a:p>
        </p:txBody>
      </p:sp>
      <p:sp>
        <p:nvSpPr>
          <p:cNvPr id="3" name="Text Placeholder 2">
            <a:extLst>
              <a:ext uri="{FF2B5EF4-FFF2-40B4-BE49-F238E27FC236}">
                <a16:creationId xmlns:a16="http://schemas.microsoft.com/office/drawing/2014/main" id="{B142D953-6E66-FB2F-D000-1E97E8CEE83A}"/>
              </a:ext>
            </a:extLst>
          </p:cNvPr>
          <p:cNvSpPr>
            <a:spLocks noGrp="1"/>
          </p:cNvSpPr>
          <p:nvPr>
            <p:ph type="body" idx="1"/>
          </p:nvPr>
        </p:nvSpPr>
        <p:spPr/>
        <p:txBody>
          <a:bodyPr/>
          <a:lstStyle/>
          <a:p>
            <a:r>
              <a:rPr lang="en-US"/>
              <a:t>Finance tells us that an increase in risk results in an increase in expected return</a:t>
            </a:r>
          </a:p>
          <a:p>
            <a:pPr lvl="1"/>
            <a:r>
              <a:rPr lang="en-US" b="1"/>
              <a:t>Risk</a:t>
            </a:r>
            <a:r>
              <a:rPr lang="en-US"/>
              <a:t> at its most basic level is </a:t>
            </a:r>
            <a:r>
              <a:rPr lang="en-US" b="1"/>
              <a:t>uncertainty</a:t>
            </a:r>
            <a:endParaRPr lang="en-US"/>
          </a:p>
          <a:p>
            <a:r>
              <a:rPr lang="en-US"/>
              <a:t>The study of finance attempts to </a:t>
            </a:r>
            <a:r>
              <a:rPr lang="en-US" i="1"/>
              <a:t>quantify</a:t>
            </a:r>
            <a:r>
              <a:rPr lang="en-US"/>
              <a:t> risk in a way that helps individuals and organizations assess an appropriate trade-off for risk</a:t>
            </a:r>
          </a:p>
          <a:p>
            <a:r>
              <a:rPr lang="en-US"/>
              <a:t>Risk-Return tradeoffs are all around us in our everyday decision-making</a:t>
            </a:r>
          </a:p>
          <a:p>
            <a:pPr lvl="1"/>
            <a:r>
              <a:rPr lang="en-US"/>
              <a:t>Jaywalk or walk down to the crosswalk</a:t>
            </a:r>
          </a:p>
          <a:p>
            <a:pPr lvl="1"/>
            <a:r>
              <a:rPr lang="en-US"/>
              <a:t>Accept the first job offer after graduation or hold out for the offer you </a:t>
            </a:r>
            <a:r>
              <a:rPr lang="en-US" i="1"/>
              <a:t>really</a:t>
            </a:r>
            <a:r>
              <a:rPr lang="en-US"/>
              <a:t> want?</a:t>
            </a:r>
          </a:p>
          <a:p>
            <a:r>
              <a:rPr lang="en-US"/>
              <a:t>A better understanding of finance makes these types of decisions easier</a:t>
            </a:r>
          </a:p>
        </p:txBody>
      </p:sp>
    </p:spTree>
    <p:extLst>
      <p:ext uri="{BB962C8B-B14F-4D97-AF65-F5344CB8AC3E}">
        <p14:creationId xmlns:p14="http://schemas.microsoft.com/office/powerpoint/2010/main" val="2130509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85EEC-FCCA-5F0A-FED1-D5ABB28D6DBD}"/>
              </a:ext>
            </a:extLst>
          </p:cNvPr>
          <p:cNvSpPr>
            <a:spLocks noGrp="1"/>
          </p:cNvSpPr>
          <p:nvPr>
            <p:ph type="title"/>
          </p:nvPr>
        </p:nvSpPr>
        <p:spPr/>
        <p:txBody>
          <a:bodyPr/>
          <a:lstStyle/>
          <a:p>
            <a:r>
              <a:rPr lang="en-US"/>
              <a:t>Return in Finance</a:t>
            </a:r>
          </a:p>
        </p:txBody>
      </p:sp>
      <p:sp>
        <p:nvSpPr>
          <p:cNvPr id="3" name="Text Placeholder 2">
            <a:extLst>
              <a:ext uri="{FF2B5EF4-FFF2-40B4-BE49-F238E27FC236}">
                <a16:creationId xmlns:a16="http://schemas.microsoft.com/office/drawing/2014/main" id="{6BF08B90-5505-055C-2F71-B169584F7CAE}"/>
              </a:ext>
            </a:extLst>
          </p:cNvPr>
          <p:cNvSpPr>
            <a:spLocks noGrp="1"/>
          </p:cNvSpPr>
          <p:nvPr>
            <p:ph type="body" idx="1"/>
          </p:nvPr>
        </p:nvSpPr>
        <p:spPr/>
        <p:txBody>
          <a:bodyPr/>
          <a:lstStyle/>
          <a:p>
            <a:r>
              <a:rPr lang="en-US" b="1"/>
              <a:t>Return</a:t>
            </a:r>
            <a:r>
              <a:rPr lang="en-US"/>
              <a:t> is compensation for making an investment and waiting for the benefit</a:t>
            </a:r>
          </a:p>
          <a:p>
            <a:pPr lvl="1"/>
            <a:r>
              <a:rPr lang="en-US"/>
              <a:t>Interest earned on an investment in a bond</a:t>
            </a:r>
          </a:p>
          <a:p>
            <a:pPr lvl="1"/>
            <a:r>
              <a:rPr lang="en-US"/>
              <a:t>Dividend from the purchase of a stock</a:t>
            </a:r>
          </a:p>
          <a:p>
            <a:pPr lvl="1"/>
            <a:r>
              <a:rPr lang="en-US"/>
              <a:t>Higher income received and greater job satisfaction from a degree</a:t>
            </a:r>
          </a:p>
          <a:p>
            <a:r>
              <a:rPr lang="en-US"/>
              <a:t>Investors would not be satisfied if the average return on stocks and bonds were the same as that for a risk-free savings account</a:t>
            </a:r>
          </a:p>
          <a:p>
            <a:pPr lvl="1"/>
            <a:r>
              <a:rPr lang="en-US"/>
              <a:t>Stocks and bonds have a higher risk, thus investors expect a greater average return</a:t>
            </a:r>
          </a:p>
          <a:p>
            <a:r>
              <a:rPr lang="en-US"/>
              <a:t>The study of finance provides us with the tools to make better and more consistent assessments of the risk-return tradeoff in all decision making</a:t>
            </a:r>
          </a:p>
          <a:p>
            <a:pPr lvl="1"/>
            <a:r>
              <a:rPr lang="en-US"/>
              <a:t>Portfolios of investment securities tend to demonstrate the characteristics of a normal return distribution</a:t>
            </a:r>
          </a:p>
          <a:p>
            <a:r>
              <a:rPr lang="en-US"/>
              <a:t>There are </a:t>
            </a:r>
            <a:r>
              <a:rPr lang="en-US" b="1"/>
              <a:t>many</a:t>
            </a:r>
            <a:r>
              <a:rPr lang="en-US"/>
              <a:t> types of risk: default, inflation, diversifiable, political</a:t>
            </a:r>
          </a:p>
          <a:p>
            <a:pPr lvl="1"/>
            <a:r>
              <a:rPr lang="en-US"/>
              <a:t>The study of finance helps us better navigate and plan</a:t>
            </a:r>
          </a:p>
        </p:txBody>
      </p:sp>
      <p:pic>
        <p:nvPicPr>
          <p:cNvPr id="5" name="Picture 4" descr="A diagram of a graph&#10;&#10;AI-generated content may be incorrect.">
            <a:extLst>
              <a:ext uri="{FF2B5EF4-FFF2-40B4-BE49-F238E27FC236}">
                <a16:creationId xmlns:a16="http://schemas.microsoft.com/office/drawing/2014/main" id="{D56B0AE9-2893-CC9A-95B1-29179F6DF192}"/>
              </a:ext>
            </a:extLst>
          </p:cNvPr>
          <p:cNvPicPr>
            <a:picLocks noChangeAspect="1"/>
          </p:cNvPicPr>
          <p:nvPr/>
        </p:nvPicPr>
        <p:blipFill>
          <a:blip r:embed="rId2"/>
          <a:stretch>
            <a:fillRect/>
          </a:stretch>
        </p:blipFill>
        <p:spPr>
          <a:xfrm>
            <a:off x="8885206" y="95762"/>
            <a:ext cx="3184491" cy="1712209"/>
          </a:xfrm>
          <a:prstGeom prst="rect">
            <a:avLst/>
          </a:prstGeom>
        </p:spPr>
      </p:pic>
    </p:spTree>
    <p:extLst>
      <p:ext uri="{BB962C8B-B14F-4D97-AF65-F5344CB8AC3E}">
        <p14:creationId xmlns:p14="http://schemas.microsoft.com/office/powerpoint/2010/main" val="2620543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394E-0A46-665F-8AB6-3539E0A140FC}"/>
              </a:ext>
            </a:extLst>
          </p:cNvPr>
          <p:cNvSpPr>
            <a:spLocks noGrp="1"/>
          </p:cNvSpPr>
          <p:nvPr>
            <p:ph type="title"/>
          </p:nvPr>
        </p:nvSpPr>
        <p:spPr/>
        <p:txBody>
          <a:bodyPr/>
          <a:lstStyle/>
          <a:p>
            <a:r>
              <a:rPr lang="en-US"/>
              <a:t>Risk vs Return</a:t>
            </a:r>
          </a:p>
        </p:txBody>
      </p:sp>
      <p:sp>
        <p:nvSpPr>
          <p:cNvPr id="3" name="Text Placeholder 2">
            <a:extLst>
              <a:ext uri="{FF2B5EF4-FFF2-40B4-BE49-F238E27FC236}">
                <a16:creationId xmlns:a16="http://schemas.microsoft.com/office/drawing/2014/main" id="{5C001FCC-397B-F04E-A953-41FE08E721E1}"/>
              </a:ext>
            </a:extLst>
          </p:cNvPr>
          <p:cNvSpPr>
            <a:spLocks noGrp="1"/>
          </p:cNvSpPr>
          <p:nvPr>
            <p:ph type="body" idx="1"/>
          </p:nvPr>
        </p:nvSpPr>
        <p:spPr/>
        <p:txBody>
          <a:bodyPr>
            <a:normAutofit/>
          </a:bodyPr>
          <a:lstStyle/>
          <a:p>
            <a:r>
              <a:rPr lang="en-US"/>
              <a:t>This semester is </a:t>
            </a:r>
            <a:r>
              <a:rPr lang="en-US" b="1"/>
              <a:t>fraught</a:t>
            </a:r>
            <a:r>
              <a:rPr lang="en-US"/>
              <a:t> with </a:t>
            </a:r>
            <a:r>
              <a:rPr lang="en-US" i="1"/>
              <a:t>risk</a:t>
            </a:r>
            <a:endParaRPr lang="en-US"/>
          </a:p>
          <a:p>
            <a:r>
              <a:rPr lang="en-US"/>
              <a:t>The technologies we are going to engage with are </a:t>
            </a:r>
            <a:r>
              <a:rPr lang="en-US" i="1"/>
              <a:t>experimental</a:t>
            </a:r>
            <a:r>
              <a:rPr lang="en-US"/>
              <a:t> and often </a:t>
            </a:r>
            <a:r>
              <a:rPr lang="en-US" i="1"/>
              <a:t>untested</a:t>
            </a:r>
            <a:r>
              <a:rPr lang="en-US"/>
              <a:t> for the type of work we are trying to do</a:t>
            </a:r>
          </a:p>
          <a:p>
            <a:pPr lvl="1"/>
            <a:r>
              <a:rPr lang="en-US"/>
              <a:t>No textbooks</a:t>
            </a:r>
          </a:p>
          <a:p>
            <a:pPr lvl="1"/>
            <a:r>
              <a:rPr lang="en-US"/>
              <a:t>No resources</a:t>
            </a:r>
          </a:p>
          <a:p>
            <a:pPr lvl="1"/>
            <a:r>
              <a:rPr lang="en-US"/>
              <a:t>All exploration</a:t>
            </a:r>
          </a:p>
          <a:p>
            <a:r>
              <a:rPr lang="en-US"/>
              <a:t>The </a:t>
            </a:r>
            <a:r>
              <a:rPr lang="en-US" b="1"/>
              <a:t>Risk</a:t>
            </a:r>
            <a:endParaRPr lang="en-US"/>
          </a:p>
          <a:p>
            <a:pPr lvl="1"/>
            <a:r>
              <a:rPr lang="en-US"/>
              <a:t>Demo’s don’t work as we expect</a:t>
            </a:r>
          </a:p>
          <a:p>
            <a:pPr lvl="1"/>
            <a:r>
              <a:rPr lang="en-US"/>
              <a:t>The technology isn’t as robust or able to produce the type of results we may hope</a:t>
            </a:r>
          </a:p>
          <a:p>
            <a:pPr lvl="1"/>
            <a:r>
              <a:rPr lang="en-US"/>
              <a:t>It doesn’t work :/</a:t>
            </a:r>
          </a:p>
          <a:p>
            <a:r>
              <a:rPr lang="en-US"/>
              <a:t>The </a:t>
            </a:r>
            <a:r>
              <a:rPr lang="en-US" b="1"/>
              <a:t>Reward</a:t>
            </a:r>
            <a:endParaRPr lang="en-US"/>
          </a:p>
          <a:p>
            <a:pPr lvl="1"/>
            <a:r>
              <a:rPr lang="en-US"/>
              <a:t>We get super rich and it works super well (not going to happen)</a:t>
            </a:r>
          </a:p>
          <a:p>
            <a:pPr lvl="1"/>
            <a:r>
              <a:rPr lang="en-US"/>
              <a:t>We learn about our rapidly evolving digital landscape(Agentic Systems)</a:t>
            </a:r>
          </a:p>
          <a:p>
            <a:pPr lvl="1"/>
            <a:r>
              <a:rPr lang="en-US"/>
              <a:t>We learn fundamentals about trading (basics and quantitative methods)</a:t>
            </a:r>
          </a:p>
          <a:p>
            <a:pPr lvl="1"/>
            <a:r>
              <a:rPr lang="en-US"/>
              <a:t>We learn the methodologies (data cleaning, financial analysis, statistical methods)</a:t>
            </a:r>
          </a:p>
        </p:txBody>
      </p:sp>
    </p:spTree>
    <p:extLst>
      <p:ext uri="{BB962C8B-B14F-4D97-AF65-F5344CB8AC3E}">
        <p14:creationId xmlns:p14="http://schemas.microsoft.com/office/powerpoint/2010/main" val="1718170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A91C1-A99E-874D-CA89-4666C80954C9}"/>
              </a:ext>
            </a:extLst>
          </p:cNvPr>
          <p:cNvSpPr>
            <a:spLocks noGrp="1"/>
          </p:cNvSpPr>
          <p:nvPr>
            <p:ph type="title"/>
          </p:nvPr>
        </p:nvSpPr>
        <p:spPr/>
        <p:txBody>
          <a:bodyPr/>
          <a:lstStyle/>
          <a:p>
            <a:r>
              <a:rPr lang="en-US"/>
              <a:t>Who is in the Market</a:t>
            </a:r>
          </a:p>
        </p:txBody>
      </p:sp>
      <p:sp>
        <p:nvSpPr>
          <p:cNvPr id="3" name="Text Placeholder 2">
            <a:extLst>
              <a:ext uri="{FF2B5EF4-FFF2-40B4-BE49-F238E27FC236}">
                <a16:creationId xmlns:a16="http://schemas.microsoft.com/office/drawing/2014/main" id="{8F1B9E57-DEEB-C04C-60D9-2E6A229C99E2}"/>
              </a:ext>
            </a:extLst>
          </p:cNvPr>
          <p:cNvSpPr>
            <a:spLocks noGrp="1"/>
          </p:cNvSpPr>
          <p:nvPr>
            <p:ph type="body" idx="1"/>
          </p:nvPr>
        </p:nvSpPr>
        <p:spPr/>
        <p:txBody>
          <a:bodyPr/>
          <a:lstStyle/>
          <a:p>
            <a:r>
              <a:rPr lang="en-US"/>
              <a:t>What do we even mean when we talk about the “Market”</a:t>
            </a:r>
          </a:p>
        </p:txBody>
      </p:sp>
    </p:spTree>
    <p:extLst>
      <p:ext uri="{BB962C8B-B14F-4D97-AF65-F5344CB8AC3E}">
        <p14:creationId xmlns:p14="http://schemas.microsoft.com/office/powerpoint/2010/main" val="3276188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4E965-DA82-5061-D48A-2ADA31C7C35D}"/>
              </a:ext>
            </a:extLst>
          </p:cNvPr>
          <p:cNvSpPr>
            <a:spLocks noGrp="1"/>
          </p:cNvSpPr>
          <p:nvPr>
            <p:ph type="title"/>
          </p:nvPr>
        </p:nvSpPr>
        <p:spPr/>
        <p:txBody>
          <a:bodyPr/>
          <a:lstStyle/>
          <a:p>
            <a:r>
              <a:rPr lang="en-US"/>
              <a:t>The “Market”</a:t>
            </a:r>
          </a:p>
        </p:txBody>
      </p:sp>
      <p:sp>
        <p:nvSpPr>
          <p:cNvPr id="3" name="Text Placeholder 2">
            <a:extLst>
              <a:ext uri="{FF2B5EF4-FFF2-40B4-BE49-F238E27FC236}">
                <a16:creationId xmlns:a16="http://schemas.microsoft.com/office/drawing/2014/main" id="{C5D8C026-F11C-25E4-7814-6017082BCDED}"/>
              </a:ext>
            </a:extLst>
          </p:cNvPr>
          <p:cNvSpPr>
            <a:spLocks noGrp="1"/>
          </p:cNvSpPr>
          <p:nvPr>
            <p:ph type="body" idx="1"/>
          </p:nvPr>
        </p:nvSpPr>
        <p:spPr/>
        <p:txBody>
          <a:bodyPr>
            <a:normAutofit/>
          </a:bodyPr>
          <a:lstStyle/>
          <a:p>
            <a:r>
              <a:rPr lang="en-US"/>
              <a:t>Our </a:t>
            </a:r>
            <a:r>
              <a:rPr lang="en-US" i="1"/>
              <a:t>environment</a:t>
            </a:r>
            <a:r>
              <a:rPr lang="en-US"/>
              <a:t> for this semester is </a:t>
            </a:r>
            <a:r>
              <a:rPr lang="en-US" b="1"/>
              <a:t>complex</a:t>
            </a:r>
            <a:endParaRPr lang="en-US"/>
          </a:p>
          <a:p>
            <a:r>
              <a:rPr lang="en-US"/>
              <a:t>The market is essentially the </a:t>
            </a:r>
            <a:r>
              <a:rPr lang="en-US" b="1"/>
              <a:t>intersection</a:t>
            </a:r>
            <a:r>
              <a:rPr lang="en-US"/>
              <a:t> where buyers and sellers congregate to trade assets</a:t>
            </a:r>
          </a:p>
          <a:p>
            <a:pPr lvl="1"/>
            <a:r>
              <a:rPr lang="en-US"/>
              <a:t>A market can be a store, Facebook </a:t>
            </a:r>
            <a:r>
              <a:rPr lang="en-US" i="1"/>
              <a:t>marketplace</a:t>
            </a:r>
            <a:r>
              <a:rPr lang="en-US"/>
              <a:t>, or in our case </a:t>
            </a:r>
            <a:r>
              <a:rPr lang="en-US" b="1"/>
              <a:t>security exchanges</a:t>
            </a:r>
          </a:p>
          <a:p>
            <a:r>
              <a:rPr lang="en-US"/>
              <a:t>This course is going to view the market as a high-dimensional, real-time data environment</a:t>
            </a:r>
          </a:p>
          <a:p>
            <a:pPr lvl="1"/>
            <a:r>
              <a:rPr lang="en-US"/>
              <a:t>Every “tick” will represent a decision made</a:t>
            </a:r>
          </a:p>
          <a:p>
            <a:pPr lvl="2"/>
            <a:r>
              <a:rPr lang="en-US"/>
              <a:t>By a human, agent, or hybrid</a:t>
            </a:r>
          </a:p>
          <a:p>
            <a:r>
              <a:rPr lang="en-US"/>
              <a:t>The simplistic view of our environment is purely the security exchanges(NYSE, NASDAQ)</a:t>
            </a:r>
          </a:p>
          <a:p>
            <a:pPr lvl="1"/>
            <a:r>
              <a:rPr lang="en-US"/>
              <a:t>This view undercuts the </a:t>
            </a:r>
            <a:r>
              <a:rPr lang="en-US" i="1"/>
              <a:t>players</a:t>
            </a:r>
            <a:r>
              <a:rPr lang="en-US"/>
              <a:t> that drive the markets</a:t>
            </a:r>
          </a:p>
          <a:p>
            <a:pPr lvl="2"/>
            <a:r>
              <a:rPr lang="en-US"/>
              <a:t>They players have a direct impact on the environment we are trying to understand</a:t>
            </a:r>
          </a:p>
          <a:p>
            <a:r>
              <a:rPr lang="en-US"/>
              <a:t>Players</a:t>
            </a:r>
          </a:p>
          <a:p>
            <a:pPr lvl="1"/>
            <a:r>
              <a:rPr lang="en-US"/>
              <a:t>Institutional/market makers - </a:t>
            </a:r>
            <a:r>
              <a:rPr lang="en-US" b="1"/>
              <a:t>Dealers</a:t>
            </a:r>
            <a:endParaRPr lang="en-US"/>
          </a:p>
          <a:p>
            <a:pPr lvl="2"/>
            <a:r>
              <a:rPr lang="en-US"/>
              <a:t>Provides the pipes, execute trades, report data</a:t>
            </a:r>
          </a:p>
          <a:p>
            <a:pPr lvl="1"/>
            <a:r>
              <a:rPr lang="en-US" b="1"/>
              <a:t>Brokers</a:t>
            </a:r>
            <a:endParaRPr lang="en-US"/>
          </a:p>
          <a:p>
            <a:pPr lvl="2"/>
            <a:r>
              <a:rPr lang="en-US"/>
              <a:t>Those that enable trades in markets to happen, match buyers and sellers</a:t>
            </a:r>
          </a:p>
          <a:p>
            <a:pPr lvl="1"/>
            <a:r>
              <a:rPr lang="en-US"/>
              <a:t>Speculators(us)</a:t>
            </a:r>
          </a:p>
          <a:p>
            <a:pPr lvl="2"/>
            <a:r>
              <a:rPr lang="en-US"/>
              <a:t>Retail investors</a:t>
            </a:r>
          </a:p>
          <a:p>
            <a:pPr lvl="2"/>
            <a:r>
              <a:rPr lang="en-US"/>
              <a:t>Quants who seek returns through pattern recognition</a:t>
            </a:r>
          </a:p>
          <a:p>
            <a:pPr lvl="2"/>
            <a:r>
              <a:rPr lang="en-US"/>
              <a:t>Students who want to learn</a:t>
            </a:r>
          </a:p>
          <a:p>
            <a:endParaRPr lang="en-US"/>
          </a:p>
        </p:txBody>
      </p:sp>
    </p:spTree>
    <p:extLst>
      <p:ext uri="{BB962C8B-B14F-4D97-AF65-F5344CB8AC3E}">
        <p14:creationId xmlns:p14="http://schemas.microsoft.com/office/powerpoint/2010/main" val="2394706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4E022-FC7D-B55C-73AE-4A9584693408}"/>
              </a:ext>
            </a:extLst>
          </p:cNvPr>
          <p:cNvSpPr>
            <a:spLocks noGrp="1"/>
          </p:cNvSpPr>
          <p:nvPr>
            <p:ph type="title"/>
          </p:nvPr>
        </p:nvSpPr>
        <p:spPr/>
        <p:txBody>
          <a:bodyPr/>
          <a:lstStyle/>
          <a:p>
            <a:r>
              <a:rPr lang="en-US"/>
              <a:t>The “Market” and it’s many Participants</a:t>
            </a:r>
          </a:p>
        </p:txBody>
      </p:sp>
      <p:sp>
        <p:nvSpPr>
          <p:cNvPr id="3" name="Text Placeholder 2">
            <a:extLst>
              <a:ext uri="{FF2B5EF4-FFF2-40B4-BE49-F238E27FC236}">
                <a16:creationId xmlns:a16="http://schemas.microsoft.com/office/drawing/2014/main" id="{BA7DF591-4041-E721-63FB-70B09265C28F}"/>
              </a:ext>
            </a:extLst>
          </p:cNvPr>
          <p:cNvSpPr>
            <a:spLocks noGrp="1"/>
          </p:cNvSpPr>
          <p:nvPr>
            <p:ph type="body" idx="1"/>
          </p:nvPr>
        </p:nvSpPr>
        <p:spPr/>
        <p:txBody>
          <a:bodyPr>
            <a:normAutofit/>
          </a:bodyPr>
          <a:lstStyle/>
          <a:p>
            <a:r>
              <a:rPr lang="en-US"/>
              <a:t>Primary market is for </a:t>
            </a:r>
            <a:r>
              <a:rPr lang="en-US" i="1"/>
              <a:t>new</a:t>
            </a:r>
            <a:r>
              <a:rPr lang="en-US"/>
              <a:t> securities</a:t>
            </a:r>
          </a:p>
          <a:p>
            <a:pPr lvl="1"/>
            <a:r>
              <a:rPr lang="en-US"/>
              <a:t>New shares are issues when a firm first enters the stock market via IPO(initial public offering)</a:t>
            </a:r>
          </a:p>
          <a:p>
            <a:pPr lvl="2"/>
            <a:r>
              <a:rPr lang="en-US"/>
              <a:t>Once the initial purchasing happens, these purchasers may then trade them</a:t>
            </a:r>
          </a:p>
          <a:p>
            <a:r>
              <a:rPr lang="en-US"/>
              <a:t>Secondary market is for </a:t>
            </a:r>
            <a:r>
              <a:rPr lang="en-US" i="1"/>
              <a:t>used</a:t>
            </a:r>
            <a:r>
              <a:rPr lang="en-US"/>
              <a:t> securities</a:t>
            </a:r>
          </a:p>
          <a:p>
            <a:r>
              <a:rPr lang="en-US"/>
              <a:t>The stock market largely deals with </a:t>
            </a:r>
            <a:r>
              <a:rPr lang="en-US" u="sng"/>
              <a:t>used</a:t>
            </a:r>
            <a:r>
              <a:rPr lang="en-US"/>
              <a:t> securities</a:t>
            </a:r>
          </a:p>
          <a:p>
            <a:pPr lvl="1"/>
            <a:r>
              <a:rPr lang="en-US"/>
              <a:t>Stock markets trade equity securities daily</a:t>
            </a:r>
          </a:p>
          <a:p>
            <a:pPr lvl="2"/>
            <a:r>
              <a:rPr lang="en-US"/>
              <a:t>Most of this takes place among individual and institutional investors who own shares in publicly traded companies</a:t>
            </a:r>
          </a:p>
          <a:p>
            <a:pPr lvl="2"/>
            <a:r>
              <a:rPr lang="en-US"/>
              <a:t>These trades have little effect on the firm itself; however, the information provide by transactions is costly</a:t>
            </a:r>
          </a:p>
          <a:p>
            <a:pPr lvl="3"/>
            <a:r>
              <a:rPr lang="en-US"/>
              <a:t>Real time statement by investors of the firm's perceptions</a:t>
            </a:r>
          </a:p>
          <a:p>
            <a:pPr lvl="1"/>
            <a:r>
              <a:rPr lang="en-US"/>
              <a:t>Companies are responsible for monitoring and publishing </a:t>
            </a:r>
            <a:r>
              <a:rPr lang="en-US" b="1"/>
              <a:t>billions</a:t>
            </a:r>
            <a:r>
              <a:rPr lang="en-US"/>
              <a:t> of trades across multiple markets</a:t>
            </a:r>
          </a:p>
          <a:p>
            <a:pPr lvl="2"/>
            <a:r>
              <a:rPr lang="en-US"/>
              <a:t>Every second hundreds of thousands of trades are executed</a:t>
            </a:r>
          </a:p>
        </p:txBody>
      </p:sp>
    </p:spTree>
    <p:extLst>
      <p:ext uri="{BB962C8B-B14F-4D97-AF65-F5344CB8AC3E}">
        <p14:creationId xmlns:p14="http://schemas.microsoft.com/office/powerpoint/2010/main" val="2033437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66631-C9DC-DF10-E7A7-5A271A4FD777}"/>
              </a:ext>
            </a:extLst>
          </p:cNvPr>
          <p:cNvSpPr>
            <a:spLocks noGrp="1"/>
          </p:cNvSpPr>
          <p:nvPr>
            <p:ph type="title"/>
          </p:nvPr>
        </p:nvSpPr>
        <p:spPr/>
        <p:txBody>
          <a:bodyPr/>
          <a:lstStyle/>
          <a:p>
            <a:r>
              <a:rPr lang="en-US"/>
              <a:t>The Major Players: NYSE and NASDAQ</a:t>
            </a:r>
          </a:p>
        </p:txBody>
      </p:sp>
      <p:sp>
        <p:nvSpPr>
          <p:cNvPr id="3" name="Text Placeholder 2">
            <a:extLst>
              <a:ext uri="{FF2B5EF4-FFF2-40B4-BE49-F238E27FC236}">
                <a16:creationId xmlns:a16="http://schemas.microsoft.com/office/drawing/2014/main" id="{AB8AF2B8-184F-74CB-814C-EE5C573EEFDD}"/>
              </a:ext>
            </a:extLst>
          </p:cNvPr>
          <p:cNvSpPr>
            <a:spLocks noGrp="1"/>
          </p:cNvSpPr>
          <p:nvPr>
            <p:ph type="body" idx="1"/>
          </p:nvPr>
        </p:nvSpPr>
        <p:spPr/>
        <p:txBody>
          <a:bodyPr>
            <a:normAutofit/>
          </a:bodyPr>
          <a:lstStyle/>
          <a:p>
            <a:r>
              <a:rPr lang="en-US"/>
              <a:t>NYSE(New York Stock Exchange)</a:t>
            </a:r>
          </a:p>
          <a:p>
            <a:pPr lvl="1"/>
            <a:r>
              <a:rPr lang="en-US"/>
              <a:t>Founded in 1792 the NYSE is the worlds largest stock exchange</a:t>
            </a:r>
          </a:p>
          <a:p>
            <a:pPr lvl="1"/>
            <a:r>
              <a:rPr lang="en-US"/>
              <a:t>Designated Market Makers act as auctioneers to ensure fair trade</a:t>
            </a:r>
          </a:p>
          <a:p>
            <a:pPr lvl="1"/>
            <a:r>
              <a:rPr lang="en-US"/>
              <a:t>Hybrid approach</a:t>
            </a:r>
          </a:p>
          <a:p>
            <a:pPr lvl="2"/>
            <a:r>
              <a:rPr lang="en-US"/>
              <a:t>NYSE is one of the few remaining trading floors where humans are still actively trading in person</a:t>
            </a:r>
          </a:p>
          <a:p>
            <a:pPr lvl="1"/>
            <a:r>
              <a:rPr lang="en-US"/>
              <a:t>Traditionally home to "Blue Chip" industrial giants like Coca-Cola or Ford.</a:t>
            </a:r>
          </a:p>
          <a:p>
            <a:r>
              <a:rPr lang="en-US"/>
              <a:t>NASDAQ(National Association of Securities Dealers)</a:t>
            </a:r>
          </a:p>
          <a:p>
            <a:pPr lvl="1"/>
            <a:r>
              <a:rPr lang="en-US"/>
              <a:t>Founded in 1971 as the first fully electronic stock market</a:t>
            </a:r>
          </a:p>
          <a:p>
            <a:pPr lvl="1"/>
            <a:r>
              <a:rPr lang="en-US"/>
              <a:t>No physical trading floor</a:t>
            </a:r>
          </a:p>
          <a:p>
            <a:pPr lvl="1"/>
            <a:r>
              <a:rPr lang="en-US"/>
              <a:t>Known for high-growth tech companies like Apple, Microsoft, and Google</a:t>
            </a:r>
          </a:p>
          <a:p>
            <a:r>
              <a:rPr lang="en-US"/>
              <a:t>Both of these markets allow companies to go public and raise money for growth by selling shares to investors</a:t>
            </a:r>
          </a:p>
          <a:p>
            <a:pPr lvl="1"/>
            <a:r>
              <a:rPr lang="en-US"/>
              <a:t>Who then can trade the shares</a:t>
            </a:r>
          </a:p>
          <a:p>
            <a:pPr lvl="1"/>
            <a:r>
              <a:rPr lang="en-US"/>
              <a:t>They NYSE and NASDAQ are often reflectors of the overall health and sentiment of the global economy</a:t>
            </a:r>
            <a:endParaRPr lang="en-US" b="1"/>
          </a:p>
          <a:p>
            <a:endParaRPr lang="en-US"/>
          </a:p>
        </p:txBody>
      </p:sp>
      <p:pic>
        <p:nvPicPr>
          <p:cNvPr id="4" name="Picture 2" descr="New York Stock Exchange (NYSE) | Definition, History, &amp; Facts | Britannica  Money">
            <a:extLst>
              <a:ext uri="{FF2B5EF4-FFF2-40B4-BE49-F238E27FC236}">
                <a16:creationId xmlns:a16="http://schemas.microsoft.com/office/drawing/2014/main" id="{EE8F51F2-ACB0-E0D4-F322-E938535AA9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1493" y="1185103"/>
            <a:ext cx="2387341" cy="1588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919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0BD5-A7BB-A30C-4C0E-E0A7D9ACC746}"/>
              </a:ext>
            </a:extLst>
          </p:cNvPr>
          <p:cNvSpPr>
            <a:spLocks noGrp="1"/>
          </p:cNvSpPr>
          <p:nvPr>
            <p:ph type="title"/>
          </p:nvPr>
        </p:nvSpPr>
        <p:spPr/>
        <p:txBody>
          <a:bodyPr/>
          <a:lstStyle/>
          <a:p>
            <a:r>
              <a:rPr lang="en-US"/>
              <a:t>Key Market Players</a:t>
            </a:r>
          </a:p>
        </p:txBody>
      </p:sp>
      <p:sp>
        <p:nvSpPr>
          <p:cNvPr id="3" name="Text Placeholder 2">
            <a:extLst>
              <a:ext uri="{FF2B5EF4-FFF2-40B4-BE49-F238E27FC236}">
                <a16:creationId xmlns:a16="http://schemas.microsoft.com/office/drawing/2014/main" id="{E81FBD88-0389-EB41-3236-F07F48326D40}"/>
              </a:ext>
            </a:extLst>
          </p:cNvPr>
          <p:cNvSpPr>
            <a:spLocks noGrp="1"/>
          </p:cNvSpPr>
          <p:nvPr>
            <p:ph type="body" idx="1"/>
          </p:nvPr>
        </p:nvSpPr>
        <p:spPr/>
        <p:txBody>
          <a:bodyPr/>
          <a:lstStyle/>
          <a:p>
            <a:r>
              <a:rPr lang="en-US" b="1"/>
              <a:t>Dealers</a:t>
            </a:r>
            <a:endParaRPr lang="en-US"/>
          </a:p>
          <a:p>
            <a:pPr lvl="1"/>
            <a:r>
              <a:rPr lang="en-US"/>
              <a:t>Own the securities that they buy or sell. When a dealer engages in a financial transaction, they are trading from their own portfolio. </a:t>
            </a:r>
          </a:p>
          <a:p>
            <a:pPr lvl="1"/>
            <a:r>
              <a:rPr lang="en-US"/>
              <a:t>Dealers do </a:t>
            </a:r>
            <a:r>
              <a:rPr lang="en-US" i="1"/>
              <a:t>not</a:t>
            </a:r>
            <a:r>
              <a:rPr lang="en-US"/>
              <a:t> participate in the market in the same manner as an individual or institutional investor</a:t>
            </a:r>
          </a:p>
          <a:p>
            <a:pPr lvl="2"/>
            <a:r>
              <a:rPr lang="en-US"/>
              <a:t>Dealers do not try to make money by ensuring their investments are worth as much as possible. Instead, dealers attempt to “make markets”</a:t>
            </a:r>
          </a:p>
          <a:p>
            <a:pPr lvl="3"/>
            <a:r>
              <a:rPr lang="en-US"/>
              <a:t>They are willing and able to buy and sell at the current bid and ask price</a:t>
            </a:r>
          </a:p>
          <a:p>
            <a:pPr lvl="4"/>
            <a:r>
              <a:rPr lang="en-US"/>
              <a:t>Dealers make money from the volume of trading and the spread between their bid price(what they are willing to pay) and their ask price(price they are willing to sell)</a:t>
            </a:r>
          </a:p>
          <a:p>
            <a:r>
              <a:rPr lang="en-US"/>
              <a:t>Let’s look at how this works in practice </a:t>
            </a:r>
          </a:p>
          <a:p>
            <a:pPr lvl="1"/>
            <a:endParaRPr lang="en-US"/>
          </a:p>
        </p:txBody>
      </p:sp>
      <p:pic>
        <p:nvPicPr>
          <p:cNvPr id="5" name="Picture 4">
            <a:extLst>
              <a:ext uri="{FF2B5EF4-FFF2-40B4-BE49-F238E27FC236}">
                <a16:creationId xmlns:a16="http://schemas.microsoft.com/office/drawing/2014/main" id="{A09388A6-00F1-A9AA-EF50-16BBFCC724FD}"/>
              </a:ext>
            </a:extLst>
          </p:cNvPr>
          <p:cNvPicPr>
            <a:picLocks noChangeAspect="1"/>
          </p:cNvPicPr>
          <p:nvPr/>
        </p:nvPicPr>
        <p:blipFill>
          <a:blip r:embed="rId2"/>
          <a:stretch>
            <a:fillRect/>
          </a:stretch>
        </p:blipFill>
        <p:spPr>
          <a:xfrm>
            <a:off x="8578394" y="0"/>
            <a:ext cx="3462482" cy="2033337"/>
          </a:xfrm>
          <a:prstGeom prst="rect">
            <a:avLst/>
          </a:prstGeom>
        </p:spPr>
      </p:pic>
    </p:spTree>
    <p:extLst>
      <p:ext uri="{BB962C8B-B14F-4D97-AF65-F5344CB8AC3E}">
        <p14:creationId xmlns:p14="http://schemas.microsoft.com/office/powerpoint/2010/main" val="3433948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EFC6B-7FE4-FD34-6D4F-76F27D6710A1}"/>
              </a:ext>
            </a:extLst>
          </p:cNvPr>
          <p:cNvSpPr>
            <a:spLocks noGrp="1"/>
          </p:cNvSpPr>
          <p:nvPr>
            <p:ph type="title"/>
          </p:nvPr>
        </p:nvSpPr>
        <p:spPr/>
        <p:txBody>
          <a:bodyPr/>
          <a:lstStyle/>
          <a:p>
            <a:r>
              <a:rPr lang="en-US"/>
              <a:t>Market Maker – Citadel Securities</a:t>
            </a:r>
          </a:p>
        </p:txBody>
      </p:sp>
      <p:sp>
        <p:nvSpPr>
          <p:cNvPr id="3" name="Text Placeholder 2">
            <a:extLst>
              <a:ext uri="{FF2B5EF4-FFF2-40B4-BE49-F238E27FC236}">
                <a16:creationId xmlns:a16="http://schemas.microsoft.com/office/drawing/2014/main" id="{9142C9EE-CDE2-7256-43A5-5A082C4BDC7C}"/>
              </a:ext>
            </a:extLst>
          </p:cNvPr>
          <p:cNvSpPr>
            <a:spLocks noGrp="1"/>
          </p:cNvSpPr>
          <p:nvPr>
            <p:ph type="body" idx="1"/>
          </p:nvPr>
        </p:nvSpPr>
        <p:spPr/>
        <p:txBody>
          <a:bodyPr/>
          <a:lstStyle/>
          <a:p>
            <a:r>
              <a:rPr lang="en-US"/>
              <a:t>When you </a:t>
            </a:r>
            <a:r>
              <a:rPr lang="en-US" i="1"/>
              <a:t>sell</a:t>
            </a:r>
            <a:r>
              <a:rPr lang="en-US"/>
              <a:t> a stock, you are typically not selling to another retail investor</a:t>
            </a:r>
          </a:p>
          <a:p>
            <a:pPr lvl="1"/>
            <a:r>
              <a:rPr lang="en-US"/>
              <a:t>If you use a brokerage app to sell a share of Apple stock, you usually aren't selling it directly to another person. You are selling it to a dealer like Citadel.</a:t>
            </a:r>
          </a:p>
          <a:p>
            <a:pPr lvl="2"/>
            <a:r>
              <a:rPr lang="en-US"/>
              <a:t>Citadel buys at your asking price, then immediately tries to sell it to someone else at a slightly higher price to capture the </a:t>
            </a:r>
            <a:r>
              <a:rPr lang="en-US" i="1"/>
              <a:t>spread</a:t>
            </a:r>
            <a:endParaRPr lang="en-US"/>
          </a:p>
          <a:p>
            <a:pPr lvl="3"/>
            <a:r>
              <a:rPr lang="en-US" b="1"/>
              <a:t>Spread: </a:t>
            </a:r>
            <a:r>
              <a:rPr lang="en-US"/>
              <a:t>the movement of a stocks price from </a:t>
            </a:r>
            <a:r>
              <a:rPr lang="en-US" i="1"/>
              <a:t>buy</a:t>
            </a:r>
            <a:r>
              <a:rPr lang="en-US"/>
              <a:t> to </a:t>
            </a:r>
            <a:r>
              <a:rPr lang="en-US" i="1"/>
              <a:t>sell</a:t>
            </a:r>
            <a:r>
              <a:rPr lang="en-US"/>
              <a:t> price – will go over in more detail in our next lecture</a:t>
            </a:r>
          </a:p>
          <a:p>
            <a:r>
              <a:rPr lang="en-US" b="1"/>
              <a:t>Citadel</a:t>
            </a:r>
            <a:endParaRPr lang="en-US"/>
          </a:p>
          <a:p>
            <a:pPr lvl="1"/>
            <a:r>
              <a:rPr lang="en-US" b="1"/>
              <a:t>#1 </a:t>
            </a:r>
            <a:r>
              <a:rPr lang="en-US"/>
              <a:t>in retail market making with ~35% of US listed retail volume through the platform</a:t>
            </a:r>
          </a:p>
          <a:p>
            <a:pPr lvl="1"/>
            <a:r>
              <a:rPr lang="en-US" b="1"/>
              <a:t>645 billion</a:t>
            </a:r>
            <a:r>
              <a:rPr lang="en-US"/>
              <a:t> in trades executed daily</a:t>
            </a:r>
          </a:p>
          <a:p>
            <a:pPr lvl="2"/>
            <a:r>
              <a:rPr lang="en-US"/>
              <a:t>Citadel might offer to buy a stock at $100.00 and they might sell it at $100.01</a:t>
            </a:r>
          </a:p>
          <a:p>
            <a:pPr lvl="3"/>
            <a:r>
              <a:rPr lang="en-US"/>
              <a:t>When you execute billions of trades a day, it adds up</a:t>
            </a:r>
          </a:p>
        </p:txBody>
      </p:sp>
      <p:pic>
        <p:nvPicPr>
          <p:cNvPr id="5" name="Picture 4">
            <a:extLst>
              <a:ext uri="{FF2B5EF4-FFF2-40B4-BE49-F238E27FC236}">
                <a16:creationId xmlns:a16="http://schemas.microsoft.com/office/drawing/2014/main" id="{82598A2D-6FBA-3CDE-848E-84670A34E85B}"/>
              </a:ext>
            </a:extLst>
          </p:cNvPr>
          <p:cNvPicPr>
            <a:picLocks noChangeAspect="1"/>
          </p:cNvPicPr>
          <p:nvPr/>
        </p:nvPicPr>
        <p:blipFill>
          <a:blip r:embed="rId2"/>
          <a:stretch>
            <a:fillRect/>
          </a:stretch>
        </p:blipFill>
        <p:spPr>
          <a:xfrm>
            <a:off x="8590548" y="442431"/>
            <a:ext cx="3292154" cy="1056019"/>
          </a:xfrm>
          <a:prstGeom prst="rect">
            <a:avLst/>
          </a:prstGeom>
        </p:spPr>
      </p:pic>
    </p:spTree>
    <p:extLst>
      <p:ext uri="{BB962C8B-B14F-4D97-AF65-F5344CB8AC3E}">
        <p14:creationId xmlns:p14="http://schemas.microsoft.com/office/powerpoint/2010/main" val="29733998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C9195-4D65-DB81-F377-5D04163040B8}"/>
              </a:ext>
            </a:extLst>
          </p:cNvPr>
          <p:cNvSpPr>
            <a:spLocks noGrp="1"/>
          </p:cNvSpPr>
          <p:nvPr>
            <p:ph type="title"/>
          </p:nvPr>
        </p:nvSpPr>
        <p:spPr/>
        <p:txBody>
          <a:bodyPr/>
          <a:lstStyle/>
          <a:p>
            <a:r>
              <a:rPr lang="en-US"/>
              <a:t>Brokers</a:t>
            </a:r>
          </a:p>
        </p:txBody>
      </p:sp>
      <p:sp>
        <p:nvSpPr>
          <p:cNvPr id="3" name="Text Placeholder 2">
            <a:extLst>
              <a:ext uri="{FF2B5EF4-FFF2-40B4-BE49-F238E27FC236}">
                <a16:creationId xmlns:a16="http://schemas.microsoft.com/office/drawing/2014/main" id="{6D7F2CF6-D347-F60E-1F09-CFFA3EB6A505}"/>
              </a:ext>
            </a:extLst>
          </p:cNvPr>
          <p:cNvSpPr>
            <a:spLocks noGrp="1"/>
          </p:cNvSpPr>
          <p:nvPr>
            <p:ph type="body" idx="1"/>
          </p:nvPr>
        </p:nvSpPr>
        <p:spPr/>
        <p:txBody>
          <a:bodyPr>
            <a:normAutofit/>
          </a:bodyPr>
          <a:lstStyle/>
          <a:p>
            <a:r>
              <a:rPr lang="en-US"/>
              <a:t>Brokers act as facilitators in a market</a:t>
            </a:r>
          </a:p>
          <a:p>
            <a:pPr lvl="1"/>
            <a:r>
              <a:rPr lang="en-US"/>
              <a:t>They bring together buyers and sellers for a transaction</a:t>
            </a:r>
          </a:p>
          <a:p>
            <a:r>
              <a:rPr lang="en-US"/>
              <a:t>Brokers typically act on commission from a sale of an asset</a:t>
            </a:r>
          </a:p>
          <a:p>
            <a:r>
              <a:rPr lang="en-US"/>
              <a:t>Brokers are required for clients because security exchanges require membership in the exchange to accept orders</a:t>
            </a:r>
          </a:p>
          <a:p>
            <a:pPr lvl="1"/>
            <a:r>
              <a:rPr lang="en-US"/>
              <a:t>A seat on an exchange last sold for 3.7 million</a:t>
            </a:r>
          </a:p>
          <a:p>
            <a:pPr lvl="2"/>
            <a:r>
              <a:rPr lang="en-US"/>
              <a:t>Seats have been absolved to now revolve around monthly membership fees at about $7,200 per year</a:t>
            </a:r>
          </a:p>
          <a:p>
            <a:r>
              <a:rPr lang="en-US"/>
              <a:t>Discount brokers are increasingly more popular</a:t>
            </a:r>
          </a:p>
          <a:p>
            <a:pPr lvl="1"/>
            <a:r>
              <a:rPr lang="en-US"/>
              <a:t>Discount brokers execute trades for clients while offering very low or no commission on many of their trade executions</a:t>
            </a:r>
          </a:p>
          <a:p>
            <a:pPr lvl="2"/>
            <a:r>
              <a:rPr lang="en-US"/>
              <a:t>Robin hood</a:t>
            </a:r>
          </a:p>
          <a:p>
            <a:pPr lvl="3"/>
            <a:r>
              <a:rPr lang="en-US" i="1"/>
              <a:t>Gives</a:t>
            </a:r>
            <a:r>
              <a:rPr lang="en-US"/>
              <a:t> the trade to citadel(who pays them)</a:t>
            </a:r>
          </a:p>
          <a:p>
            <a:r>
              <a:rPr lang="en-US"/>
              <a:t>How does this work in practice?</a:t>
            </a:r>
          </a:p>
          <a:p>
            <a:pPr lvl="1"/>
            <a:endParaRPr lang="en-US"/>
          </a:p>
        </p:txBody>
      </p:sp>
    </p:spTree>
    <p:extLst>
      <p:ext uri="{BB962C8B-B14F-4D97-AF65-F5344CB8AC3E}">
        <p14:creationId xmlns:p14="http://schemas.microsoft.com/office/powerpoint/2010/main" val="31841565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A336A-4D1E-7708-88E1-9C60E61529AE}"/>
              </a:ext>
            </a:extLst>
          </p:cNvPr>
          <p:cNvSpPr>
            <a:spLocks noGrp="1"/>
          </p:cNvSpPr>
          <p:nvPr>
            <p:ph type="title"/>
          </p:nvPr>
        </p:nvSpPr>
        <p:spPr/>
        <p:txBody>
          <a:bodyPr/>
          <a:lstStyle/>
          <a:p>
            <a:r>
              <a:rPr lang="en-US"/>
              <a:t>Dealers and Brokers</a:t>
            </a:r>
          </a:p>
        </p:txBody>
      </p:sp>
      <p:sp>
        <p:nvSpPr>
          <p:cNvPr id="3" name="Text Placeholder 2">
            <a:extLst>
              <a:ext uri="{FF2B5EF4-FFF2-40B4-BE49-F238E27FC236}">
                <a16:creationId xmlns:a16="http://schemas.microsoft.com/office/drawing/2014/main" id="{3EB84951-E002-EBE6-C27C-100E6B37F2D9}"/>
              </a:ext>
            </a:extLst>
          </p:cNvPr>
          <p:cNvSpPr>
            <a:spLocks noGrp="1"/>
          </p:cNvSpPr>
          <p:nvPr>
            <p:ph type="body" idx="1"/>
          </p:nvPr>
        </p:nvSpPr>
        <p:spPr/>
        <p:txBody>
          <a:bodyPr>
            <a:normAutofit/>
          </a:bodyPr>
          <a:lstStyle/>
          <a:p>
            <a:r>
              <a:rPr lang="en-US"/>
              <a:t>Steps and how each company makes money</a:t>
            </a:r>
          </a:p>
          <a:p>
            <a:pPr lvl="1"/>
            <a:r>
              <a:rPr lang="en-US"/>
              <a:t>1. I want to sell 1 share of a company for $50.00, this is the </a:t>
            </a:r>
            <a:r>
              <a:rPr lang="en-US" b="1"/>
              <a:t>bid price</a:t>
            </a:r>
            <a:endParaRPr lang="en-US"/>
          </a:p>
          <a:p>
            <a:pPr lvl="1"/>
            <a:r>
              <a:rPr lang="en-US"/>
              <a:t>2. I click sell !</a:t>
            </a:r>
          </a:p>
          <a:p>
            <a:pPr lvl="1"/>
            <a:r>
              <a:rPr lang="en-US"/>
              <a:t>3. Robinhood’s algorithm sees that Citadel Securities is offering the best deal right now, so we ping citadels servers</a:t>
            </a:r>
          </a:p>
          <a:p>
            <a:pPr lvl="1"/>
            <a:r>
              <a:rPr lang="en-US"/>
              <a:t>4. By law, Citadel must give you the "Best Execution." If the public exchange (NYSE) is buying at $50.00, Citadel might actually buy it from you for $50.01</a:t>
            </a:r>
          </a:p>
          <a:p>
            <a:pPr lvl="2"/>
            <a:r>
              <a:rPr lang="en-US"/>
              <a:t>Why? To keep Robinhood happy and keep the regulators off their back, they often give you a slightly better price than the "official" one. You just made an extra penny.</a:t>
            </a:r>
          </a:p>
          <a:p>
            <a:pPr lvl="1"/>
            <a:r>
              <a:rPr lang="en-US"/>
              <a:t>5. Citadel now owns your share for $50.01. They immediately (in microseconds) try to sell it to a buyer for </a:t>
            </a:r>
            <a:r>
              <a:rPr lang="en-US" b="1"/>
              <a:t>$50.02</a:t>
            </a:r>
            <a:r>
              <a:rPr lang="en-US"/>
              <a:t>.</a:t>
            </a:r>
          </a:p>
          <a:p>
            <a:pPr lvl="2"/>
            <a:r>
              <a:rPr lang="en-US"/>
              <a:t>They keep the </a:t>
            </a:r>
            <a:r>
              <a:rPr lang="en-US" b="1"/>
              <a:t>$0.01 spread</a:t>
            </a:r>
            <a:r>
              <a:rPr lang="en-US"/>
              <a:t> as their "fee" for taking the risk of holding that share.</a:t>
            </a:r>
          </a:p>
          <a:p>
            <a:pPr lvl="1"/>
            <a:r>
              <a:rPr lang="en-US"/>
              <a:t>6. Citadel then sends a tiny fraction of a cent (e.g., $0.001) back to Robinhood as a "thank you" for sending them that trade.</a:t>
            </a:r>
          </a:p>
          <a:p>
            <a:r>
              <a:rPr lang="en-US"/>
              <a:t>This happens for every trade, that’s every transaction, billions of times a day</a:t>
            </a:r>
          </a:p>
          <a:p>
            <a:pPr lvl="1"/>
            <a:endParaRPr lang="en-US"/>
          </a:p>
        </p:txBody>
      </p:sp>
    </p:spTree>
    <p:extLst>
      <p:ext uri="{BB962C8B-B14F-4D97-AF65-F5344CB8AC3E}">
        <p14:creationId xmlns:p14="http://schemas.microsoft.com/office/powerpoint/2010/main" val="285097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3C1AD-7BC4-8E67-FCA0-C6DB815C3AB3}"/>
              </a:ext>
            </a:extLst>
          </p:cNvPr>
          <p:cNvSpPr>
            <a:spLocks noGrp="1"/>
          </p:cNvSpPr>
          <p:nvPr>
            <p:ph type="title"/>
          </p:nvPr>
        </p:nvSpPr>
        <p:spPr/>
        <p:txBody>
          <a:bodyPr/>
          <a:lstStyle/>
          <a:p>
            <a:r>
              <a:rPr lang="en-US"/>
              <a:t>Financial Intermediaries</a:t>
            </a:r>
          </a:p>
        </p:txBody>
      </p:sp>
      <p:sp>
        <p:nvSpPr>
          <p:cNvPr id="3" name="Text Placeholder 2">
            <a:extLst>
              <a:ext uri="{FF2B5EF4-FFF2-40B4-BE49-F238E27FC236}">
                <a16:creationId xmlns:a16="http://schemas.microsoft.com/office/drawing/2014/main" id="{1AAB6A6B-4195-FF94-4CC3-BA1725A862D4}"/>
              </a:ext>
            </a:extLst>
          </p:cNvPr>
          <p:cNvSpPr>
            <a:spLocks noGrp="1"/>
          </p:cNvSpPr>
          <p:nvPr>
            <p:ph type="body" idx="1"/>
          </p:nvPr>
        </p:nvSpPr>
        <p:spPr/>
        <p:txBody>
          <a:bodyPr/>
          <a:lstStyle/>
          <a:p>
            <a:r>
              <a:rPr lang="en-US"/>
              <a:t>Commercial banks or mutual fund investment companies</a:t>
            </a:r>
          </a:p>
          <a:p>
            <a:pPr lvl="1"/>
            <a:r>
              <a:rPr lang="en-US"/>
              <a:t>Act as an intermediary to enable easier and more efficient exchanges among transacting parties</a:t>
            </a:r>
          </a:p>
          <a:p>
            <a:r>
              <a:rPr lang="en-US"/>
              <a:t>A commercial bank accepts deposits from savers and investors and creates loans for borrowers</a:t>
            </a:r>
          </a:p>
          <a:p>
            <a:r>
              <a:rPr lang="en-US"/>
              <a:t>An investment company pools funds from investors to inexpensively purchase and manage portfolios of stock and bonds</a:t>
            </a:r>
          </a:p>
          <a:p>
            <a:pPr lvl="1"/>
            <a:r>
              <a:rPr lang="en-US"/>
              <a:t>This is noticeably different from brokers and dealers selling their own portfolios</a:t>
            </a:r>
          </a:p>
          <a:p>
            <a:pPr lvl="1"/>
            <a:r>
              <a:rPr lang="en-US"/>
              <a:t>Financial intermediaries may accept money from investors and may create a completely different security all together</a:t>
            </a:r>
          </a:p>
          <a:p>
            <a:pPr lvl="2"/>
            <a:r>
              <a:rPr lang="en-US"/>
              <a:t>We will discuss mutual funds in greater depth next week</a:t>
            </a:r>
          </a:p>
          <a:p>
            <a:r>
              <a:rPr lang="en-US"/>
              <a:t>Large institutions can spread fixed costs (like technology, regulatory compliance, and staff salaries) over millions of customers, making services cheaper for everyone.</a:t>
            </a:r>
          </a:p>
        </p:txBody>
      </p:sp>
    </p:spTree>
    <p:extLst>
      <p:ext uri="{BB962C8B-B14F-4D97-AF65-F5344CB8AC3E}">
        <p14:creationId xmlns:p14="http://schemas.microsoft.com/office/powerpoint/2010/main" val="2888078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A6925-1174-5D36-E045-7CCF504D22A8}"/>
              </a:ext>
            </a:extLst>
          </p:cNvPr>
          <p:cNvSpPr>
            <a:spLocks noGrp="1"/>
          </p:cNvSpPr>
          <p:nvPr>
            <p:ph type="title"/>
          </p:nvPr>
        </p:nvSpPr>
        <p:spPr/>
        <p:txBody>
          <a:bodyPr/>
          <a:lstStyle/>
          <a:p>
            <a:r>
              <a:rPr lang="en-US"/>
              <a:t>Market Players, Managers, and you</a:t>
            </a:r>
          </a:p>
        </p:txBody>
      </p:sp>
      <p:sp>
        <p:nvSpPr>
          <p:cNvPr id="3" name="Text Placeholder 2">
            <a:extLst>
              <a:ext uri="{FF2B5EF4-FFF2-40B4-BE49-F238E27FC236}">
                <a16:creationId xmlns:a16="http://schemas.microsoft.com/office/drawing/2014/main" id="{7E008073-B803-496F-ECC0-C4B1FDA45070}"/>
              </a:ext>
            </a:extLst>
          </p:cNvPr>
          <p:cNvSpPr>
            <a:spLocks noGrp="1"/>
          </p:cNvSpPr>
          <p:nvPr>
            <p:ph type="body" idx="1"/>
          </p:nvPr>
        </p:nvSpPr>
        <p:spPr/>
        <p:txBody>
          <a:bodyPr/>
          <a:lstStyle/>
          <a:p>
            <a:r>
              <a:rPr lang="en-US"/>
              <a:t>Changes in the </a:t>
            </a:r>
            <a:r>
              <a:rPr lang="en-US" i="1"/>
              <a:t>environment</a:t>
            </a:r>
            <a:r>
              <a:rPr lang="en-US"/>
              <a:t> are felt by all players in a market</a:t>
            </a:r>
          </a:p>
          <a:p>
            <a:pPr lvl="1"/>
            <a:r>
              <a:rPr lang="en-US"/>
              <a:t>Brokers, Dealers, Financial Intermediaries, and retail investors</a:t>
            </a:r>
          </a:p>
          <a:p>
            <a:r>
              <a:rPr lang="en-US"/>
              <a:t>Throughout this semester we are going to try to </a:t>
            </a:r>
            <a:r>
              <a:rPr lang="en-US" b="1"/>
              <a:t>quantify</a:t>
            </a:r>
            <a:r>
              <a:rPr lang="en-US"/>
              <a:t> the </a:t>
            </a:r>
            <a:r>
              <a:rPr lang="en-US" i="1"/>
              <a:t>scale of change</a:t>
            </a:r>
            <a:endParaRPr lang="en-US"/>
          </a:p>
          <a:p>
            <a:pPr lvl="1"/>
            <a:r>
              <a:rPr lang="en-US"/>
              <a:t>How particular actions reverberate and branch out into the industry</a:t>
            </a:r>
          </a:p>
          <a:p>
            <a:pPr lvl="2"/>
            <a:r>
              <a:rPr lang="en-US"/>
              <a:t>inaction, rumor, sentiment</a:t>
            </a:r>
          </a:p>
          <a:p>
            <a:pPr lvl="1"/>
            <a:r>
              <a:rPr lang="en-US"/>
              <a:t>We are going to try to observe, identify, predict causality, and ultimately – trade</a:t>
            </a:r>
          </a:p>
          <a:p>
            <a:r>
              <a:rPr lang="en-US"/>
              <a:t>   When considering </a:t>
            </a:r>
            <a:r>
              <a:rPr lang="en-US" b="1"/>
              <a:t>what</a:t>
            </a:r>
            <a:r>
              <a:rPr lang="en-US"/>
              <a:t> can change in a market it’s important to understand the </a:t>
            </a:r>
            <a:r>
              <a:rPr lang="en-US" b="1"/>
              <a:t>economic foundations</a:t>
            </a:r>
            <a:r>
              <a:rPr lang="en-US"/>
              <a:t> that companies and retail investors focus on when trying to identify the correct risk/reward ratio</a:t>
            </a:r>
          </a:p>
          <a:p>
            <a:pPr lvl="1"/>
            <a:r>
              <a:rPr lang="en-US"/>
              <a:t>Understanding Risk takes two approaches</a:t>
            </a:r>
          </a:p>
          <a:p>
            <a:pPr lvl="2"/>
            <a:r>
              <a:rPr lang="en-US"/>
              <a:t>A wider approach of the entire environment</a:t>
            </a:r>
          </a:p>
          <a:p>
            <a:pPr lvl="2"/>
            <a:r>
              <a:rPr lang="en-US"/>
              <a:t>A more specific analysis of the individual security in the environment</a:t>
            </a:r>
          </a:p>
          <a:p>
            <a:r>
              <a:rPr lang="en-US"/>
              <a:t>This course </a:t>
            </a:r>
            <a:r>
              <a:rPr lang="en-US" b="1"/>
              <a:t>must</a:t>
            </a:r>
            <a:r>
              <a:rPr lang="en-US"/>
              <a:t> focus on both approaches</a:t>
            </a:r>
          </a:p>
          <a:p>
            <a:pPr lvl="1"/>
            <a:r>
              <a:rPr lang="en-US"/>
              <a:t>Let’s learn about them in a bit more detail</a:t>
            </a:r>
          </a:p>
          <a:p>
            <a:endParaRPr lang="en-US"/>
          </a:p>
        </p:txBody>
      </p:sp>
    </p:spTree>
    <p:extLst>
      <p:ext uri="{BB962C8B-B14F-4D97-AF65-F5344CB8AC3E}">
        <p14:creationId xmlns:p14="http://schemas.microsoft.com/office/powerpoint/2010/main" val="1744142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2439F-A7D2-BE5E-53B8-E072EEB38078}"/>
              </a:ext>
            </a:extLst>
          </p:cNvPr>
          <p:cNvSpPr>
            <a:spLocks noGrp="1"/>
          </p:cNvSpPr>
          <p:nvPr>
            <p:ph type="title"/>
          </p:nvPr>
        </p:nvSpPr>
        <p:spPr/>
        <p:txBody>
          <a:bodyPr/>
          <a:lstStyle/>
          <a:p>
            <a:r>
              <a:rPr lang="en-US"/>
              <a:t>From Finance to Systems</a:t>
            </a:r>
          </a:p>
        </p:txBody>
      </p:sp>
      <p:sp>
        <p:nvSpPr>
          <p:cNvPr id="3" name="Text Placeholder 2">
            <a:extLst>
              <a:ext uri="{FF2B5EF4-FFF2-40B4-BE49-F238E27FC236}">
                <a16:creationId xmlns:a16="http://schemas.microsoft.com/office/drawing/2014/main" id="{367C9F75-5675-AFE5-AAAD-C403037761B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856590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1D070-A433-E802-70EF-752BD3AE58DD}"/>
              </a:ext>
            </a:extLst>
          </p:cNvPr>
          <p:cNvSpPr>
            <a:spLocks noGrp="1"/>
          </p:cNvSpPr>
          <p:nvPr>
            <p:ph type="title"/>
          </p:nvPr>
        </p:nvSpPr>
        <p:spPr/>
        <p:txBody>
          <a:bodyPr/>
          <a:lstStyle/>
          <a:p>
            <a:r>
              <a:rPr lang="en-US"/>
              <a:t>From Finance to Systems</a:t>
            </a:r>
          </a:p>
        </p:txBody>
      </p:sp>
      <p:sp>
        <p:nvSpPr>
          <p:cNvPr id="3" name="Content Placeholder 2">
            <a:extLst>
              <a:ext uri="{FF2B5EF4-FFF2-40B4-BE49-F238E27FC236}">
                <a16:creationId xmlns:a16="http://schemas.microsoft.com/office/drawing/2014/main" id="{14E859DC-B6AC-EB81-8BC7-8193698C23D9}"/>
              </a:ext>
            </a:extLst>
          </p:cNvPr>
          <p:cNvSpPr>
            <a:spLocks noGrp="1"/>
          </p:cNvSpPr>
          <p:nvPr>
            <p:ph idx="1"/>
          </p:nvPr>
        </p:nvSpPr>
        <p:spPr/>
        <p:txBody>
          <a:bodyPr/>
          <a:lstStyle/>
          <a:p>
            <a:r>
              <a:rPr lang="en-US"/>
              <a:t>Moving from Static Balance sheets to dynamic data streams</a:t>
            </a:r>
          </a:p>
          <a:p>
            <a:r>
              <a:rPr lang="en-US"/>
              <a:t>Ticks as events</a:t>
            </a:r>
          </a:p>
        </p:txBody>
      </p:sp>
    </p:spTree>
    <p:extLst>
      <p:ext uri="{BB962C8B-B14F-4D97-AF65-F5344CB8AC3E}">
        <p14:creationId xmlns:p14="http://schemas.microsoft.com/office/powerpoint/2010/main" val="33652309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FF4C4-B8DF-8310-4CE4-95CCDE9CEEB3}"/>
              </a:ext>
            </a:extLst>
          </p:cNvPr>
          <p:cNvSpPr>
            <a:spLocks noGrp="1"/>
          </p:cNvSpPr>
          <p:nvPr>
            <p:ph type="title"/>
          </p:nvPr>
        </p:nvSpPr>
        <p:spPr/>
        <p:txBody>
          <a:bodyPr/>
          <a:lstStyle/>
          <a:p>
            <a:r>
              <a:rPr lang="en-US"/>
              <a:t>Tick Data</a:t>
            </a:r>
          </a:p>
        </p:txBody>
      </p:sp>
      <p:sp>
        <p:nvSpPr>
          <p:cNvPr id="3" name="Content Placeholder 2">
            <a:extLst>
              <a:ext uri="{FF2B5EF4-FFF2-40B4-BE49-F238E27FC236}">
                <a16:creationId xmlns:a16="http://schemas.microsoft.com/office/drawing/2014/main" id="{6978CCB4-0388-A52D-8132-9283E1A253A6}"/>
              </a:ext>
            </a:extLst>
          </p:cNvPr>
          <p:cNvSpPr>
            <a:spLocks noGrp="1"/>
          </p:cNvSpPr>
          <p:nvPr>
            <p:ph idx="1"/>
          </p:nvPr>
        </p:nvSpPr>
        <p:spPr/>
        <p:txBody>
          <a:bodyPr/>
          <a:lstStyle/>
          <a:p>
            <a:r>
              <a:rPr lang="en-US"/>
              <a:t>The following information is associated with a </a:t>
            </a:r>
            <a:r>
              <a:rPr lang="en-US" i="1"/>
              <a:t>trade</a:t>
            </a:r>
            <a:endParaRPr lang="en-US"/>
          </a:p>
          <a:p>
            <a:pPr lvl="1"/>
            <a:r>
              <a:rPr lang="en-US"/>
              <a:t>Stock or contract symbol, price, size(number of shares), Market Exchange(where the trade occurred) and a Timestamp</a:t>
            </a:r>
          </a:p>
          <a:p>
            <a:r>
              <a:rPr lang="en-US"/>
              <a:t>An individual trade is referred to as a </a:t>
            </a:r>
            <a:r>
              <a:rPr lang="en-US" b="1"/>
              <a:t>tick</a:t>
            </a:r>
          </a:p>
          <a:p>
            <a:r>
              <a:rPr lang="en-US"/>
              <a:t>Tick data is a stream of trades that may occur while the market is open</a:t>
            </a:r>
          </a:p>
          <a:p>
            <a:pPr lvl="1"/>
            <a:r>
              <a:rPr lang="en-US"/>
              <a:t>Ex: a series of trades for GE:</a:t>
            </a:r>
          </a:p>
          <a:p>
            <a:r>
              <a:rPr lang="en-US"/>
              <a:t>During any particular day, there may be thousands if not </a:t>
            </a:r>
            <a:r>
              <a:rPr lang="en-US" b="1"/>
              <a:t>millions</a:t>
            </a:r>
            <a:r>
              <a:rPr lang="en-US"/>
              <a:t> of trades for a particular financial symbol</a:t>
            </a:r>
          </a:p>
          <a:p>
            <a:endParaRPr lang="en-US"/>
          </a:p>
        </p:txBody>
      </p:sp>
      <p:pic>
        <p:nvPicPr>
          <p:cNvPr id="7" name="Picture 6" descr="A screenshot of a computer screen&#10;&#10;AI-generated content may be incorrect.">
            <a:extLst>
              <a:ext uri="{FF2B5EF4-FFF2-40B4-BE49-F238E27FC236}">
                <a16:creationId xmlns:a16="http://schemas.microsoft.com/office/drawing/2014/main" id="{FCE875F1-F962-4590-82D9-6D9B9C4FC51D}"/>
              </a:ext>
            </a:extLst>
          </p:cNvPr>
          <p:cNvPicPr>
            <a:picLocks noChangeAspect="1"/>
          </p:cNvPicPr>
          <p:nvPr/>
        </p:nvPicPr>
        <p:blipFill>
          <a:blip r:embed="rId2"/>
          <a:stretch>
            <a:fillRect/>
          </a:stretch>
        </p:blipFill>
        <p:spPr>
          <a:xfrm>
            <a:off x="9180095" y="0"/>
            <a:ext cx="2876713" cy="2273754"/>
          </a:xfrm>
          <a:prstGeom prst="rect">
            <a:avLst/>
          </a:prstGeom>
        </p:spPr>
      </p:pic>
    </p:spTree>
    <p:extLst>
      <p:ext uri="{BB962C8B-B14F-4D97-AF65-F5344CB8AC3E}">
        <p14:creationId xmlns:p14="http://schemas.microsoft.com/office/powerpoint/2010/main" val="596857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485D5-320E-B65E-6B10-536C035E95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715992-B729-248D-1AC4-AE314D3017A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808212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B00B3-E842-063F-C4CD-4DE493B6F73A}"/>
              </a:ext>
            </a:extLst>
          </p:cNvPr>
          <p:cNvSpPr>
            <a:spLocks noGrp="1"/>
          </p:cNvSpPr>
          <p:nvPr>
            <p:ph type="title"/>
          </p:nvPr>
        </p:nvSpPr>
        <p:spPr/>
        <p:txBody>
          <a:bodyPr/>
          <a:lstStyle/>
          <a:p>
            <a:r>
              <a:rPr lang="en-US"/>
              <a:t>Tick Data</a:t>
            </a:r>
          </a:p>
        </p:txBody>
      </p:sp>
      <p:sp>
        <p:nvSpPr>
          <p:cNvPr id="3" name="Content Placeholder 2">
            <a:extLst>
              <a:ext uri="{FF2B5EF4-FFF2-40B4-BE49-F238E27FC236}">
                <a16:creationId xmlns:a16="http://schemas.microsoft.com/office/drawing/2014/main" id="{B0BD9180-D56A-43F3-E8FC-7685D870E320}"/>
              </a:ext>
            </a:extLst>
          </p:cNvPr>
          <p:cNvSpPr>
            <a:spLocks noGrp="1"/>
          </p:cNvSpPr>
          <p:nvPr>
            <p:ph idx="1"/>
          </p:nvPr>
        </p:nvSpPr>
        <p:spPr/>
        <p:txBody>
          <a:bodyPr>
            <a:normAutofit fontScale="92500" lnSpcReduction="10000"/>
          </a:bodyPr>
          <a:lstStyle/>
          <a:p>
            <a:r>
              <a:rPr lang="en-US"/>
              <a:t>There is a trade at 8:14.59 AM at the price of 1266.50. The following tick data represents a set of trades from 8:15.01 to 8:20 AM:</a:t>
            </a:r>
          </a:p>
          <a:p>
            <a:endParaRPr lang="en-US"/>
          </a:p>
          <a:p>
            <a:endParaRPr lang="en-US"/>
          </a:p>
          <a:p>
            <a:endParaRPr lang="en-US"/>
          </a:p>
          <a:p>
            <a:endParaRPr lang="en-US"/>
          </a:p>
          <a:p>
            <a:r>
              <a:rPr lang="en-US"/>
              <a:t>The </a:t>
            </a:r>
            <a:r>
              <a:rPr lang="en-US" b="1"/>
              <a:t>Volume</a:t>
            </a:r>
            <a:r>
              <a:rPr lang="en-US"/>
              <a:t> refers to the total number units traded during this period. A unit may be a share of stock, a contract, an option, etc.</a:t>
            </a:r>
          </a:p>
          <a:p>
            <a:pPr lvl="1"/>
            <a:r>
              <a:rPr lang="en-US"/>
              <a:t>During the 5 minute period, 7+10+2+10+3+10 or 42 units were traded.</a:t>
            </a:r>
          </a:p>
          <a:p>
            <a:r>
              <a:rPr lang="en-US"/>
              <a:t>So during the 8:15.01 to 8:20 AM period the opening price was 1266.50, the highest traded price was 1267.50, the lowest traded price was 1266.25, and the last traded price was 1267.00. There were 42 units traded during this period.</a:t>
            </a:r>
          </a:p>
          <a:p>
            <a:pPr lvl="1"/>
            <a:endParaRPr lang="en-US"/>
          </a:p>
          <a:p>
            <a:endParaRPr lang="en-US"/>
          </a:p>
          <a:p>
            <a:endParaRPr lang="en-US"/>
          </a:p>
          <a:p>
            <a:pPr marL="0" indent="0">
              <a:buNone/>
            </a:pPr>
            <a:endParaRPr lang="en-US"/>
          </a:p>
          <a:p>
            <a:endParaRPr lang="en-US"/>
          </a:p>
        </p:txBody>
      </p:sp>
      <p:pic>
        <p:nvPicPr>
          <p:cNvPr id="5" name="Picture 4" descr="A diagram of a number&#10;&#10;AI-generated content may be incorrect.">
            <a:extLst>
              <a:ext uri="{FF2B5EF4-FFF2-40B4-BE49-F238E27FC236}">
                <a16:creationId xmlns:a16="http://schemas.microsoft.com/office/drawing/2014/main" id="{020CB53D-C415-ACC2-8458-C26F3FF0F4F2}"/>
              </a:ext>
            </a:extLst>
          </p:cNvPr>
          <p:cNvPicPr>
            <a:picLocks noChangeAspect="1"/>
          </p:cNvPicPr>
          <p:nvPr/>
        </p:nvPicPr>
        <p:blipFill>
          <a:blip r:embed="rId3"/>
          <a:stretch>
            <a:fillRect/>
          </a:stretch>
        </p:blipFill>
        <p:spPr>
          <a:xfrm>
            <a:off x="5370132" y="2108892"/>
            <a:ext cx="6649378" cy="2038635"/>
          </a:xfrm>
          <a:prstGeom prst="rect">
            <a:avLst/>
          </a:prstGeom>
        </p:spPr>
      </p:pic>
      <p:pic>
        <p:nvPicPr>
          <p:cNvPr id="7" name="Picture 6">
            <a:extLst>
              <a:ext uri="{FF2B5EF4-FFF2-40B4-BE49-F238E27FC236}">
                <a16:creationId xmlns:a16="http://schemas.microsoft.com/office/drawing/2014/main" id="{C484D7FF-73EA-BDA0-E89B-B4A51D36D7CF}"/>
              </a:ext>
            </a:extLst>
          </p:cNvPr>
          <p:cNvPicPr>
            <a:picLocks noChangeAspect="1"/>
          </p:cNvPicPr>
          <p:nvPr/>
        </p:nvPicPr>
        <p:blipFill>
          <a:blip r:embed="rId4"/>
          <a:stretch>
            <a:fillRect/>
          </a:stretch>
        </p:blipFill>
        <p:spPr>
          <a:xfrm>
            <a:off x="6636398" y="5758362"/>
            <a:ext cx="4458322" cy="438211"/>
          </a:xfrm>
          <a:prstGeom prst="rect">
            <a:avLst/>
          </a:prstGeom>
        </p:spPr>
      </p:pic>
    </p:spTree>
    <p:extLst>
      <p:ext uri="{BB962C8B-B14F-4D97-AF65-F5344CB8AC3E}">
        <p14:creationId xmlns:p14="http://schemas.microsoft.com/office/powerpoint/2010/main" val="3571193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C1591-1757-782A-D990-D2B3B6F8C715}"/>
              </a:ext>
            </a:extLst>
          </p:cNvPr>
          <p:cNvSpPr>
            <a:spLocks noGrp="1"/>
          </p:cNvSpPr>
          <p:nvPr>
            <p:ph type="title"/>
          </p:nvPr>
        </p:nvSpPr>
        <p:spPr/>
        <p:txBody>
          <a:bodyPr/>
          <a:lstStyle/>
          <a:p>
            <a:r>
              <a:rPr lang="en-US"/>
              <a:t>The Anatomy of a Market Event</a:t>
            </a:r>
          </a:p>
        </p:txBody>
      </p:sp>
      <p:sp>
        <p:nvSpPr>
          <p:cNvPr id="3" name="Content Placeholder 2">
            <a:extLst>
              <a:ext uri="{FF2B5EF4-FFF2-40B4-BE49-F238E27FC236}">
                <a16:creationId xmlns:a16="http://schemas.microsoft.com/office/drawing/2014/main" id="{74275DB3-BC2A-B195-5255-E6901B8B7042}"/>
              </a:ext>
            </a:extLst>
          </p:cNvPr>
          <p:cNvSpPr>
            <a:spLocks noGrp="1"/>
          </p:cNvSpPr>
          <p:nvPr>
            <p:ph idx="1"/>
          </p:nvPr>
        </p:nvSpPr>
        <p:spPr/>
        <p:txBody>
          <a:bodyPr>
            <a:normAutofit fontScale="70000" lnSpcReduction="20000"/>
          </a:bodyPr>
          <a:lstStyle/>
          <a:p>
            <a:r>
              <a:rPr lang="en-US"/>
              <a:t>We look at prices on google for a particular stock and often, we read a lie</a:t>
            </a:r>
          </a:p>
          <a:p>
            <a:pPr lvl="1"/>
            <a:r>
              <a:rPr lang="en-US"/>
              <a:t>We see that NVDA is trading at $150.00</a:t>
            </a:r>
          </a:p>
          <a:p>
            <a:r>
              <a:rPr lang="en-US"/>
              <a:t>The truth is, this is a gravestone</a:t>
            </a:r>
          </a:p>
          <a:p>
            <a:pPr lvl="1"/>
            <a:r>
              <a:rPr lang="en-US"/>
              <a:t>It marks where it </a:t>
            </a:r>
            <a:r>
              <a:rPr lang="en-US" b="1"/>
              <a:t>last</a:t>
            </a:r>
            <a:r>
              <a:rPr lang="en-US"/>
              <a:t> traded</a:t>
            </a:r>
          </a:p>
          <a:p>
            <a:pPr lvl="1"/>
            <a:r>
              <a:rPr lang="en-US"/>
              <a:t>This is no guarantee of future trade price</a:t>
            </a:r>
          </a:p>
          <a:p>
            <a:r>
              <a:rPr lang="en-US"/>
              <a:t>Who</a:t>
            </a:r>
          </a:p>
          <a:p>
            <a:pPr lvl="1"/>
            <a:r>
              <a:rPr lang="en-US"/>
              <a:t>Buyer/seller</a:t>
            </a:r>
          </a:p>
          <a:p>
            <a:r>
              <a:rPr lang="en-US"/>
              <a:t>What</a:t>
            </a:r>
          </a:p>
          <a:p>
            <a:pPr lvl="1"/>
            <a:r>
              <a:rPr lang="en-US"/>
              <a:t>Agreement on price, disagreement on value</a:t>
            </a:r>
          </a:p>
          <a:p>
            <a:r>
              <a:rPr lang="en-US"/>
              <a:t>Where</a:t>
            </a:r>
          </a:p>
          <a:p>
            <a:pPr lvl="1"/>
            <a:r>
              <a:rPr lang="en-US"/>
              <a:t>Some exchange </a:t>
            </a:r>
          </a:p>
          <a:p>
            <a:r>
              <a:rPr lang="en-US"/>
              <a:t>When</a:t>
            </a:r>
          </a:p>
          <a:p>
            <a:pPr lvl="1"/>
            <a:r>
              <a:rPr lang="en-US"/>
              <a:t>Microsecond timestamp</a:t>
            </a:r>
          </a:p>
          <a:p>
            <a:r>
              <a:rPr lang="en-US"/>
              <a:t>Why?</a:t>
            </a:r>
          </a:p>
          <a:p>
            <a:pPr lvl="1"/>
            <a:r>
              <a:rPr lang="en-US"/>
              <a:t>Unknown, but we can infer: momentum? News? Fat finger? Algorithm?</a:t>
            </a:r>
          </a:p>
        </p:txBody>
      </p:sp>
    </p:spTree>
    <p:extLst>
      <p:ext uri="{BB962C8B-B14F-4D97-AF65-F5344CB8AC3E}">
        <p14:creationId xmlns:p14="http://schemas.microsoft.com/office/powerpoint/2010/main" val="12831311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4760E-8CAF-0708-F541-A656EC3B416E}"/>
              </a:ext>
            </a:extLst>
          </p:cNvPr>
          <p:cNvSpPr>
            <a:spLocks noGrp="1"/>
          </p:cNvSpPr>
          <p:nvPr>
            <p:ph type="title"/>
          </p:nvPr>
        </p:nvSpPr>
        <p:spPr/>
        <p:txBody>
          <a:bodyPr/>
          <a:lstStyle/>
          <a:p>
            <a:r>
              <a:rPr lang="en-US"/>
              <a:t>AI Orchestration frameworks</a:t>
            </a:r>
          </a:p>
        </p:txBody>
      </p:sp>
    </p:spTree>
    <p:extLst>
      <p:ext uri="{BB962C8B-B14F-4D97-AF65-F5344CB8AC3E}">
        <p14:creationId xmlns:p14="http://schemas.microsoft.com/office/powerpoint/2010/main" val="17669366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EF397-FC85-F68C-7981-76CDC3739D59}"/>
              </a:ext>
            </a:extLst>
          </p:cNvPr>
          <p:cNvSpPr>
            <a:spLocks noGrp="1"/>
          </p:cNvSpPr>
          <p:nvPr>
            <p:ph type="title"/>
          </p:nvPr>
        </p:nvSpPr>
        <p:spPr/>
        <p:txBody>
          <a:bodyPr/>
          <a:lstStyle/>
          <a:p>
            <a:r>
              <a:rPr lang="en-US"/>
              <a:t>AI Orchestration Frameworks</a:t>
            </a:r>
          </a:p>
        </p:txBody>
      </p:sp>
      <p:sp>
        <p:nvSpPr>
          <p:cNvPr id="3" name="Text Placeholder 2">
            <a:extLst>
              <a:ext uri="{FF2B5EF4-FFF2-40B4-BE49-F238E27FC236}">
                <a16:creationId xmlns:a16="http://schemas.microsoft.com/office/drawing/2014/main" id="{AC18792F-91A2-66B7-B544-01BF11FCF520}"/>
              </a:ext>
            </a:extLst>
          </p:cNvPr>
          <p:cNvSpPr>
            <a:spLocks noGrp="1"/>
          </p:cNvSpPr>
          <p:nvPr>
            <p:ph type="body" idx="1"/>
          </p:nvPr>
        </p:nvSpPr>
        <p:spPr/>
        <p:txBody>
          <a:bodyPr/>
          <a:lstStyle/>
          <a:p>
            <a:r>
              <a:rPr lang="en-US"/>
              <a:t>Imagine you are running a tournament</a:t>
            </a:r>
          </a:p>
          <a:p>
            <a:pPr lvl="1"/>
            <a:r>
              <a:rPr lang="en-US"/>
              <a:t>You need a system that keeps track of all of the players, the rules, the tools people use, </a:t>
            </a:r>
            <a:r>
              <a:rPr lang="en-US" err="1"/>
              <a:t>etc</a:t>
            </a:r>
            <a:endParaRPr lang="en-US"/>
          </a:p>
          <a:p>
            <a:r>
              <a:rPr lang="en-US"/>
              <a:t>An orchestration framework is like your tournament organizer</a:t>
            </a:r>
          </a:p>
          <a:p>
            <a:pPr lvl="1"/>
            <a:r>
              <a:rPr lang="en-US"/>
              <a:t>It makes sure every agent knows their job and communicates with others then things change</a:t>
            </a:r>
          </a:p>
          <a:p>
            <a:r>
              <a:rPr lang="en-US"/>
              <a:t>Why does this matter?</a:t>
            </a:r>
          </a:p>
          <a:p>
            <a:pPr lvl="1"/>
            <a:r>
              <a:rPr lang="en-US"/>
              <a:t>Without orchestration</a:t>
            </a:r>
          </a:p>
          <a:p>
            <a:pPr lvl="2"/>
            <a:r>
              <a:rPr lang="en-US"/>
              <a:t>Agents might duplicate work</a:t>
            </a:r>
          </a:p>
          <a:p>
            <a:pPr lvl="2"/>
            <a:r>
              <a:rPr lang="en-US"/>
              <a:t>Miss important steps</a:t>
            </a:r>
          </a:p>
          <a:p>
            <a:pPr lvl="2"/>
            <a:r>
              <a:rPr lang="en-US"/>
              <a:t>Work against each other</a:t>
            </a:r>
          </a:p>
          <a:p>
            <a:r>
              <a:rPr lang="en-US"/>
              <a:t>The framework connects agents to the right data, tools, and APIs</a:t>
            </a:r>
          </a:p>
          <a:p>
            <a:pPr lvl="1"/>
            <a:r>
              <a:rPr lang="en-US"/>
              <a:t>Helps agents remember that happened before</a:t>
            </a:r>
          </a:p>
          <a:p>
            <a:pPr lvl="1"/>
            <a:r>
              <a:rPr lang="en-US"/>
              <a:t>Learn from past mistakes</a:t>
            </a:r>
          </a:p>
          <a:p>
            <a:pPr lvl="1"/>
            <a:endParaRPr lang="en-US"/>
          </a:p>
        </p:txBody>
      </p:sp>
    </p:spTree>
    <p:extLst>
      <p:ext uri="{BB962C8B-B14F-4D97-AF65-F5344CB8AC3E}">
        <p14:creationId xmlns:p14="http://schemas.microsoft.com/office/powerpoint/2010/main" val="16067140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EBA2B-FC83-8D86-3823-3B09E5335CC6}"/>
              </a:ext>
            </a:extLst>
          </p:cNvPr>
          <p:cNvSpPr>
            <a:spLocks noGrp="1"/>
          </p:cNvSpPr>
          <p:nvPr>
            <p:ph type="title"/>
          </p:nvPr>
        </p:nvSpPr>
        <p:spPr/>
        <p:txBody>
          <a:bodyPr/>
          <a:lstStyle/>
          <a:p>
            <a:r>
              <a:rPr lang="en-US"/>
              <a:t>N8N</a:t>
            </a:r>
          </a:p>
        </p:txBody>
      </p:sp>
      <p:sp>
        <p:nvSpPr>
          <p:cNvPr id="3" name="Text Placeholder 2">
            <a:extLst>
              <a:ext uri="{FF2B5EF4-FFF2-40B4-BE49-F238E27FC236}">
                <a16:creationId xmlns:a16="http://schemas.microsoft.com/office/drawing/2014/main" id="{93456996-F9B1-8402-ED53-DF271708D25F}"/>
              </a:ext>
            </a:extLst>
          </p:cNvPr>
          <p:cNvSpPr>
            <a:spLocks noGrp="1"/>
          </p:cNvSpPr>
          <p:nvPr>
            <p:ph type="body" idx="1"/>
          </p:nvPr>
        </p:nvSpPr>
        <p:spPr/>
        <p:txBody>
          <a:bodyPr>
            <a:normAutofit/>
          </a:bodyPr>
          <a:lstStyle/>
          <a:p>
            <a:r>
              <a:rPr lang="en-US"/>
              <a:t>N8N is an AI Orchestration framework that enables multiple different workflow creations</a:t>
            </a:r>
          </a:p>
          <a:p>
            <a:pPr lvl="1"/>
            <a:r>
              <a:rPr lang="en-US"/>
              <a:t>Why do I like it?</a:t>
            </a:r>
          </a:p>
          <a:p>
            <a:pPr lvl="2"/>
            <a:r>
              <a:rPr lang="en-US"/>
              <a:t>It’s free</a:t>
            </a:r>
          </a:p>
          <a:p>
            <a:pPr lvl="3"/>
            <a:r>
              <a:rPr lang="en-US"/>
              <a:t>We can locally host it</a:t>
            </a:r>
          </a:p>
          <a:p>
            <a:pPr lvl="3"/>
            <a:r>
              <a:rPr lang="en-US"/>
              <a:t>We can also use the education discount</a:t>
            </a:r>
          </a:p>
          <a:p>
            <a:pPr lvl="1"/>
            <a:r>
              <a:rPr lang="en-US"/>
              <a:t>Unlike other solutions, it allows us to build multiple agents together</a:t>
            </a:r>
          </a:p>
          <a:p>
            <a:r>
              <a:rPr lang="en-US"/>
              <a:t>N8N allows us to build</a:t>
            </a:r>
          </a:p>
          <a:p>
            <a:pPr lvl="1"/>
            <a:r>
              <a:rPr lang="en-US"/>
              <a:t>Work flows</a:t>
            </a:r>
          </a:p>
          <a:p>
            <a:pPr lvl="1"/>
            <a:r>
              <a:rPr lang="en-US"/>
              <a:t>Chat flows</a:t>
            </a:r>
          </a:p>
          <a:p>
            <a:pPr lvl="1"/>
            <a:r>
              <a:rPr lang="en-US"/>
              <a:t>Chatbots</a:t>
            </a:r>
          </a:p>
          <a:p>
            <a:pPr lvl="1"/>
            <a:r>
              <a:rPr lang="en-US"/>
              <a:t>Agents</a:t>
            </a:r>
          </a:p>
          <a:p>
            <a:pPr lvl="1"/>
            <a:r>
              <a:rPr lang="en-US"/>
              <a:t>Text generators</a:t>
            </a:r>
          </a:p>
          <a:p>
            <a:r>
              <a:rPr lang="en-US"/>
              <a:t>Let’s see what this looks like</a:t>
            </a:r>
          </a:p>
          <a:p>
            <a:pPr lvl="1"/>
            <a:r>
              <a:rPr lang="en-US"/>
              <a:t>Let’s setup our accounts</a:t>
            </a:r>
          </a:p>
        </p:txBody>
      </p:sp>
    </p:spTree>
    <p:extLst>
      <p:ext uri="{BB962C8B-B14F-4D97-AF65-F5344CB8AC3E}">
        <p14:creationId xmlns:p14="http://schemas.microsoft.com/office/powerpoint/2010/main" val="36096801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DE44D-5AFF-E2E0-90F5-A575E41AEFAD}"/>
              </a:ext>
            </a:extLst>
          </p:cNvPr>
          <p:cNvSpPr>
            <a:spLocks noGrp="1"/>
          </p:cNvSpPr>
          <p:nvPr>
            <p:ph type="title"/>
          </p:nvPr>
        </p:nvSpPr>
        <p:spPr/>
        <p:txBody>
          <a:bodyPr/>
          <a:lstStyle/>
          <a:p>
            <a:r>
              <a:rPr lang="en-US"/>
              <a:t>Setting up N8N: Part 1</a:t>
            </a:r>
          </a:p>
        </p:txBody>
      </p:sp>
      <p:sp>
        <p:nvSpPr>
          <p:cNvPr id="3" name="Text Placeholder 2">
            <a:extLst>
              <a:ext uri="{FF2B5EF4-FFF2-40B4-BE49-F238E27FC236}">
                <a16:creationId xmlns:a16="http://schemas.microsoft.com/office/drawing/2014/main" id="{1537E1F7-CE5E-C714-F4BA-8DFF778CAA07}"/>
              </a:ext>
            </a:extLst>
          </p:cNvPr>
          <p:cNvSpPr>
            <a:spLocks noGrp="1"/>
          </p:cNvSpPr>
          <p:nvPr>
            <p:ph type="body" idx="1"/>
          </p:nvPr>
        </p:nvSpPr>
        <p:spPr/>
        <p:txBody>
          <a:bodyPr/>
          <a:lstStyle/>
          <a:p>
            <a:r>
              <a:rPr lang="en-US"/>
              <a:t>Setting up a Google Cloud Compute profile</a:t>
            </a:r>
          </a:p>
          <a:p>
            <a:pPr lvl="1"/>
            <a:r>
              <a:rPr lang="en-US"/>
              <a:t>We need to create a Virtual Machine that we can use to </a:t>
            </a:r>
            <a:r>
              <a:rPr lang="en-US" i="1"/>
              <a:t>host</a:t>
            </a:r>
            <a:r>
              <a:rPr lang="en-US"/>
              <a:t> our N8N server</a:t>
            </a:r>
          </a:p>
          <a:p>
            <a:r>
              <a:rPr lang="en-US">
                <a:hlinkClick r:id="rId2"/>
              </a:rPr>
              <a:t>1. Click here</a:t>
            </a:r>
            <a:endParaRPr lang="en-US"/>
          </a:p>
          <a:p>
            <a:r>
              <a:rPr lang="en-US"/>
              <a:t>2. Set up a billing account</a:t>
            </a:r>
          </a:p>
          <a:p>
            <a:pPr lvl="1"/>
            <a:r>
              <a:rPr lang="en-US"/>
              <a:t>The first step is to create a billing account. Google requires this in the case we go over the </a:t>
            </a:r>
            <a:r>
              <a:rPr lang="en-US" i="1"/>
              <a:t>free tier</a:t>
            </a:r>
            <a:r>
              <a:rPr lang="en-US"/>
              <a:t> threshold, but fear not, we will take steps to avoid charges.</a:t>
            </a:r>
          </a:p>
          <a:p>
            <a:pPr lvl="1"/>
            <a:r>
              <a:rPr lang="en-US"/>
              <a:t>To do this, there is a pane on the left labeled Billing, we simply click on </a:t>
            </a:r>
            <a:r>
              <a:rPr lang="en-US" b="1"/>
              <a:t>add billing account</a:t>
            </a:r>
          </a:p>
          <a:p>
            <a:r>
              <a:rPr lang="en-US"/>
              <a:t>Select your billing account which will navigate you to a budget overview pane, you can then select budgets and alerts, then create budget following the steps to set up a $1 budget alert</a:t>
            </a:r>
          </a:p>
          <a:p>
            <a:pPr marL="152396" indent="0">
              <a:buNone/>
            </a:pPr>
            <a:br>
              <a:rPr lang="en-US"/>
            </a:br>
            <a:endParaRPr lang="en-US" b="1"/>
          </a:p>
        </p:txBody>
      </p:sp>
      <p:pic>
        <p:nvPicPr>
          <p:cNvPr id="5" name="Picture 4">
            <a:extLst>
              <a:ext uri="{FF2B5EF4-FFF2-40B4-BE49-F238E27FC236}">
                <a16:creationId xmlns:a16="http://schemas.microsoft.com/office/drawing/2014/main" id="{92B38706-43CA-CEA8-1BE5-C9EAF6E957BC}"/>
              </a:ext>
            </a:extLst>
          </p:cNvPr>
          <p:cNvPicPr>
            <a:picLocks noChangeAspect="1"/>
          </p:cNvPicPr>
          <p:nvPr/>
        </p:nvPicPr>
        <p:blipFill>
          <a:blip r:embed="rId3"/>
          <a:stretch>
            <a:fillRect/>
          </a:stretch>
        </p:blipFill>
        <p:spPr>
          <a:xfrm>
            <a:off x="8392975" y="-104459"/>
            <a:ext cx="3591225" cy="1412941"/>
          </a:xfrm>
          <a:prstGeom prst="rect">
            <a:avLst/>
          </a:prstGeom>
        </p:spPr>
      </p:pic>
      <p:pic>
        <p:nvPicPr>
          <p:cNvPr id="7" name="Picture 6">
            <a:extLst>
              <a:ext uri="{FF2B5EF4-FFF2-40B4-BE49-F238E27FC236}">
                <a16:creationId xmlns:a16="http://schemas.microsoft.com/office/drawing/2014/main" id="{9C63F95E-A427-89E9-90AD-8CE7434A710F}"/>
              </a:ext>
            </a:extLst>
          </p:cNvPr>
          <p:cNvPicPr>
            <a:picLocks noChangeAspect="1"/>
          </p:cNvPicPr>
          <p:nvPr/>
        </p:nvPicPr>
        <p:blipFill>
          <a:blip r:embed="rId4"/>
          <a:stretch>
            <a:fillRect/>
          </a:stretch>
        </p:blipFill>
        <p:spPr>
          <a:xfrm>
            <a:off x="6537650" y="5065633"/>
            <a:ext cx="5238750" cy="1435274"/>
          </a:xfrm>
          <a:prstGeom prst="rect">
            <a:avLst/>
          </a:prstGeom>
        </p:spPr>
      </p:pic>
      <p:pic>
        <p:nvPicPr>
          <p:cNvPr id="9" name="Picture 8">
            <a:extLst>
              <a:ext uri="{FF2B5EF4-FFF2-40B4-BE49-F238E27FC236}">
                <a16:creationId xmlns:a16="http://schemas.microsoft.com/office/drawing/2014/main" id="{D4B167B9-A73D-1FDF-77FD-1654E4B4FCBB}"/>
              </a:ext>
            </a:extLst>
          </p:cNvPr>
          <p:cNvPicPr>
            <a:picLocks noChangeAspect="1"/>
          </p:cNvPicPr>
          <p:nvPr/>
        </p:nvPicPr>
        <p:blipFill>
          <a:blip r:embed="rId5"/>
          <a:stretch>
            <a:fillRect/>
          </a:stretch>
        </p:blipFill>
        <p:spPr>
          <a:xfrm>
            <a:off x="415600" y="4609182"/>
            <a:ext cx="5438274" cy="1891725"/>
          </a:xfrm>
          <a:prstGeom prst="rect">
            <a:avLst/>
          </a:prstGeom>
        </p:spPr>
      </p:pic>
    </p:spTree>
    <p:extLst>
      <p:ext uri="{BB962C8B-B14F-4D97-AF65-F5344CB8AC3E}">
        <p14:creationId xmlns:p14="http://schemas.microsoft.com/office/powerpoint/2010/main" val="21578361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8872-9FD2-6475-A83C-9A438832F6E2}"/>
              </a:ext>
            </a:extLst>
          </p:cNvPr>
          <p:cNvSpPr>
            <a:spLocks noGrp="1"/>
          </p:cNvSpPr>
          <p:nvPr>
            <p:ph type="title"/>
          </p:nvPr>
        </p:nvSpPr>
        <p:spPr/>
        <p:txBody>
          <a:bodyPr/>
          <a:lstStyle/>
          <a:p>
            <a:r>
              <a:rPr lang="en-US"/>
              <a:t>Setting up N8N part 2</a:t>
            </a:r>
          </a:p>
        </p:txBody>
      </p:sp>
      <p:sp>
        <p:nvSpPr>
          <p:cNvPr id="3" name="Text Placeholder 2">
            <a:extLst>
              <a:ext uri="{FF2B5EF4-FFF2-40B4-BE49-F238E27FC236}">
                <a16:creationId xmlns:a16="http://schemas.microsoft.com/office/drawing/2014/main" id="{A3C93B64-9140-ADD9-0C0F-959068BFC666}"/>
              </a:ext>
            </a:extLst>
          </p:cNvPr>
          <p:cNvSpPr>
            <a:spLocks noGrp="1"/>
          </p:cNvSpPr>
          <p:nvPr>
            <p:ph type="body" idx="1"/>
          </p:nvPr>
        </p:nvSpPr>
        <p:spPr/>
        <p:txBody>
          <a:bodyPr/>
          <a:lstStyle/>
          <a:p>
            <a:r>
              <a:rPr lang="en-US" b="1"/>
              <a:t>Setting up a GC Virtual Machine</a:t>
            </a:r>
          </a:p>
          <a:p>
            <a:r>
              <a:rPr lang="en-US"/>
              <a:t>To remain in the free tier, google gives us exact specifications on what constitutes a free VM. </a:t>
            </a:r>
            <a:r>
              <a:rPr lang="en-US" b="1"/>
              <a:t>please</a:t>
            </a:r>
            <a:r>
              <a:rPr lang="en-US"/>
              <a:t> review the </a:t>
            </a:r>
            <a:r>
              <a:rPr lang="en-US">
                <a:hlinkClick r:id="rId3"/>
              </a:rPr>
              <a:t>requirements</a:t>
            </a:r>
            <a:r>
              <a:rPr lang="en-US"/>
              <a:t> before preceding.</a:t>
            </a:r>
          </a:p>
          <a:p>
            <a:endParaRPr lang="en-US"/>
          </a:p>
          <a:p>
            <a:r>
              <a:rPr lang="en-US"/>
              <a:t>Select the navigation view located on the top left, select </a:t>
            </a:r>
            <a:r>
              <a:rPr lang="en-US" b="1"/>
              <a:t>Compute Engine</a:t>
            </a:r>
            <a:r>
              <a:rPr lang="en-US"/>
              <a:t>. Then simply click </a:t>
            </a:r>
            <a:r>
              <a:rPr lang="en-US" b="1"/>
              <a:t>enable</a:t>
            </a:r>
          </a:p>
        </p:txBody>
      </p:sp>
      <p:pic>
        <p:nvPicPr>
          <p:cNvPr id="5" name="Picture 4">
            <a:extLst>
              <a:ext uri="{FF2B5EF4-FFF2-40B4-BE49-F238E27FC236}">
                <a16:creationId xmlns:a16="http://schemas.microsoft.com/office/drawing/2014/main" id="{AAD92940-C5C1-4A5F-D552-210731ABD63A}"/>
              </a:ext>
            </a:extLst>
          </p:cNvPr>
          <p:cNvPicPr>
            <a:picLocks noChangeAspect="1"/>
          </p:cNvPicPr>
          <p:nvPr/>
        </p:nvPicPr>
        <p:blipFill>
          <a:blip r:embed="rId4"/>
          <a:stretch>
            <a:fillRect/>
          </a:stretch>
        </p:blipFill>
        <p:spPr>
          <a:xfrm>
            <a:off x="8386010" y="241150"/>
            <a:ext cx="3805989" cy="1813684"/>
          </a:xfrm>
          <a:prstGeom prst="rect">
            <a:avLst/>
          </a:prstGeom>
        </p:spPr>
      </p:pic>
      <p:pic>
        <p:nvPicPr>
          <p:cNvPr id="7" name="Picture 6">
            <a:extLst>
              <a:ext uri="{FF2B5EF4-FFF2-40B4-BE49-F238E27FC236}">
                <a16:creationId xmlns:a16="http://schemas.microsoft.com/office/drawing/2014/main" id="{3309BB35-8475-F788-3E93-DED841F3C297}"/>
              </a:ext>
            </a:extLst>
          </p:cNvPr>
          <p:cNvPicPr>
            <a:picLocks noChangeAspect="1"/>
          </p:cNvPicPr>
          <p:nvPr/>
        </p:nvPicPr>
        <p:blipFill>
          <a:blip r:embed="rId5"/>
          <a:stretch>
            <a:fillRect/>
          </a:stretch>
        </p:blipFill>
        <p:spPr>
          <a:xfrm>
            <a:off x="281865" y="3429000"/>
            <a:ext cx="1508843" cy="2846470"/>
          </a:xfrm>
          <a:prstGeom prst="rect">
            <a:avLst/>
          </a:prstGeom>
        </p:spPr>
      </p:pic>
      <p:pic>
        <p:nvPicPr>
          <p:cNvPr id="9" name="Picture 8">
            <a:extLst>
              <a:ext uri="{FF2B5EF4-FFF2-40B4-BE49-F238E27FC236}">
                <a16:creationId xmlns:a16="http://schemas.microsoft.com/office/drawing/2014/main" id="{F264DBC1-BC56-91CC-32B3-06624243844D}"/>
              </a:ext>
            </a:extLst>
          </p:cNvPr>
          <p:cNvPicPr>
            <a:picLocks noChangeAspect="1"/>
          </p:cNvPicPr>
          <p:nvPr/>
        </p:nvPicPr>
        <p:blipFill>
          <a:blip r:embed="rId6"/>
          <a:stretch>
            <a:fillRect/>
          </a:stretch>
        </p:blipFill>
        <p:spPr>
          <a:xfrm>
            <a:off x="2626643" y="3699710"/>
            <a:ext cx="4676775" cy="2305050"/>
          </a:xfrm>
          <a:prstGeom prst="rect">
            <a:avLst/>
          </a:prstGeom>
        </p:spPr>
      </p:pic>
    </p:spTree>
    <p:extLst>
      <p:ext uri="{BB962C8B-B14F-4D97-AF65-F5344CB8AC3E}">
        <p14:creationId xmlns:p14="http://schemas.microsoft.com/office/powerpoint/2010/main" val="42889355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C3591-A0CD-2E1F-6062-A5C53FDA850D}"/>
              </a:ext>
            </a:extLst>
          </p:cNvPr>
          <p:cNvSpPr>
            <a:spLocks noGrp="1"/>
          </p:cNvSpPr>
          <p:nvPr>
            <p:ph type="title"/>
          </p:nvPr>
        </p:nvSpPr>
        <p:spPr/>
        <p:txBody>
          <a:bodyPr/>
          <a:lstStyle/>
          <a:p>
            <a:r>
              <a:rPr lang="en-US"/>
              <a:t>Setting up N8N part 2</a:t>
            </a:r>
          </a:p>
        </p:txBody>
      </p:sp>
      <p:sp>
        <p:nvSpPr>
          <p:cNvPr id="3" name="Text Placeholder 2">
            <a:extLst>
              <a:ext uri="{FF2B5EF4-FFF2-40B4-BE49-F238E27FC236}">
                <a16:creationId xmlns:a16="http://schemas.microsoft.com/office/drawing/2014/main" id="{67F66F25-0709-4CC1-9BC4-9E5DF4BA216B}"/>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634300E0-F678-057B-320C-A8905E72BA7B}"/>
              </a:ext>
            </a:extLst>
          </p:cNvPr>
          <p:cNvPicPr>
            <a:picLocks noChangeAspect="1"/>
          </p:cNvPicPr>
          <p:nvPr/>
        </p:nvPicPr>
        <p:blipFill>
          <a:blip r:embed="rId3"/>
          <a:stretch>
            <a:fillRect/>
          </a:stretch>
        </p:blipFill>
        <p:spPr>
          <a:xfrm>
            <a:off x="415600" y="982853"/>
            <a:ext cx="4601568" cy="5875147"/>
          </a:xfrm>
          <a:prstGeom prst="rect">
            <a:avLst/>
          </a:prstGeom>
        </p:spPr>
      </p:pic>
      <p:pic>
        <p:nvPicPr>
          <p:cNvPr id="7" name="Picture 6">
            <a:extLst>
              <a:ext uri="{FF2B5EF4-FFF2-40B4-BE49-F238E27FC236}">
                <a16:creationId xmlns:a16="http://schemas.microsoft.com/office/drawing/2014/main" id="{CE57918F-A5DC-65EB-9030-F5AACB7E4D3C}"/>
              </a:ext>
            </a:extLst>
          </p:cNvPr>
          <p:cNvPicPr>
            <a:picLocks noChangeAspect="1"/>
          </p:cNvPicPr>
          <p:nvPr/>
        </p:nvPicPr>
        <p:blipFill>
          <a:blip r:embed="rId4"/>
          <a:stretch>
            <a:fillRect/>
          </a:stretch>
        </p:blipFill>
        <p:spPr>
          <a:xfrm>
            <a:off x="5345776" y="2316632"/>
            <a:ext cx="4760750" cy="3997809"/>
          </a:xfrm>
          <a:prstGeom prst="rect">
            <a:avLst/>
          </a:prstGeom>
        </p:spPr>
      </p:pic>
      <p:pic>
        <p:nvPicPr>
          <p:cNvPr id="9" name="Picture 8">
            <a:extLst>
              <a:ext uri="{FF2B5EF4-FFF2-40B4-BE49-F238E27FC236}">
                <a16:creationId xmlns:a16="http://schemas.microsoft.com/office/drawing/2014/main" id="{0DE87E99-B789-B888-0DFE-2567EB0D8B35}"/>
              </a:ext>
            </a:extLst>
          </p:cNvPr>
          <p:cNvPicPr>
            <a:picLocks noChangeAspect="1"/>
          </p:cNvPicPr>
          <p:nvPr/>
        </p:nvPicPr>
        <p:blipFill>
          <a:blip r:embed="rId5"/>
          <a:stretch>
            <a:fillRect/>
          </a:stretch>
        </p:blipFill>
        <p:spPr>
          <a:xfrm>
            <a:off x="8048099" y="9712"/>
            <a:ext cx="3975465" cy="1984458"/>
          </a:xfrm>
          <a:prstGeom prst="rect">
            <a:avLst/>
          </a:prstGeom>
        </p:spPr>
      </p:pic>
    </p:spTree>
    <p:extLst>
      <p:ext uri="{BB962C8B-B14F-4D97-AF65-F5344CB8AC3E}">
        <p14:creationId xmlns:p14="http://schemas.microsoft.com/office/powerpoint/2010/main" val="15802622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86F26-8997-312E-2ED1-2D110FCA1523}"/>
              </a:ext>
            </a:extLst>
          </p:cNvPr>
          <p:cNvSpPr>
            <a:spLocks noGrp="1"/>
          </p:cNvSpPr>
          <p:nvPr>
            <p:ph type="title"/>
          </p:nvPr>
        </p:nvSpPr>
        <p:spPr/>
        <p:txBody>
          <a:bodyPr/>
          <a:lstStyle/>
          <a:p>
            <a:r>
              <a:rPr lang="en-US"/>
              <a:t>Accessing the VM</a:t>
            </a:r>
          </a:p>
        </p:txBody>
      </p:sp>
      <p:sp>
        <p:nvSpPr>
          <p:cNvPr id="3" name="Text Placeholder 2">
            <a:extLst>
              <a:ext uri="{FF2B5EF4-FFF2-40B4-BE49-F238E27FC236}">
                <a16:creationId xmlns:a16="http://schemas.microsoft.com/office/drawing/2014/main" id="{ADE64D7D-0A09-D9AB-738A-07084B9AAB9F}"/>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CDF40D7E-DD34-57F1-C16F-0D59ACFE4FFF}"/>
              </a:ext>
            </a:extLst>
          </p:cNvPr>
          <p:cNvPicPr>
            <a:picLocks noChangeAspect="1"/>
          </p:cNvPicPr>
          <p:nvPr/>
        </p:nvPicPr>
        <p:blipFill>
          <a:blip r:embed="rId2"/>
          <a:stretch>
            <a:fillRect/>
          </a:stretch>
        </p:blipFill>
        <p:spPr>
          <a:xfrm>
            <a:off x="1251285" y="2532004"/>
            <a:ext cx="8815137" cy="2667657"/>
          </a:xfrm>
          <a:prstGeom prst="rect">
            <a:avLst/>
          </a:prstGeom>
        </p:spPr>
      </p:pic>
    </p:spTree>
    <p:extLst>
      <p:ext uri="{BB962C8B-B14F-4D97-AF65-F5344CB8AC3E}">
        <p14:creationId xmlns:p14="http://schemas.microsoft.com/office/powerpoint/2010/main" val="6508718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8A1B-BA26-A89B-2D48-85BA4C40B56A}"/>
              </a:ext>
            </a:extLst>
          </p:cNvPr>
          <p:cNvSpPr>
            <a:spLocks noGrp="1"/>
          </p:cNvSpPr>
          <p:nvPr>
            <p:ph type="title"/>
          </p:nvPr>
        </p:nvSpPr>
        <p:spPr/>
        <p:txBody>
          <a:bodyPr/>
          <a:lstStyle/>
          <a:p>
            <a:r>
              <a:rPr lang="en-US"/>
              <a:t>Generating a DNS name for our VM</a:t>
            </a:r>
          </a:p>
        </p:txBody>
      </p:sp>
      <p:sp>
        <p:nvSpPr>
          <p:cNvPr id="3" name="Text Placeholder 2">
            <a:extLst>
              <a:ext uri="{FF2B5EF4-FFF2-40B4-BE49-F238E27FC236}">
                <a16:creationId xmlns:a16="http://schemas.microsoft.com/office/drawing/2014/main" id="{599A4C22-30BD-8DF7-DC03-4DDA48432047}"/>
              </a:ext>
            </a:extLst>
          </p:cNvPr>
          <p:cNvSpPr>
            <a:spLocks noGrp="1"/>
          </p:cNvSpPr>
          <p:nvPr>
            <p:ph type="body" idx="1"/>
          </p:nvPr>
        </p:nvSpPr>
        <p:spPr/>
        <p:txBody>
          <a:bodyPr/>
          <a:lstStyle/>
          <a:p>
            <a:r>
              <a:rPr lang="en-US"/>
              <a:t>DNS: </a:t>
            </a:r>
            <a:r>
              <a:rPr lang="en-US" b="1"/>
              <a:t>Domain Name System</a:t>
            </a:r>
          </a:p>
          <a:p>
            <a:endParaRPr lang="en-US"/>
          </a:p>
        </p:txBody>
      </p:sp>
      <p:pic>
        <p:nvPicPr>
          <p:cNvPr id="5" name="Picture 4">
            <a:extLst>
              <a:ext uri="{FF2B5EF4-FFF2-40B4-BE49-F238E27FC236}">
                <a16:creationId xmlns:a16="http://schemas.microsoft.com/office/drawing/2014/main" id="{91612B1C-00E2-5854-E3FF-89062E170561}"/>
              </a:ext>
            </a:extLst>
          </p:cNvPr>
          <p:cNvPicPr>
            <a:picLocks noChangeAspect="1"/>
          </p:cNvPicPr>
          <p:nvPr/>
        </p:nvPicPr>
        <p:blipFill>
          <a:blip r:embed="rId2"/>
          <a:stretch>
            <a:fillRect/>
          </a:stretch>
        </p:blipFill>
        <p:spPr>
          <a:xfrm>
            <a:off x="1104203" y="2078324"/>
            <a:ext cx="9983593" cy="4296275"/>
          </a:xfrm>
          <a:prstGeom prst="rect">
            <a:avLst/>
          </a:prstGeom>
        </p:spPr>
      </p:pic>
    </p:spTree>
    <p:extLst>
      <p:ext uri="{BB962C8B-B14F-4D97-AF65-F5344CB8AC3E}">
        <p14:creationId xmlns:p14="http://schemas.microsoft.com/office/powerpoint/2010/main" val="29666139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6A7B1-C33F-B904-6990-3BCDD182371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FA28A37-EFF4-9C0C-2B8B-B852AD60011A}"/>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630EF0DE-C802-0B74-75F1-988F3D10DAE4}"/>
              </a:ext>
            </a:extLst>
          </p:cNvPr>
          <p:cNvPicPr>
            <a:picLocks noChangeAspect="1"/>
          </p:cNvPicPr>
          <p:nvPr/>
        </p:nvPicPr>
        <p:blipFill>
          <a:blip r:embed="rId2"/>
          <a:stretch>
            <a:fillRect/>
          </a:stretch>
        </p:blipFill>
        <p:spPr>
          <a:xfrm>
            <a:off x="804124" y="509404"/>
            <a:ext cx="10583752" cy="5582429"/>
          </a:xfrm>
          <a:prstGeom prst="rect">
            <a:avLst/>
          </a:prstGeom>
        </p:spPr>
      </p:pic>
    </p:spTree>
    <p:extLst>
      <p:ext uri="{BB962C8B-B14F-4D97-AF65-F5344CB8AC3E}">
        <p14:creationId xmlns:p14="http://schemas.microsoft.com/office/powerpoint/2010/main" val="11306965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1E794-D894-3E03-3126-77471CA379D4}"/>
              </a:ext>
            </a:extLst>
          </p:cNvPr>
          <p:cNvSpPr>
            <a:spLocks noGrp="1"/>
          </p:cNvSpPr>
          <p:nvPr>
            <p:ph type="title"/>
          </p:nvPr>
        </p:nvSpPr>
        <p:spPr/>
        <p:txBody>
          <a:bodyPr/>
          <a:lstStyle/>
          <a:p>
            <a:r>
              <a:rPr lang="en-US"/>
              <a:t>Inserting a Record into a DNS</a:t>
            </a:r>
          </a:p>
        </p:txBody>
      </p:sp>
      <p:sp>
        <p:nvSpPr>
          <p:cNvPr id="3" name="Text Placeholder 2">
            <a:extLst>
              <a:ext uri="{FF2B5EF4-FFF2-40B4-BE49-F238E27FC236}">
                <a16:creationId xmlns:a16="http://schemas.microsoft.com/office/drawing/2014/main" id="{40A1CB95-9F52-ED8D-BDBE-15AFCDEB1109}"/>
              </a:ext>
            </a:extLst>
          </p:cNvPr>
          <p:cNvSpPr>
            <a:spLocks noGrp="1"/>
          </p:cNvSpPr>
          <p:nvPr>
            <p:ph type="body" idx="1"/>
          </p:nvPr>
        </p:nvSpPr>
        <p:spPr/>
        <p:txBody>
          <a:bodyPr/>
          <a:lstStyle/>
          <a:p>
            <a:r>
              <a:rPr lang="en-US"/>
              <a:t>Our goal is to register some domain name with a </a:t>
            </a:r>
            <a:r>
              <a:rPr lang="en-US" b="1"/>
              <a:t>DNS registrar</a:t>
            </a:r>
            <a:endParaRPr lang="en-US"/>
          </a:p>
          <a:p>
            <a:r>
              <a:rPr lang="en-US"/>
              <a:t>We can do this for free using</a:t>
            </a:r>
          </a:p>
          <a:p>
            <a:pPr lvl="1"/>
            <a:r>
              <a:rPr lang="en-US">
                <a:hlinkClick r:id="rId2"/>
              </a:rPr>
              <a:t>https://www.noip.com/</a:t>
            </a:r>
            <a:endParaRPr lang="en-US"/>
          </a:p>
          <a:p>
            <a:r>
              <a:rPr lang="en-US"/>
              <a:t>The hostname does not matter much</a:t>
            </a:r>
          </a:p>
          <a:p>
            <a:pPr lvl="1"/>
            <a:r>
              <a:rPr lang="en-US"/>
              <a:t>Feel free to name it whatever you want!</a:t>
            </a:r>
          </a:p>
          <a:p>
            <a:r>
              <a:rPr lang="en-US"/>
              <a:t>The IPv4 should be the IP address of your machine</a:t>
            </a:r>
          </a:p>
          <a:p>
            <a:pPr lvl="1"/>
            <a:r>
              <a:rPr lang="en-US"/>
              <a:t>How do we find this?</a:t>
            </a:r>
          </a:p>
        </p:txBody>
      </p:sp>
    </p:spTree>
    <p:extLst>
      <p:ext uri="{BB962C8B-B14F-4D97-AF65-F5344CB8AC3E}">
        <p14:creationId xmlns:p14="http://schemas.microsoft.com/office/powerpoint/2010/main" val="2900166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DA9C1-CB46-6DCF-427C-BC5DA46DF7E5}"/>
              </a:ext>
            </a:extLst>
          </p:cNvPr>
          <p:cNvSpPr>
            <a:spLocks noGrp="1"/>
          </p:cNvSpPr>
          <p:nvPr>
            <p:ph type="title"/>
          </p:nvPr>
        </p:nvSpPr>
        <p:spPr/>
        <p:txBody>
          <a:bodyPr/>
          <a:lstStyle/>
          <a:p>
            <a:r>
              <a:rPr lang="en-US"/>
              <a:t>Finding our machines IP Address</a:t>
            </a:r>
          </a:p>
        </p:txBody>
      </p:sp>
      <p:sp>
        <p:nvSpPr>
          <p:cNvPr id="3" name="Text Placeholder 2">
            <a:extLst>
              <a:ext uri="{FF2B5EF4-FFF2-40B4-BE49-F238E27FC236}">
                <a16:creationId xmlns:a16="http://schemas.microsoft.com/office/drawing/2014/main" id="{6DF8748E-C07C-59BD-EB26-51991A7CFC12}"/>
              </a:ext>
            </a:extLst>
          </p:cNvPr>
          <p:cNvSpPr>
            <a:spLocks noGrp="1"/>
          </p:cNvSpPr>
          <p:nvPr>
            <p:ph type="body" idx="1"/>
          </p:nvPr>
        </p:nvSpPr>
        <p:spPr/>
        <p:txBody>
          <a:bodyPr/>
          <a:lstStyle/>
          <a:p>
            <a:r>
              <a:rPr lang="en-US"/>
              <a:t>Two main ways</a:t>
            </a:r>
          </a:p>
          <a:p>
            <a:pPr lvl="1"/>
            <a:r>
              <a:rPr lang="en-US"/>
              <a:t>1. We can use </a:t>
            </a:r>
            <a:r>
              <a:rPr lang="en-US" err="1"/>
              <a:t>google's</a:t>
            </a:r>
            <a:r>
              <a:rPr lang="en-US"/>
              <a:t> UI</a:t>
            </a:r>
          </a:p>
          <a:p>
            <a:pPr lvl="2"/>
            <a:r>
              <a:rPr lang="en-US"/>
              <a:t>BOOO </a:t>
            </a:r>
            <a:r>
              <a:rPr lang="en-US" err="1"/>
              <a:t>BOOO</a:t>
            </a:r>
            <a:endParaRPr lang="en-US"/>
          </a:p>
          <a:p>
            <a:pPr lvl="1"/>
            <a:r>
              <a:rPr lang="en-US"/>
              <a:t>2. We can use curl</a:t>
            </a:r>
          </a:p>
          <a:p>
            <a:pPr lvl="2"/>
            <a:r>
              <a:rPr lang="en-US"/>
              <a:t>Curl ifconfig.me</a:t>
            </a:r>
          </a:p>
          <a:p>
            <a:pPr lvl="2"/>
            <a:r>
              <a:rPr lang="en-US"/>
              <a:t>Let’s see how this is done!</a:t>
            </a:r>
          </a:p>
        </p:txBody>
      </p:sp>
      <p:pic>
        <p:nvPicPr>
          <p:cNvPr id="5" name="Picture 4">
            <a:extLst>
              <a:ext uri="{FF2B5EF4-FFF2-40B4-BE49-F238E27FC236}">
                <a16:creationId xmlns:a16="http://schemas.microsoft.com/office/drawing/2014/main" id="{E0BA4C4C-9C00-C27A-CEB1-EED5460D6C92}"/>
              </a:ext>
            </a:extLst>
          </p:cNvPr>
          <p:cNvPicPr>
            <a:picLocks noChangeAspect="1"/>
          </p:cNvPicPr>
          <p:nvPr/>
        </p:nvPicPr>
        <p:blipFill>
          <a:blip r:embed="rId2"/>
          <a:stretch>
            <a:fillRect/>
          </a:stretch>
        </p:blipFill>
        <p:spPr>
          <a:xfrm>
            <a:off x="683792" y="4391526"/>
            <a:ext cx="11300883" cy="1191360"/>
          </a:xfrm>
          <a:prstGeom prst="rect">
            <a:avLst/>
          </a:prstGeom>
        </p:spPr>
      </p:pic>
    </p:spTree>
    <p:extLst>
      <p:ext uri="{BB962C8B-B14F-4D97-AF65-F5344CB8AC3E}">
        <p14:creationId xmlns:p14="http://schemas.microsoft.com/office/powerpoint/2010/main" val="12878297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CD9AB-4E9A-C1EA-04EA-2A020738970B}"/>
              </a:ext>
            </a:extLst>
          </p:cNvPr>
          <p:cNvSpPr>
            <a:spLocks noGrp="1"/>
          </p:cNvSpPr>
          <p:nvPr>
            <p:ph type="title"/>
          </p:nvPr>
        </p:nvSpPr>
        <p:spPr/>
        <p:txBody>
          <a:bodyPr>
            <a:normAutofit fontScale="90000"/>
          </a:bodyPr>
          <a:lstStyle/>
          <a:p>
            <a:r>
              <a:rPr lang="en-US"/>
              <a:t>A valid DNS entry should look something like this</a:t>
            </a:r>
          </a:p>
        </p:txBody>
      </p:sp>
      <p:sp>
        <p:nvSpPr>
          <p:cNvPr id="3" name="Text Placeholder 2">
            <a:extLst>
              <a:ext uri="{FF2B5EF4-FFF2-40B4-BE49-F238E27FC236}">
                <a16:creationId xmlns:a16="http://schemas.microsoft.com/office/drawing/2014/main" id="{3473692C-2406-9B3F-9120-BE0C041714E4}"/>
              </a:ext>
            </a:extLst>
          </p:cNvPr>
          <p:cNvSpPr>
            <a:spLocks noGrp="1"/>
          </p:cNvSpPr>
          <p:nvPr>
            <p:ph type="body" idx="1"/>
          </p:nvPr>
        </p:nvSpPr>
        <p:spPr/>
        <p:txBody>
          <a:bodyPr/>
          <a:lstStyle/>
          <a:p>
            <a:endParaRPr lang="en-US"/>
          </a:p>
        </p:txBody>
      </p:sp>
      <p:pic>
        <p:nvPicPr>
          <p:cNvPr id="7" name="Picture 6">
            <a:extLst>
              <a:ext uri="{FF2B5EF4-FFF2-40B4-BE49-F238E27FC236}">
                <a16:creationId xmlns:a16="http://schemas.microsoft.com/office/drawing/2014/main" id="{414589FC-C08E-6BCB-7DB4-32533FFCADC8}"/>
              </a:ext>
            </a:extLst>
          </p:cNvPr>
          <p:cNvPicPr>
            <a:picLocks noChangeAspect="1"/>
          </p:cNvPicPr>
          <p:nvPr/>
        </p:nvPicPr>
        <p:blipFill>
          <a:blip r:embed="rId2"/>
          <a:stretch>
            <a:fillRect/>
          </a:stretch>
        </p:blipFill>
        <p:spPr>
          <a:xfrm>
            <a:off x="204537" y="2646817"/>
            <a:ext cx="12192000" cy="2117820"/>
          </a:xfrm>
          <a:prstGeom prst="rect">
            <a:avLst/>
          </a:prstGeom>
        </p:spPr>
      </p:pic>
    </p:spTree>
    <p:extLst>
      <p:ext uri="{BB962C8B-B14F-4D97-AF65-F5344CB8AC3E}">
        <p14:creationId xmlns:p14="http://schemas.microsoft.com/office/powerpoint/2010/main" val="7655547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F3F7A-7AC9-CB21-7B25-D1870B3CBD3E}"/>
              </a:ext>
            </a:extLst>
          </p:cNvPr>
          <p:cNvSpPr>
            <a:spLocks noGrp="1"/>
          </p:cNvSpPr>
          <p:nvPr>
            <p:ph type="title"/>
          </p:nvPr>
        </p:nvSpPr>
        <p:spPr/>
        <p:txBody>
          <a:bodyPr/>
          <a:lstStyle/>
          <a:p>
            <a:r>
              <a:rPr lang="en-US"/>
              <a:t>Installing N8N</a:t>
            </a:r>
          </a:p>
        </p:txBody>
      </p:sp>
      <p:sp>
        <p:nvSpPr>
          <p:cNvPr id="3" name="Text Placeholder 2">
            <a:extLst>
              <a:ext uri="{FF2B5EF4-FFF2-40B4-BE49-F238E27FC236}">
                <a16:creationId xmlns:a16="http://schemas.microsoft.com/office/drawing/2014/main" id="{CE7EDF5F-0A37-435E-6421-F5E2BB61F5C4}"/>
              </a:ext>
            </a:extLst>
          </p:cNvPr>
          <p:cNvSpPr>
            <a:spLocks noGrp="1"/>
          </p:cNvSpPr>
          <p:nvPr>
            <p:ph type="body" idx="1"/>
          </p:nvPr>
        </p:nvSpPr>
        <p:spPr/>
        <p:txBody>
          <a:bodyPr/>
          <a:lstStyle/>
          <a:p>
            <a:r>
              <a:rPr lang="en-US"/>
              <a:t>Full Guide found on canvas</a:t>
            </a:r>
          </a:p>
        </p:txBody>
      </p:sp>
    </p:spTree>
    <p:extLst>
      <p:ext uri="{BB962C8B-B14F-4D97-AF65-F5344CB8AC3E}">
        <p14:creationId xmlns:p14="http://schemas.microsoft.com/office/powerpoint/2010/main" val="3428432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BD739-35EC-2E4E-6589-1944B2C051C1}"/>
              </a:ext>
            </a:extLst>
          </p:cNvPr>
          <p:cNvSpPr>
            <a:spLocks noGrp="1"/>
          </p:cNvSpPr>
          <p:nvPr>
            <p:ph type="title"/>
          </p:nvPr>
        </p:nvSpPr>
        <p:spPr/>
        <p:txBody>
          <a:bodyPr/>
          <a:lstStyle/>
          <a:p>
            <a:r>
              <a:rPr lang="en-US"/>
              <a:t>Understanding N8N’s Layout</a:t>
            </a:r>
          </a:p>
        </p:txBody>
      </p:sp>
      <p:sp>
        <p:nvSpPr>
          <p:cNvPr id="3" name="Text Placeholder 2">
            <a:extLst>
              <a:ext uri="{FF2B5EF4-FFF2-40B4-BE49-F238E27FC236}">
                <a16:creationId xmlns:a16="http://schemas.microsoft.com/office/drawing/2014/main" id="{ED89CFB3-DA3D-5697-9A97-140B6CF3F39A}"/>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DF6AC2C5-18BB-66D0-7A8E-1F0CD2C7D4B3}"/>
              </a:ext>
            </a:extLst>
          </p:cNvPr>
          <p:cNvPicPr>
            <a:picLocks noChangeAspect="1"/>
          </p:cNvPicPr>
          <p:nvPr/>
        </p:nvPicPr>
        <p:blipFill>
          <a:blip r:embed="rId3"/>
          <a:stretch>
            <a:fillRect/>
          </a:stretch>
        </p:blipFill>
        <p:spPr>
          <a:xfrm>
            <a:off x="0" y="246477"/>
            <a:ext cx="12192000" cy="6365045"/>
          </a:xfrm>
          <a:prstGeom prst="rect">
            <a:avLst/>
          </a:prstGeom>
        </p:spPr>
      </p:pic>
    </p:spTree>
    <p:extLst>
      <p:ext uri="{BB962C8B-B14F-4D97-AF65-F5344CB8AC3E}">
        <p14:creationId xmlns:p14="http://schemas.microsoft.com/office/powerpoint/2010/main" val="25836322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FEB80-D20A-2746-524E-AB494DDE9AF4}"/>
              </a:ext>
            </a:extLst>
          </p:cNvPr>
          <p:cNvSpPr>
            <a:spLocks noGrp="1"/>
          </p:cNvSpPr>
          <p:nvPr>
            <p:ph type="title"/>
          </p:nvPr>
        </p:nvSpPr>
        <p:spPr/>
        <p:txBody>
          <a:bodyPr/>
          <a:lstStyle/>
          <a:p>
            <a:r>
              <a:rPr lang="en-US"/>
              <a:t>Understanding the Canvas</a:t>
            </a:r>
          </a:p>
        </p:txBody>
      </p:sp>
      <p:sp>
        <p:nvSpPr>
          <p:cNvPr id="3" name="Text Placeholder 2">
            <a:extLst>
              <a:ext uri="{FF2B5EF4-FFF2-40B4-BE49-F238E27FC236}">
                <a16:creationId xmlns:a16="http://schemas.microsoft.com/office/drawing/2014/main" id="{9DAFD23E-F1E7-0ED8-DCCD-8D0F733C02D9}"/>
              </a:ext>
            </a:extLst>
          </p:cNvPr>
          <p:cNvSpPr>
            <a:spLocks noGrp="1"/>
          </p:cNvSpPr>
          <p:nvPr>
            <p:ph type="body" idx="1"/>
          </p:nvPr>
        </p:nvSpPr>
        <p:spPr/>
        <p:txBody>
          <a:bodyPr/>
          <a:lstStyle/>
          <a:p>
            <a:r>
              <a:rPr lang="en-US"/>
              <a:t>Select “Create Workflow”</a:t>
            </a:r>
          </a:p>
          <a:p>
            <a:endParaRPr lang="en-US"/>
          </a:p>
          <a:p>
            <a:r>
              <a:rPr lang="en-US"/>
              <a:t>Let’s walk through this canvas starting with our left panel first</a:t>
            </a:r>
          </a:p>
          <a:p>
            <a:endParaRPr lang="en-US"/>
          </a:p>
          <a:p>
            <a:endParaRPr lang="en-US"/>
          </a:p>
        </p:txBody>
      </p:sp>
      <p:pic>
        <p:nvPicPr>
          <p:cNvPr id="5" name="Picture 4">
            <a:extLst>
              <a:ext uri="{FF2B5EF4-FFF2-40B4-BE49-F238E27FC236}">
                <a16:creationId xmlns:a16="http://schemas.microsoft.com/office/drawing/2014/main" id="{BF01CE9E-AAD5-ADBC-FDBC-340DFE9F1BB2}"/>
              </a:ext>
            </a:extLst>
          </p:cNvPr>
          <p:cNvPicPr>
            <a:picLocks noChangeAspect="1"/>
          </p:cNvPicPr>
          <p:nvPr/>
        </p:nvPicPr>
        <p:blipFill>
          <a:blip r:embed="rId2"/>
          <a:stretch>
            <a:fillRect/>
          </a:stretch>
        </p:blipFill>
        <p:spPr>
          <a:xfrm>
            <a:off x="5582653" y="3055585"/>
            <a:ext cx="6931684" cy="3556908"/>
          </a:xfrm>
          <a:prstGeom prst="rect">
            <a:avLst/>
          </a:prstGeom>
        </p:spPr>
      </p:pic>
    </p:spTree>
    <p:extLst>
      <p:ext uri="{BB962C8B-B14F-4D97-AF65-F5344CB8AC3E}">
        <p14:creationId xmlns:p14="http://schemas.microsoft.com/office/powerpoint/2010/main" val="30845484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58DCC-3F69-35DE-2660-D3D0AAA28F74}"/>
              </a:ext>
            </a:extLst>
          </p:cNvPr>
          <p:cNvSpPr>
            <a:spLocks noGrp="1"/>
          </p:cNvSpPr>
          <p:nvPr>
            <p:ph type="title"/>
          </p:nvPr>
        </p:nvSpPr>
        <p:spPr/>
        <p:txBody>
          <a:bodyPr/>
          <a:lstStyle/>
          <a:p>
            <a:r>
              <a:rPr lang="en-US"/>
              <a:t>Left Side Panel</a:t>
            </a:r>
          </a:p>
        </p:txBody>
      </p:sp>
      <p:sp>
        <p:nvSpPr>
          <p:cNvPr id="3" name="Text Placeholder 2">
            <a:extLst>
              <a:ext uri="{FF2B5EF4-FFF2-40B4-BE49-F238E27FC236}">
                <a16:creationId xmlns:a16="http://schemas.microsoft.com/office/drawing/2014/main" id="{3D3B5BFC-7332-F77C-2640-E188B6867388}"/>
              </a:ext>
            </a:extLst>
          </p:cNvPr>
          <p:cNvSpPr>
            <a:spLocks noGrp="1"/>
          </p:cNvSpPr>
          <p:nvPr>
            <p:ph type="body" idx="1"/>
          </p:nvPr>
        </p:nvSpPr>
        <p:spPr/>
        <p:txBody>
          <a:bodyPr>
            <a:normAutofit/>
          </a:bodyPr>
          <a:lstStyle/>
          <a:p>
            <a:r>
              <a:rPr lang="en-US"/>
              <a:t>On the left side of the </a:t>
            </a:r>
            <a:r>
              <a:rPr lang="en-US" b="1"/>
              <a:t>Editor UI</a:t>
            </a:r>
            <a:r>
              <a:rPr lang="en-US"/>
              <a:t>, there is a panel which contains the core functionalities and settings for managing your workflows. Expand and collapse it by selecting the small arrow icon.</a:t>
            </a:r>
          </a:p>
          <a:p>
            <a:pPr lvl="1"/>
            <a:r>
              <a:rPr lang="en-US" b="1"/>
              <a:t>Overview</a:t>
            </a:r>
            <a:r>
              <a:rPr lang="en-US"/>
              <a:t>: Contains all the workflows, credentials, and executions you have access to. During this course, create new workflows here.</a:t>
            </a:r>
          </a:p>
          <a:p>
            <a:pPr lvl="1"/>
            <a:r>
              <a:rPr lang="en-US" b="1"/>
              <a:t>Personal</a:t>
            </a:r>
            <a:r>
              <a:rPr lang="en-US"/>
              <a:t>: Every user gets a default personal project. If you don’t create a custom project, your workflows and credentials are stored here.</a:t>
            </a:r>
          </a:p>
          <a:p>
            <a:pPr lvl="1"/>
            <a:r>
              <a:rPr lang="en-US" b="1"/>
              <a:t>Projects</a:t>
            </a:r>
            <a:r>
              <a:rPr lang="en-US"/>
              <a:t>: Projects let you group workflows and credentials together. You can assign </a:t>
            </a:r>
            <a:r>
              <a:rPr lang="en-US">
                <a:hlinkClick r:id="rId2"/>
              </a:rPr>
              <a:t>roles</a:t>
            </a:r>
            <a:r>
              <a:rPr lang="en-US"/>
              <a:t> to users in a project to control what they can do. Projects aren’t available on the Community edition.</a:t>
            </a:r>
          </a:p>
          <a:p>
            <a:pPr lvl="1"/>
            <a:r>
              <a:rPr lang="en-US" b="1"/>
              <a:t>Admin Panel</a:t>
            </a:r>
            <a:r>
              <a:rPr lang="en-US"/>
              <a:t>: n8n Cloud only. Access your n8n instance usage, billing, and version settings.</a:t>
            </a:r>
          </a:p>
          <a:p>
            <a:pPr lvl="1"/>
            <a:r>
              <a:rPr lang="en-US" b="1"/>
              <a:t>Templates</a:t>
            </a:r>
            <a:r>
              <a:rPr lang="en-US"/>
              <a:t>: A collection of pre-made workflows. Great place to get started with common use cases.</a:t>
            </a:r>
          </a:p>
          <a:p>
            <a:pPr lvl="1"/>
            <a:r>
              <a:rPr lang="en-US" b="1"/>
              <a:t>Variables</a:t>
            </a:r>
            <a:r>
              <a:rPr lang="en-US"/>
              <a:t>: Used to store and access fixed data across your workflows. This feature is available on the Pro and Enterprise Plans.</a:t>
            </a:r>
          </a:p>
          <a:p>
            <a:pPr lvl="1"/>
            <a:r>
              <a:rPr lang="en-US" b="1"/>
              <a:t>Insights</a:t>
            </a:r>
            <a:r>
              <a:rPr lang="en-US"/>
              <a:t>: Provides analytics and insights about your workflows.</a:t>
            </a:r>
          </a:p>
          <a:p>
            <a:pPr lvl="1"/>
            <a:r>
              <a:rPr lang="en-US" b="1"/>
              <a:t>Help</a:t>
            </a:r>
            <a:r>
              <a:rPr lang="en-US"/>
              <a:t>: Contains resources around n8n product and community.</a:t>
            </a:r>
          </a:p>
          <a:p>
            <a:pPr lvl="1"/>
            <a:r>
              <a:rPr lang="en-US" b="1"/>
              <a:t>What’s New</a:t>
            </a:r>
            <a:r>
              <a:rPr lang="en-US"/>
              <a:t>: Shows the latest product updates and features.</a:t>
            </a:r>
          </a:p>
          <a:p>
            <a:pPr lvl="1"/>
            <a:endParaRPr lang="en-US"/>
          </a:p>
        </p:txBody>
      </p:sp>
    </p:spTree>
    <p:extLst>
      <p:ext uri="{BB962C8B-B14F-4D97-AF65-F5344CB8AC3E}">
        <p14:creationId xmlns:p14="http://schemas.microsoft.com/office/powerpoint/2010/main" val="19658080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6F40A-FFEA-8EDA-D221-DC44C223AF27}"/>
              </a:ext>
            </a:extLst>
          </p:cNvPr>
          <p:cNvSpPr>
            <a:spLocks noGrp="1"/>
          </p:cNvSpPr>
          <p:nvPr>
            <p:ph type="title"/>
          </p:nvPr>
        </p:nvSpPr>
        <p:spPr/>
        <p:txBody>
          <a:bodyPr/>
          <a:lstStyle/>
          <a:p>
            <a:r>
              <a:rPr lang="en-US"/>
              <a:t>Top Bar</a:t>
            </a:r>
          </a:p>
        </p:txBody>
      </p:sp>
      <p:sp>
        <p:nvSpPr>
          <p:cNvPr id="3" name="Text Placeholder 2">
            <a:extLst>
              <a:ext uri="{FF2B5EF4-FFF2-40B4-BE49-F238E27FC236}">
                <a16:creationId xmlns:a16="http://schemas.microsoft.com/office/drawing/2014/main" id="{D2AB5D41-0895-9F8B-6D32-032181FE2653}"/>
              </a:ext>
            </a:extLst>
          </p:cNvPr>
          <p:cNvSpPr>
            <a:spLocks noGrp="1"/>
          </p:cNvSpPr>
          <p:nvPr>
            <p:ph type="body" idx="1"/>
          </p:nvPr>
        </p:nvSpPr>
        <p:spPr/>
        <p:txBody>
          <a:bodyPr/>
          <a:lstStyle/>
          <a:p>
            <a:r>
              <a:rPr lang="en-US" b="1"/>
              <a:t>Workflow Name</a:t>
            </a:r>
            <a:r>
              <a:rPr lang="en-US"/>
              <a:t>: By default, n8n names a new workflow as "My workflow", but you can edit the name at any time.</a:t>
            </a:r>
          </a:p>
          <a:p>
            <a:r>
              <a:rPr lang="en-US" b="1"/>
              <a:t>+ Add Tag</a:t>
            </a:r>
            <a:r>
              <a:rPr lang="en-US"/>
              <a:t>: Tags help you organize your workflows by category, use case, or whatever is relevant for you. Tags are optional.</a:t>
            </a:r>
          </a:p>
          <a:p>
            <a:r>
              <a:rPr lang="en-US" b="1"/>
              <a:t>Publish</a:t>
            </a:r>
            <a:r>
              <a:rPr lang="en-US"/>
              <a:t>: This button publishes the current workflow. By default, workflows are not published.</a:t>
            </a:r>
          </a:p>
          <a:p>
            <a:r>
              <a:rPr lang="en-US" b="1"/>
              <a:t>Share</a:t>
            </a:r>
            <a:r>
              <a:rPr lang="en-US"/>
              <a:t>: You can share and collaborate with others on workflows on the Starter, Pro, and Enterprise plans.</a:t>
            </a:r>
          </a:p>
          <a:p>
            <a:r>
              <a:rPr lang="en-US" b="1"/>
              <a:t>Save</a:t>
            </a:r>
            <a:r>
              <a:rPr lang="en-US"/>
              <a:t>: This button saves the current workflow.</a:t>
            </a:r>
          </a:p>
          <a:p>
            <a:r>
              <a:rPr lang="en-US" b="1"/>
              <a:t>History</a:t>
            </a:r>
            <a:r>
              <a:rPr lang="en-US"/>
              <a:t>: Once you save your workflow, you can view previous versions here.</a:t>
            </a:r>
          </a:p>
          <a:p>
            <a:endParaRPr lang="en-US"/>
          </a:p>
        </p:txBody>
      </p:sp>
    </p:spTree>
    <p:extLst>
      <p:ext uri="{BB962C8B-B14F-4D97-AF65-F5344CB8AC3E}">
        <p14:creationId xmlns:p14="http://schemas.microsoft.com/office/powerpoint/2010/main" val="34847948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21806-0970-DBE4-6644-59A297F110A8}"/>
              </a:ext>
            </a:extLst>
          </p:cNvPr>
          <p:cNvSpPr>
            <a:spLocks noGrp="1"/>
          </p:cNvSpPr>
          <p:nvPr>
            <p:ph type="title"/>
          </p:nvPr>
        </p:nvSpPr>
        <p:spPr/>
        <p:txBody>
          <a:bodyPr/>
          <a:lstStyle/>
          <a:p>
            <a:r>
              <a:rPr lang="en-US"/>
              <a:t>Canvas</a:t>
            </a:r>
          </a:p>
        </p:txBody>
      </p:sp>
      <p:sp>
        <p:nvSpPr>
          <p:cNvPr id="3" name="Text Placeholder 2">
            <a:extLst>
              <a:ext uri="{FF2B5EF4-FFF2-40B4-BE49-F238E27FC236}">
                <a16:creationId xmlns:a16="http://schemas.microsoft.com/office/drawing/2014/main" id="{8C303BF2-8E59-00F2-3B90-EECEEE331DE5}"/>
              </a:ext>
            </a:extLst>
          </p:cNvPr>
          <p:cNvSpPr>
            <a:spLocks noGrp="1"/>
          </p:cNvSpPr>
          <p:nvPr>
            <p:ph type="body" idx="1"/>
          </p:nvPr>
        </p:nvSpPr>
        <p:spPr/>
        <p:txBody>
          <a:bodyPr/>
          <a:lstStyle/>
          <a:p>
            <a:r>
              <a:rPr lang="en-US"/>
              <a:t>The </a:t>
            </a:r>
            <a:r>
              <a:rPr lang="en-US" b="1"/>
              <a:t>canvas</a:t>
            </a:r>
            <a:r>
              <a:rPr lang="en-US"/>
              <a:t> is the gray dotted grid background in the Editor UI. It displays several icons and a node with different functionalities:</a:t>
            </a:r>
          </a:p>
          <a:p>
            <a:pPr lvl="1"/>
            <a:r>
              <a:rPr lang="en-US"/>
              <a:t>Buttons to zoom the canvas to fit the screen, zoom in or out of the canvas, reset zoom, and tidy up the nodes on screen.</a:t>
            </a:r>
          </a:p>
          <a:p>
            <a:pPr lvl="1"/>
            <a:r>
              <a:rPr lang="en-US"/>
              <a:t>A button to </a:t>
            </a:r>
            <a:r>
              <a:rPr lang="en-US" b="1"/>
              <a:t>Execute workflow</a:t>
            </a:r>
            <a:r>
              <a:rPr lang="en-US"/>
              <a:t> once you add your first node. When you click on it, n8n executes all nodes on the canvas in sequence.</a:t>
            </a:r>
          </a:p>
          <a:p>
            <a:pPr lvl="1"/>
            <a:r>
              <a:rPr lang="en-US"/>
              <a:t>A button with a </a:t>
            </a:r>
            <a:r>
              <a:rPr lang="en-US" b="1"/>
              <a:t>+</a:t>
            </a:r>
            <a:r>
              <a:rPr lang="en-US"/>
              <a:t> sign inside. This button opens the nodes panel.</a:t>
            </a:r>
          </a:p>
          <a:p>
            <a:pPr lvl="1"/>
            <a:r>
              <a:rPr lang="en-US"/>
              <a:t>A button with a note icon inside. This button adds a </a:t>
            </a:r>
            <a:r>
              <a:rPr lang="en-US">
                <a:hlinkClick r:id="rId2"/>
              </a:rPr>
              <a:t>sticky note</a:t>
            </a:r>
            <a:r>
              <a:rPr lang="en-US"/>
              <a:t> to the canvas (visible when hovering on the top right + icon).</a:t>
            </a:r>
          </a:p>
          <a:p>
            <a:pPr lvl="1"/>
            <a:r>
              <a:rPr lang="en-US"/>
              <a:t>A dotted square with the text "Add first step." This is where you add your first node.</a:t>
            </a:r>
          </a:p>
          <a:p>
            <a:endParaRPr lang="en-US"/>
          </a:p>
        </p:txBody>
      </p:sp>
    </p:spTree>
    <p:extLst>
      <p:ext uri="{BB962C8B-B14F-4D97-AF65-F5344CB8AC3E}">
        <p14:creationId xmlns:p14="http://schemas.microsoft.com/office/powerpoint/2010/main" val="17321639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7968F-54B8-7106-069C-A1F35B79F148}"/>
              </a:ext>
            </a:extLst>
          </p:cNvPr>
          <p:cNvSpPr>
            <a:spLocks noGrp="1"/>
          </p:cNvSpPr>
          <p:nvPr>
            <p:ph type="title"/>
          </p:nvPr>
        </p:nvSpPr>
        <p:spPr/>
        <p:txBody>
          <a:bodyPr/>
          <a:lstStyle/>
          <a:p>
            <a:r>
              <a:rPr lang="en-US"/>
              <a:t>Nodes</a:t>
            </a:r>
          </a:p>
        </p:txBody>
      </p:sp>
      <p:sp>
        <p:nvSpPr>
          <p:cNvPr id="3" name="Text Placeholder 2">
            <a:extLst>
              <a:ext uri="{FF2B5EF4-FFF2-40B4-BE49-F238E27FC236}">
                <a16:creationId xmlns:a16="http://schemas.microsoft.com/office/drawing/2014/main" id="{64739AA5-C284-1612-D7E4-B30B1BED704B}"/>
              </a:ext>
            </a:extLst>
          </p:cNvPr>
          <p:cNvSpPr>
            <a:spLocks noGrp="1"/>
          </p:cNvSpPr>
          <p:nvPr>
            <p:ph type="body" idx="1"/>
          </p:nvPr>
        </p:nvSpPr>
        <p:spPr/>
        <p:txBody>
          <a:bodyPr>
            <a:normAutofit/>
          </a:bodyPr>
          <a:lstStyle/>
          <a:p>
            <a:r>
              <a:rPr lang="en-US"/>
              <a:t>In graph theory, a node represents a specific point in a network where data is processed.</a:t>
            </a:r>
          </a:p>
          <a:p>
            <a:pPr lvl="1"/>
            <a:r>
              <a:rPr lang="en-US"/>
              <a:t>You can think of a node as a station on an assembly line. At each station, a worker (or machine) performs a specific task, pausing to inspect, modifying the product, or passing it quickly to the next stage.</a:t>
            </a:r>
          </a:p>
          <a:p>
            <a:r>
              <a:rPr lang="en-US"/>
              <a:t>In n8n, nodes are the </a:t>
            </a:r>
            <a:r>
              <a:rPr lang="en-US" b="1"/>
              <a:t>functional units</a:t>
            </a:r>
            <a:r>
              <a:rPr lang="en-US"/>
              <a:t> that give our system power.</a:t>
            </a:r>
          </a:p>
          <a:p>
            <a:pPr lvl="1"/>
            <a:r>
              <a:rPr lang="en-US"/>
              <a:t>It is through the strategic arrangement of these nodes that we transform our ideas into agentic systems. </a:t>
            </a:r>
          </a:p>
          <a:p>
            <a:r>
              <a:rPr lang="en-US"/>
              <a:t>Based on their function, n8n classifies nodes into four types:</a:t>
            </a:r>
          </a:p>
          <a:p>
            <a:pPr lvl="1"/>
            <a:r>
              <a:rPr lang="en-US" b="1"/>
              <a:t>App</a:t>
            </a:r>
            <a:r>
              <a:rPr lang="en-US"/>
              <a:t> or </a:t>
            </a:r>
            <a:r>
              <a:rPr lang="en-US" b="1"/>
              <a:t>Action Nodes</a:t>
            </a:r>
          </a:p>
          <a:p>
            <a:pPr lvl="1"/>
            <a:r>
              <a:rPr lang="en-US" b="1"/>
              <a:t>Trigger Nodes</a:t>
            </a:r>
          </a:p>
          <a:p>
            <a:pPr lvl="1"/>
            <a:r>
              <a:rPr lang="en-US" b="1"/>
              <a:t>Core Nodes</a:t>
            </a:r>
          </a:p>
          <a:p>
            <a:pPr lvl="1"/>
            <a:r>
              <a:rPr lang="en-US" b="1"/>
              <a:t>Cluster Nodes</a:t>
            </a:r>
          </a:p>
          <a:p>
            <a:r>
              <a:rPr lang="en-US"/>
              <a:t>You can open the node panel:</a:t>
            </a:r>
          </a:p>
          <a:p>
            <a:pPr lvl="1"/>
            <a:r>
              <a:rPr lang="en-US"/>
              <a:t>Click the </a:t>
            </a:r>
            <a:r>
              <a:rPr lang="en-US" b="1"/>
              <a:t>+</a:t>
            </a:r>
            <a:r>
              <a:rPr lang="en-US"/>
              <a:t> icon in the top right corner of the canvas.</a:t>
            </a:r>
          </a:p>
          <a:p>
            <a:pPr lvl="1"/>
            <a:r>
              <a:rPr lang="en-US"/>
              <a:t>Click the Tab key on your keyboard.</a:t>
            </a:r>
          </a:p>
        </p:txBody>
      </p:sp>
    </p:spTree>
    <p:extLst>
      <p:ext uri="{BB962C8B-B14F-4D97-AF65-F5344CB8AC3E}">
        <p14:creationId xmlns:p14="http://schemas.microsoft.com/office/powerpoint/2010/main" val="18652114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7D8EB-FFAA-0A5A-62CA-ADF2E19A20D6}"/>
              </a:ext>
            </a:extLst>
          </p:cNvPr>
          <p:cNvSpPr>
            <a:spLocks noGrp="1"/>
          </p:cNvSpPr>
          <p:nvPr>
            <p:ph type="title"/>
          </p:nvPr>
        </p:nvSpPr>
        <p:spPr/>
        <p:txBody>
          <a:bodyPr/>
          <a:lstStyle/>
          <a:p>
            <a:r>
              <a:rPr lang="en-US"/>
              <a:t>Executing a node or workflow</a:t>
            </a:r>
          </a:p>
        </p:txBody>
      </p:sp>
      <p:sp>
        <p:nvSpPr>
          <p:cNvPr id="3" name="Text Placeholder 2">
            <a:extLst>
              <a:ext uri="{FF2B5EF4-FFF2-40B4-BE49-F238E27FC236}">
                <a16:creationId xmlns:a16="http://schemas.microsoft.com/office/drawing/2014/main" id="{81A2B650-6786-D98E-157E-F85F3FEA38B6}"/>
              </a:ext>
            </a:extLst>
          </p:cNvPr>
          <p:cNvSpPr>
            <a:spLocks noGrp="1"/>
          </p:cNvSpPr>
          <p:nvPr>
            <p:ph type="body" idx="1"/>
          </p:nvPr>
        </p:nvSpPr>
        <p:spPr/>
        <p:txBody>
          <a:bodyPr/>
          <a:lstStyle/>
          <a:p>
            <a:r>
              <a:rPr lang="en-US"/>
              <a:t>Node buttons</a:t>
            </a:r>
          </a:p>
          <a:p>
            <a:r>
              <a:rPr lang="en-US"/>
              <a:t>If you hover on a node, you'll notice that three icons appear on top:</a:t>
            </a:r>
          </a:p>
          <a:p>
            <a:pPr lvl="1"/>
            <a:r>
              <a:rPr lang="en-US"/>
              <a:t>Execute the node (Play icon)</a:t>
            </a:r>
          </a:p>
          <a:p>
            <a:pPr lvl="1"/>
            <a:r>
              <a:rPr lang="en-US"/>
              <a:t>Deactivate/Activate the node (Power icon)</a:t>
            </a:r>
          </a:p>
          <a:p>
            <a:pPr lvl="1"/>
            <a:r>
              <a:rPr lang="en-US"/>
              <a:t>Delete the node (Trash icon)</a:t>
            </a:r>
          </a:p>
          <a:p>
            <a:endParaRPr lang="en-US"/>
          </a:p>
          <a:p>
            <a:pPr lvl="1"/>
            <a:endParaRPr lang="en-US"/>
          </a:p>
        </p:txBody>
      </p:sp>
    </p:spTree>
    <p:extLst>
      <p:ext uri="{BB962C8B-B14F-4D97-AF65-F5344CB8AC3E}">
        <p14:creationId xmlns:p14="http://schemas.microsoft.com/office/powerpoint/2010/main" val="19285568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2C8C9-9343-41C2-5628-2561F277AAC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F7DE1B5-7D1E-3887-58C4-7DA6FF5DD5C5}"/>
              </a:ext>
            </a:extLst>
          </p:cNvPr>
          <p:cNvSpPr>
            <a:spLocks noGrp="1"/>
          </p:cNvSpPr>
          <p:nvPr>
            <p:ph type="body" idx="1"/>
          </p:nvPr>
        </p:nvSpPr>
        <p:spPr/>
        <p:txBody>
          <a:bodyPr/>
          <a:lstStyle/>
          <a:p>
            <a:endParaRPr lang="en-US"/>
          </a:p>
        </p:txBody>
      </p:sp>
      <p:pic>
        <p:nvPicPr>
          <p:cNvPr id="6" name="Picture 5" descr="A black screen with white text&#10;&#10;AI-generated content may be incorrect.">
            <a:extLst>
              <a:ext uri="{FF2B5EF4-FFF2-40B4-BE49-F238E27FC236}">
                <a16:creationId xmlns:a16="http://schemas.microsoft.com/office/drawing/2014/main" id="{6276648C-00C6-4334-0279-1F4608161A12}"/>
              </a:ext>
            </a:extLst>
          </p:cNvPr>
          <p:cNvPicPr>
            <a:picLocks noChangeAspect="1"/>
          </p:cNvPicPr>
          <p:nvPr/>
        </p:nvPicPr>
        <p:blipFill>
          <a:blip r:embed="rId2"/>
          <a:stretch>
            <a:fillRect/>
          </a:stretch>
        </p:blipFill>
        <p:spPr>
          <a:xfrm>
            <a:off x="1373095" y="3055763"/>
            <a:ext cx="10403305" cy="1966984"/>
          </a:xfrm>
          <a:prstGeom prst="rect">
            <a:avLst/>
          </a:prstGeom>
        </p:spPr>
      </p:pic>
    </p:spTree>
    <p:extLst>
      <p:ext uri="{BB962C8B-B14F-4D97-AF65-F5344CB8AC3E}">
        <p14:creationId xmlns:p14="http://schemas.microsoft.com/office/powerpoint/2010/main" val="40124548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7BD99-C488-F00A-4B4B-357B4862C707}"/>
              </a:ext>
            </a:extLst>
          </p:cNvPr>
          <p:cNvSpPr>
            <a:spLocks noGrp="1"/>
          </p:cNvSpPr>
          <p:nvPr>
            <p:ph type="title"/>
          </p:nvPr>
        </p:nvSpPr>
        <p:spPr/>
        <p:txBody>
          <a:bodyPr/>
          <a:lstStyle/>
          <a:p>
            <a:r>
              <a:rPr lang="en-US"/>
              <a:t>HTTP Node Request</a:t>
            </a:r>
          </a:p>
        </p:txBody>
      </p:sp>
      <p:sp>
        <p:nvSpPr>
          <p:cNvPr id="3" name="Text Placeholder 2">
            <a:extLst>
              <a:ext uri="{FF2B5EF4-FFF2-40B4-BE49-F238E27FC236}">
                <a16:creationId xmlns:a16="http://schemas.microsoft.com/office/drawing/2014/main" id="{4797CF71-3D90-2956-511C-26D474FB7A44}"/>
              </a:ext>
            </a:extLst>
          </p:cNvPr>
          <p:cNvSpPr>
            <a:spLocks noGrp="1"/>
          </p:cNvSpPr>
          <p:nvPr>
            <p:ph type="body" idx="1"/>
          </p:nvPr>
        </p:nvSpPr>
        <p:spPr/>
        <p:txBody>
          <a:bodyPr/>
          <a:lstStyle/>
          <a:p>
            <a:r>
              <a:rPr lang="en-US"/>
              <a:t>Press “tab” or click the plus icon to open the node panel</a:t>
            </a:r>
          </a:p>
          <a:p>
            <a:pPr lvl="1"/>
            <a:r>
              <a:rPr lang="en-US"/>
              <a:t>Search for HTTP Request</a:t>
            </a:r>
          </a:p>
          <a:p>
            <a:r>
              <a:rPr lang="en-US" b="1"/>
              <a:t>HTTP Requests</a:t>
            </a:r>
            <a:r>
              <a:rPr lang="en-US"/>
              <a:t>: Fundamental web protocol for asking servers for data.</a:t>
            </a:r>
          </a:p>
          <a:p>
            <a:pPr lvl="1"/>
            <a:r>
              <a:rPr lang="en-US"/>
              <a:t>When you type a URL into your browser, you are essentially sending a request to a server asking for information.</a:t>
            </a:r>
          </a:p>
          <a:p>
            <a:pPr lvl="1"/>
            <a:endParaRPr lang="en-US"/>
          </a:p>
        </p:txBody>
      </p:sp>
      <p:pic>
        <p:nvPicPr>
          <p:cNvPr id="6" name="Picture 5" descr="A screenshot of a computer&#10;&#10;AI-generated content may be incorrect.">
            <a:extLst>
              <a:ext uri="{FF2B5EF4-FFF2-40B4-BE49-F238E27FC236}">
                <a16:creationId xmlns:a16="http://schemas.microsoft.com/office/drawing/2014/main" id="{E5983BCB-5F74-FA05-FE9D-DEA8C3E2CD2F}"/>
              </a:ext>
            </a:extLst>
          </p:cNvPr>
          <p:cNvPicPr>
            <a:picLocks noChangeAspect="1"/>
          </p:cNvPicPr>
          <p:nvPr/>
        </p:nvPicPr>
        <p:blipFill>
          <a:blip r:embed="rId2"/>
          <a:stretch>
            <a:fillRect/>
          </a:stretch>
        </p:blipFill>
        <p:spPr>
          <a:xfrm>
            <a:off x="8855242" y="3188164"/>
            <a:ext cx="3228474" cy="3368083"/>
          </a:xfrm>
          <a:prstGeom prst="rect">
            <a:avLst/>
          </a:prstGeom>
        </p:spPr>
      </p:pic>
    </p:spTree>
    <p:extLst>
      <p:ext uri="{BB962C8B-B14F-4D97-AF65-F5344CB8AC3E}">
        <p14:creationId xmlns:p14="http://schemas.microsoft.com/office/powerpoint/2010/main" val="11573658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95226-54D9-E94D-A545-2C78FDE47274}"/>
              </a:ext>
            </a:extLst>
          </p:cNvPr>
          <p:cNvSpPr>
            <a:spLocks noGrp="1"/>
          </p:cNvSpPr>
          <p:nvPr>
            <p:ph type="title"/>
          </p:nvPr>
        </p:nvSpPr>
        <p:spPr/>
        <p:txBody>
          <a:bodyPr/>
          <a:lstStyle/>
          <a:p>
            <a:r>
              <a:rPr lang="en-US"/>
              <a:t>Get Requests</a:t>
            </a:r>
          </a:p>
        </p:txBody>
      </p:sp>
      <p:sp>
        <p:nvSpPr>
          <p:cNvPr id="3" name="Text Placeholder 2">
            <a:extLst>
              <a:ext uri="{FF2B5EF4-FFF2-40B4-BE49-F238E27FC236}">
                <a16:creationId xmlns:a16="http://schemas.microsoft.com/office/drawing/2014/main" id="{7E0D1844-9E93-7A75-0D50-95D885D77718}"/>
              </a:ext>
            </a:extLst>
          </p:cNvPr>
          <p:cNvSpPr>
            <a:spLocks noGrp="1"/>
          </p:cNvSpPr>
          <p:nvPr>
            <p:ph type="body" idx="1"/>
          </p:nvPr>
        </p:nvSpPr>
        <p:spPr/>
        <p:txBody>
          <a:bodyPr/>
          <a:lstStyle/>
          <a:p>
            <a:r>
              <a:rPr lang="en-US" b="1"/>
              <a:t>GET Request</a:t>
            </a:r>
            <a:r>
              <a:rPr lang="en-US"/>
              <a:t>: Retrieves data without changing the server; most common method.</a:t>
            </a:r>
          </a:p>
          <a:p>
            <a:r>
              <a:rPr lang="en-US" b="1"/>
              <a:t>N8N HTTP Node</a:t>
            </a:r>
            <a:r>
              <a:rPr lang="en-US"/>
              <a:t>: Acts like a browser to fetch data for workflows.</a:t>
            </a:r>
          </a:p>
          <a:p>
            <a:r>
              <a:rPr lang="en-US" b="1"/>
              <a:t>HTML Output</a:t>
            </a:r>
            <a:r>
              <a:rPr lang="en-US"/>
              <a:t>: Responses come as raw HTML;</a:t>
            </a:r>
          </a:p>
          <a:p>
            <a:endParaRPr lang="en-US"/>
          </a:p>
          <a:p>
            <a:endParaRPr lang="en-US"/>
          </a:p>
          <a:p>
            <a:endParaRPr lang="en-US"/>
          </a:p>
        </p:txBody>
      </p:sp>
      <p:pic>
        <p:nvPicPr>
          <p:cNvPr id="5" name="Picture 4" descr="A screenshot of a computer&#10;&#10;AI-generated content may be incorrect.">
            <a:extLst>
              <a:ext uri="{FF2B5EF4-FFF2-40B4-BE49-F238E27FC236}">
                <a16:creationId xmlns:a16="http://schemas.microsoft.com/office/drawing/2014/main" id="{6254A529-8123-E033-2B94-AE7C6DF93426}"/>
              </a:ext>
            </a:extLst>
          </p:cNvPr>
          <p:cNvPicPr>
            <a:picLocks noChangeAspect="1"/>
          </p:cNvPicPr>
          <p:nvPr/>
        </p:nvPicPr>
        <p:blipFill>
          <a:blip r:embed="rId2"/>
          <a:stretch>
            <a:fillRect/>
          </a:stretch>
        </p:blipFill>
        <p:spPr>
          <a:xfrm>
            <a:off x="8070186" y="3075326"/>
            <a:ext cx="3833056" cy="3236007"/>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031B582E-D092-F341-B480-F964E5EA9BC0}"/>
              </a:ext>
            </a:extLst>
          </p:cNvPr>
          <p:cNvPicPr>
            <a:picLocks noChangeAspect="1"/>
          </p:cNvPicPr>
          <p:nvPr/>
        </p:nvPicPr>
        <p:blipFill>
          <a:blip r:embed="rId3"/>
          <a:stretch>
            <a:fillRect/>
          </a:stretch>
        </p:blipFill>
        <p:spPr>
          <a:xfrm>
            <a:off x="673768" y="4061842"/>
            <a:ext cx="6509086" cy="2312649"/>
          </a:xfrm>
          <a:prstGeom prst="rect">
            <a:avLst/>
          </a:prstGeom>
        </p:spPr>
      </p:pic>
    </p:spTree>
    <p:extLst>
      <p:ext uri="{BB962C8B-B14F-4D97-AF65-F5344CB8AC3E}">
        <p14:creationId xmlns:p14="http://schemas.microsoft.com/office/powerpoint/2010/main" val="30046495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CE8DE-03D2-D127-0C4B-510FC4CD497F}"/>
              </a:ext>
            </a:extLst>
          </p:cNvPr>
          <p:cNvSpPr>
            <a:spLocks noGrp="1"/>
          </p:cNvSpPr>
          <p:nvPr>
            <p:ph type="title"/>
          </p:nvPr>
        </p:nvSpPr>
        <p:spPr/>
        <p:txBody>
          <a:bodyPr/>
          <a:lstStyle/>
          <a:p>
            <a:r>
              <a:rPr lang="en-US"/>
              <a:t>Just like that, our first workflow!</a:t>
            </a:r>
          </a:p>
        </p:txBody>
      </p:sp>
      <p:sp>
        <p:nvSpPr>
          <p:cNvPr id="3" name="Text Placeholder 2">
            <a:extLst>
              <a:ext uri="{FF2B5EF4-FFF2-40B4-BE49-F238E27FC236}">
                <a16:creationId xmlns:a16="http://schemas.microsoft.com/office/drawing/2014/main" id="{921CB8D8-1FB6-9865-50AA-E6A9C7598ED5}"/>
              </a:ext>
            </a:extLst>
          </p:cNvPr>
          <p:cNvSpPr>
            <a:spLocks noGrp="1"/>
          </p:cNvSpPr>
          <p:nvPr>
            <p:ph type="body" idx="1"/>
          </p:nvPr>
        </p:nvSpPr>
        <p:spPr/>
        <p:txBody>
          <a:bodyPr/>
          <a:lstStyle/>
          <a:p>
            <a:r>
              <a:rPr lang="en-US"/>
              <a:t>Huzzah, we have significantly complicated what was a simple process</a:t>
            </a:r>
          </a:p>
          <a:p>
            <a:pPr lvl="1"/>
            <a:r>
              <a:rPr lang="en-US"/>
              <a:t>Welcome to computer science!</a:t>
            </a:r>
          </a:p>
          <a:p>
            <a:pPr lvl="2"/>
            <a:r>
              <a:rPr lang="en-US"/>
              <a:t>15 hours to automate something you could have done manually in 10 minutes</a:t>
            </a:r>
          </a:p>
        </p:txBody>
      </p:sp>
    </p:spTree>
    <p:extLst>
      <p:ext uri="{BB962C8B-B14F-4D97-AF65-F5344CB8AC3E}">
        <p14:creationId xmlns:p14="http://schemas.microsoft.com/office/powerpoint/2010/main" val="27989997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C55CC-4A4C-362D-7654-576B217EB8DD}"/>
              </a:ext>
            </a:extLst>
          </p:cNvPr>
          <p:cNvSpPr>
            <a:spLocks noGrp="1"/>
          </p:cNvSpPr>
          <p:nvPr>
            <p:ph type="title"/>
          </p:nvPr>
        </p:nvSpPr>
        <p:spPr/>
        <p:txBody>
          <a:bodyPr/>
          <a:lstStyle/>
          <a:p>
            <a:r>
              <a:rPr lang="en-US"/>
              <a:t>So now what?</a:t>
            </a:r>
          </a:p>
        </p:txBody>
      </p:sp>
      <p:sp>
        <p:nvSpPr>
          <p:cNvPr id="3" name="Text Placeholder 2">
            <a:extLst>
              <a:ext uri="{FF2B5EF4-FFF2-40B4-BE49-F238E27FC236}">
                <a16:creationId xmlns:a16="http://schemas.microsoft.com/office/drawing/2014/main" id="{8229E0D0-84C1-CA49-7A53-93FC8164F7FB}"/>
              </a:ext>
            </a:extLst>
          </p:cNvPr>
          <p:cNvSpPr>
            <a:spLocks noGrp="1"/>
          </p:cNvSpPr>
          <p:nvPr>
            <p:ph type="body" idx="1"/>
          </p:nvPr>
        </p:nvSpPr>
        <p:spPr/>
        <p:txBody>
          <a:bodyPr>
            <a:normAutofit/>
          </a:bodyPr>
          <a:lstStyle/>
          <a:p>
            <a:r>
              <a:rPr lang="en-US"/>
              <a:t>N8N is our </a:t>
            </a:r>
            <a:r>
              <a:rPr lang="en-US" i="1"/>
              <a:t>orchestration framework</a:t>
            </a:r>
          </a:p>
          <a:p>
            <a:pPr lvl="1"/>
            <a:r>
              <a:rPr lang="en-US"/>
              <a:t>It’s main goal is to simply </a:t>
            </a:r>
            <a:r>
              <a:rPr lang="en-US" b="1"/>
              <a:t>automate</a:t>
            </a:r>
            <a:r>
              <a:rPr lang="en-US"/>
              <a:t> processes</a:t>
            </a:r>
          </a:p>
          <a:p>
            <a:pPr lvl="1"/>
            <a:r>
              <a:rPr lang="en-US"/>
              <a:t>Modern field of </a:t>
            </a:r>
            <a:r>
              <a:rPr lang="en-US" b="1"/>
              <a:t>Automation Experts</a:t>
            </a:r>
            <a:endParaRPr lang="en-US"/>
          </a:p>
          <a:p>
            <a:r>
              <a:rPr lang="en-US"/>
              <a:t>Generally</a:t>
            </a:r>
          </a:p>
          <a:p>
            <a:pPr lvl="1"/>
            <a:r>
              <a:rPr lang="en-US"/>
              <a:t>We want to use N8N, or similar systems, to automate repeatable tasks</a:t>
            </a:r>
          </a:p>
          <a:p>
            <a:r>
              <a:rPr lang="en-US"/>
              <a:t>Throughout this semester, we are going to use N8N and other tools to try and automate decision and trading principles with a specific focus on the US stock market(maybe crypto, maybe prediction markets)</a:t>
            </a:r>
          </a:p>
          <a:p>
            <a:r>
              <a:rPr lang="en-US" b="1"/>
              <a:t>Warning</a:t>
            </a:r>
            <a:endParaRPr lang="en-US"/>
          </a:p>
          <a:p>
            <a:pPr lvl="1"/>
            <a:r>
              <a:rPr lang="en-US"/>
              <a:t>We are going to fail</a:t>
            </a:r>
          </a:p>
          <a:p>
            <a:pPr lvl="1"/>
            <a:r>
              <a:rPr lang="en-US"/>
              <a:t>N8N is a </a:t>
            </a:r>
            <a:r>
              <a:rPr lang="en-US" b="1"/>
              <a:t>new</a:t>
            </a:r>
            <a:r>
              <a:rPr lang="en-US"/>
              <a:t> technology</a:t>
            </a:r>
          </a:p>
          <a:p>
            <a:pPr lvl="2"/>
            <a:r>
              <a:rPr lang="en-US"/>
              <a:t>Much of what we are trying to do is experimental. </a:t>
            </a:r>
          </a:p>
          <a:p>
            <a:pPr lvl="3"/>
            <a:r>
              <a:rPr lang="en-US" b="1"/>
              <a:t>I want you to experiment. There is no correct answer</a:t>
            </a:r>
          </a:p>
          <a:p>
            <a:pPr lvl="3"/>
            <a:r>
              <a:rPr lang="en-US" b="1"/>
              <a:t>Learn, Learn, Learn, Learn, Learn – Try whatever</a:t>
            </a:r>
          </a:p>
          <a:p>
            <a:pPr lvl="1"/>
            <a:endParaRPr lang="en-US"/>
          </a:p>
        </p:txBody>
      </p:sp>
    </p:spTree>
    <p:extLst>
      <p:ext uri="{BB962C8B-B14F-4D97-AF65-F5344CB8AC3E}">
        <p14:creationId xmlns:p14="http://schemas.microsoft.com/office/powerpoint/2010/main" val="40737284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2D4B5-E05C-0DE6-ACC9-8ADCA537268E}"/>
              </a:ext>
            </a:extLst>
          </p:cNvPr>
          <p:cNvSpPr>
            <a:spLocks noGrp="1"/>
          </p:cNvSpPr>
          <p:nvPr>
            <p:ph type="title"/>
          </p:nvPr>
        </p:nvSpPr>
        <p:spPr/>
        <p:txBody>
          <a:bodyPr/>
          <a:lstStyle/>
          <a:p>
            <a:r>
              <a:rPr lang="en-US"/>
              <a:t>Our First Experiment</a:t>
            </a:r>
          </a:p>
        </p:txBody>
      </p:sp>
      <p:sp>
        <p:nvSpPr>
          <p:cNvPr id="3" name="Text Placeholder 2">
            <a:extLst>
              <a:ext uri="{FF2B5EF4-FFF2-40B4-BE49-F238E27FC236}">
                <a16:creationId xmlns:a16="http://schemas.microsoft.com/office/drawing/2014/main" id="{2826366C-05EA-4F2F-E60A-D583228B91D2}"/>
              </a:ext>
            </a:extLst>
          </p:cNvPr>
          <p:cNvSpPr>
            <a:spLocks noGrp="1"/>
          </p:cNvSpPr>
          <p:nvPr>
            <p:ph type="body" idx="1"/>
          </p:nvPr>
        </p:nvSpPr>
        <p:spPr/>
        <p:txBody>
          <a:bodyPr/>
          <a:lstStyle/>
          <a:p>
            <a:r>
              <a:rPr lang="en-US"/>
              <a:t>Moving Averages</a:t>
            </a:r>
          </a:p>
        </p:txBody>
      </p:sp>
    </p:spTree>
    <p:extLst>
      <p:ext uri="{BB962C8B-B14F-4D97-AF65-F5344CB8AC3E}">
        <p14:creationId xmlns:p14="http://schemas.microsoft.com/office/powerpoint/2010/main" val="39489213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EC65B-5599-1CF8-3F7C-6132B3F229A1}"/>
              </a:ext>
            </a:extLst>
          </p:cNvPr>
          <p:cNvSpPr>
            <a:spLocks noGrp="1"/>
          </p:cNvSpPr>
          <p:nvPr>
            <p:ph type="title"/>
          </p:nvPr>
        </p:nvSpPr>
        <p:spPr/>
        <p:txBody>
          <a:bodyPr/>
          <a:lstStyle/>
          <a:p>
            <a:r>
              <a:rPr lang="en-US"/>
              <a:t>How do investors make buy and sell decisions?</a:t>
            </a:r>
          </a:p>
        </p:txBody>
      </p:sp>
      <p:sp>
        <p:nvSpPr>
          <p:cNvPr id="3" name="Content Placeholder 2">
            <a:extLst>
              <a:ext uri="{FF2B5EF4-FFF2-40B4-BE49-F238E27FC236}">
                <a16:creationId xmlns:a16="http://schemas.microsoft.com/office/drawing/2014/main" id="{2829FAE2-F103-97C7-DDFE-D337BE659621}"/>
              </a:ext>
            </a:extLst>
          </p:cNvPr>
          <p:cNvSpPr>
            <a:spLocks noGrp="1"/>
          </p:cNvSpPr>
          <p:nvPr>
            <p:ph idx="1"/>
          </p:nvPr>
        </p:nvSpPr>
        <p:spPr/>
        <p:txBody>
          <a:bodyPr/>
          <a:lstStyle/>
          <a:p>
            <a:r>
              <a:rPr lang="en-US"/>
              <a:t>This is perhaps the </a:t>
            </a:r>
            <a:r>
              <a:rPr lang="en-US" b="1"/>
              <a:t>golden</a:t>
            </a:r>
            <a:r>
              <a:rPr lang="en-US"/>
              <a:t> question of what makes a </a:t>
            </a:r>
            <a:r>
              <a:rPr lang="en-US" i="1"/>
              <a:t>trader</a:t>
            </a:r>
          </a:p>
          <a:p>
            <a:r>
              <a:rPr lang="en-US"/>
              <a:t>There are many ways that people make buying and selling decisions</a:t>
            </a:r>
          </a:p>
          <a:p>
            <a:pPr lvl="1"/>
            <a:r>
              <a:rPr lang="en-US"/>
              <a:t>What to buy(or sell)</a:t>
            </a:r>
          </a:p>
          <a:p>
            <a:pPr lvl="1"/>
            <a:r>
              <a:rPr lang="en-US"/>
              <a:t>When to buy(or sell)</a:t>
            </a:r>
          </a:p>
          <a:p>
            <a:r>
              <a:rPr lang="en-US"/>
              <a:t>It is possible, and more common, to weave these two decisions together into a single model as you analyze buy and sell signals</a:t>
            </a:r>
          </a:p>
          <a:p>
            <a:pPr lvl="1"/>
            <a:r>
              <a:rPr lang="en-US"/>
              <a:t>But first, let’s consider how we might even </a:t>
            </a:r>
            <a:r>
              <a:rPr lang="en-US" b="1"/>
              <a:t>get</a:t>
            </a:r>
            <a:r>
              <a:rPr lang="en-US"/>
              <a:t> the price of a particular security</a:t>
            </a:r>
          </a:p>
        </p:txBody>
      </p:sp>
    </p:spTree>
    <p:extLst>
      <p:ext uri="{BB962C8B-B14F-4D97-AF65-F5344CB8AC3E}">
        <p14:creationId xmlns:p14="http://schemas.microsoft.com/office/powerpoint/2010/main" val="4929543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B697C-BE8F-6C25-CC06-E522CEEAFB59}"/>
              </a:ext>
            </a:extLst>
          </p:cNvPr>
          <p:cNvSpPr>
            <a:spLocks noGrp="1"/>
          </p:cNvSpPr>
          <p:nvPr>
            <p:ph type="title"/>
          </p:nvPr>
        </p:nvSpPr>
        <p:spPr/>
        <p:txBody>
          <a:bodyPr/>
          <a:lstStyle/>
          <a:p>
            <a:r>
              <a:rPr lang="en-US"/>
              <a:t>Alpaca</a:t>
            </a:r>
          </a:p>
        </p:txBody>
      </p:sp>
      <p:sp>
        <p:nvSpPr>
          <p:cNvPr id="3" name="Text Placeholder 2">
            <a:extLst>
              <a:ext uri="{FF2B5EF4-FFF2-40B4-BE49-F238E27FC236}">
                <a16:creationId xmlns:a16="http://schemas.microsoft.com/office/drawing/2014/main" id="{1F7009C6-E4D9-730D-58BF-55D28E117D94}"/>
              </a:ext>
            </a:extLst>
          </p:cNvPr>
          <p:cNvSpPr>
            <a:spLocks noGrp="1"/>
          </p:cNvSpPr>
          <p:nvPr>
            <p:ph type="body" idx="1"/>
          </p:nvPr>
        </p:nvSpPr>
        <p:spPr/>
        <p:txBody>
          <a:bodyPr/>
          <a:lstStyle/>
          <a:p>
            <a:r>
              <a:rPr lang="en-US"/>
              <a:t>Paper Trading</a:t>
            </a:r>
          </a:p>
        </p:txBody>
      </p:sp>
    </p:spTree>
    <p:extLst>
      <p:ext uri="{BB962C8B-B14F-4D97-AF65-F5344CB8AC3E}">
        <p14:creationId xmlns:p14="http://schemas.microsoft.com/office/powerpoint/2010/main" val="27119816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6AD22-3E93-9233-33BC-D06CC9A69A40}"/>
              </a:ext>
            </a:extLst>
          </p:cNvPr>
          <p:cNvSpPr>
            <a:spLocks noGrp="1"/>
          </p:cNvSpPr>
          <p:nvPr>
            <p:ph type="title"/>
          </p:nvPr>
        </p:nvSpPr>
        <p:spPr/>
        <p:txBody>
          <a:bodyPr/>
          <a:lstStyle/>
          <a:p>
            <a:r>
              <a:rPr lang="en-US"/>
              <a:t>Alpaca</a:t>
            </a:r>
          </a:p>
        </p:txBody>
      </p:sp>
      <p:sp>
        <p:nvSpPr>
          <p:cNvPr id="3" name="Content Placeholder 2">
            <a:extLst>
              <a:ext uri="{FF2B5EF4-FFF2-40B4-BE49-F238E27FC236}">
                <a16:creationId xmlns:a16="http://schemas.microsoft.com/office/drawing/2014/main" id="{74D5024E-D539-0631-8B3B-EB341DB83205}"/>
              </a:ext>
            </a:extLst>
          </p:cNvPr>
          <p:cNvSpPr>
            <a:spLocks noGrp="1"/>
          </p:cNvSpPr>
          <p:nvPr>
            <p:ph idx="1"/>
          </p:nvPr>
        </p:nvSpPr>
        <p:spPr/>
        <p:txBody>
          <a:bodyPr/>
          <a:lstStyle/>
          <a:p>
            <a:r>
              <a:rPr lang="en-US"/>
              <a:t>Alpaca allows us to execute </a:t>
            </a:r>
            <a:r>
              <a:rPr lang="en-US" b="1"/>
              <a:t>paper trades</a:t>
            </a:r>
            <a:endParaRPr lang="en-US"/>
          </a:p>
          <a:p>
            <a:endParaRPr lang="en-US"/>
          </a:p>
          <a:p>
            <a:r>
              <a:rPr lang="en-US"/>
              <a:t>Create an account:</a:t>
            </a:r>
          </a:p>
          <a:p>
            <a:pPr lvl="1"/>
            <a:r>
              <a:rPr lang="en-US">
                <a:hlinkClick r:id="rId2"/>
              </a:rPr>
              <a:t>https://app.alpaca.markets/brokerage/new-account</a:t>
            </a:r>
            <a:endParaRPr lang="en-US"/>
          </a:p>
          <a:p>
            <a:pPr lvl="1"/>
            <a:endParaRPr lang="en-US"/>
          </a:p>
        </p:txBody>
      </p:sp>
    </p:spTree>
    <p:extLst>
      <p:ext uri="{BB962C8B-B14F-4D97-AF65-F5344CB8AC3E}">
        <p14:creationId xmlns:p14="http://schemas.microsoft.com/office/powerpoint/2010/main" val="34332949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CE45D-526D-D7AD-3DA8-18F05DAE5A5B}"/>
              </a:ext>
            </a:extLst>
          </p:cNvPr>
          <p:cNvSpPr>
            <a:spLocks noGrp="1"/>
          </p:cNvSpPr>
          <p:nvPr>
            <p:ph type="title"/>
          </p:nvPr>
        </p:nvSpPr>
        <p:spPr/>
        <p:txBody>
          <a:bodyPr/>
          <a:lstStyle/>
          <a:p>
            <a:r>
              <a:rPr lang="en-US"/>
              <a:t>What is an API?</a:t>
            </a:r>
          </a:p>
        </p:txBody>
      </p:sp>
      <p:sp>
        <p:nvSpPr>
          <p:cNvPr id="3" name="Content Placeholder 2">
            <a:extLst>
              <a:ext uri="{FF2B5EF4-FFF2-40B4-BE49-F238E27FC236}">
                <a16:creationId xmlns:a16="http://schemas.microsoft.com/office/drawing/2014/main" id="{A639297F-E05B-24E3-8A59-E68362D2B4DE}"/>
              </a:ext>
            </a:extLst>
          </p:cNvPr>
          <p:cNvSpPr>
            <a:spLocks noGrp="1"/>
          </p:cNvSpPr>
          <p:nvPr>
            <p:ph idx="1"/>
          </p:nvPr>
        </p:nvSpPr>
        <p:spPr/>
        <p:txBody>
          <a:bodyPr>
            <a:normAutofit fontScale="92500" lnSpcReduction="20000"/>
          </a:bodyPr>
          <a:lstStyle/>
          <a:p>
            <a:r>
              <a:rPr lang="en-US"/>
              <a:t>- API: Application Protocol Interface</a:t>
            </a:r>
          </a:p>
          <a:p>
            <a:pPr lvl="1"/>
            <a:r>
              <a:rPr lang="en-US"/>
              <a:t>This is a set of rules and protocols that allows different software programs to communicate with each other and exchange data</a:t>
            </a:r>
          </a:p>
          <a:p>
            <a:pPr lvl="1"/>
            <a:r>
              <a:rPr lang="en-US"/>
              <a:t>It’s the translator that describes how some software X can request specific data from software Y</a:t>
            </a:r>
          </a:p>
          <a:p>
            <a:r>
              <a:rPr lang="en-US"/>
              <a:t>Ultimately, it is an abstraction, just like N8N is</a:t>
            </a:r>
          </a:p>
          <a:p>
            <a:pPr lvl="1"/>
            <a:r>
              <a:rPr lang="en-US"/>
              <a:t>It abstracts the inner mechanisms</a:t>
            </a:r>
          </a:p>
          <a:p>
            <a:pPr lvl="2"/>
            <a:r>
              <a:rPr lang="en-US"/>
              <a:t>How the data is maintained</a:t>
            </a:r>
          </a:p>
          <a:p>
            <a:pPr lvl="2"/>
            <a:r>
              <a:rPr lang="en-US"/>
              <a:t>How the data is ultimately returned</a:t>
            </a:r>
          </a:p>
          <a:p>
            <a:pPr lvl="2"/>
            <a:r>
              <a:rPr lang="en-US"/>
              <a:t>How the host machine operated</a:t>
            </a:r>
          </a:p>
          <a:p>
            <a:pPr lvl="3"/>
            <a:r>
              <a:rPr lang="en-US"/>
              <a:t>OS, language, etc.</a:t>
            </a:r>
          </a:p>
          <a:p>
            <a:r>
              <a:rPr lang="en-US"/>
              <a:t>Ask/Response format</a:t>
            </a:r>
          </a:p>
          <a:p>
            <a:pPr lvl="1"/>
            <a:r>
              <a:rPr lang="en-US"/>
              <a:t>If you pose a properly formatted API request, the expectation is you get a response</a:t>
            </a:r>
          </a:p>
          <a:p>
            <a:pPr lvl="2"/>
            <a:r>
              <a:rPr lang="en-US"/>
              <a:t>Code 200</a:t>
            </a:r>
          </a:p>
          <a:p>
            <a:pPr lvl="1"/>
            <a:r>
              <a:rPr lang="en-US"/>
              <a:t>If you pose an incorrect API request, you often get an error code, Each with their own meanings</a:t>
            </a:r>
          </a:p>
          <a:p>
            <a:pPr lvl="2"/>
            <a:r>
              <a:rPr lang="en-US"/>
              <a:t>Code 4xx – client side error(you)</a:t>
            </a:r>
          </a:p>
          <a:p>
            <a:pPr lvl="2"/>
            <a:r>
              <a:rPr lang="en-US"/>
              <a:t>Code 5xx – server error(them)</a:t>
            </a:r>
          </a:p>
        </p:txBody>
      </p:sp>
    </p:spTree>
    <p:extLst>
      <p:ext uri="{BB962C8B-B14F-4D97-AF65-F5344CB8AC3E}">
        <p14:creationId xmlns:p14="http://schemas.microsoft.com/office/powerpoint/2010/main" val="6344898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4C24B-F1DD-A401-2ADD-2F6035848502}"/>
              </a:ext>
            </a:extLst>
          </p:cNvPr>
          <p:cNvSpPr>
            <a:spLocks noGrp="1"/>
          </p:cNvSpPr>
          <p:nvPr>
            <p:ph type="title"/>
          </p:nvPr>
        </p:nvSpPr>
        <p:spPr/>
        <p:txBody>
          <a:bodyPr/>
          <a:lstStyle/>
          <a:p>
            <a:r>
              <a:rPr lang="en-US"/>
              <a:t>Using Alpaca’s API to Grab Data</a:t>
            </a:r>
          </a:p>
        </p:txBody>
      </p:sp>
      <p:sp>
        <p:nvSpPr>
          <p:cNvPr id="3" name="Content Placeholder 2">
            <a:extLst>
              <a:ext uri="{FF2B5EF4-FFF2-40B4-BE49-F238E27FC236}">
                <a16:creationId xmlns:a16="http://schemas.microsoft.com/office/drawing/2014/main" id="{34D18ACF-FDB3-4C7E-70B3-DE48AA42D4CF}"/>
              </a:ext>
            </a:extLst>
          </p:cNvPr>
          <p:cNvSpPr>
            <a:spLocks noGrp="1"/>
          </p:cNvSpPr>
          <p:nvPr>
            <p:ph idx="1"/>
          </p:nvPr>
        </p:nvSpPr>
        <p:spPr/>
        <p:txBody>
          <a:bodyPr/>
          <a:lstStyle/>
          <a:p>
            <a:r>
              <a:rPr lang="en-US"/>
              <a:t>API Reference</a:t>
            </a:r>
          </a:p>
          <a:p>
            <a:pPr lvl="1"/>
            <a:r>
              <a:rPr lang="en-US">
                <a:hlinkClick r:id="rId3"/>
              </a:rPr>
              <a:t>https://docs.alpaca.markets/reference/issuetokens</a:t>
            </a:r>
            <a:endParaRPr lang="en-US"/>
          </a:p>
          <a:p>
            <a:r>
              <a:rPr lang="en-US"/>
              <a:t>Alpaca allows us to grab historic data over a given set of dates for the provided securities</a:t>
            </a:r>
          </a:p>
          <a:p>
            <a:pPr lvl="1"/>
            <a:endParaRPr lang="en-US"/>
          </a:p>
          <a:p>
            <a:pPr marL="201168" lvl="1" indent="0">
              <a:buNone/>
            </a:pPr>
            <a:endParaRPr lang="en-US" b="1"/>
          </a:p>
          <a:p>
            <a:pPr lvl="1"/>
            <a:endParaRPr lang="en-US"/>
          </a:p>
          <a:p>
            <a:endParaRPr lang="en-US"/>
          </a:p>
        </p:txBody>
      </p:sp>
    </p:spTree>
    <p:extLst>
      <p:ext uri="{BB962C8B-B14F-4D97-AF65-F5344CB8AC3E}">
        <p14:creationId xmlns:p14="http://schemas.microsoft.com/office/powerpoint/2010/main" val="11522825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0BF5F-3A05-209C-96E3-6769A35EDAD2}"/>
              </a:ext>
            </a:extLst>
          </p:cNvPr>
          <p:cNvSpPr>
            <a:spLocks noGrp="1"/>
          </p:cNvSpPr>
          <p:nvPr>
            <p:ph type="title"/>
          </p:nvPr>
        </p:nvSpPr>
        <p:spPr/>
        <p:txBody>
          <a:bodyPr/>
          <a:lstStyle/>
          <a:p>
            <a:r>
              <a:rPr lang="en-US"/>
              <a:t>Let’s Structure our goals</a:t>
            </a:r>
          </a:p>
        </p:txBody>
      </p:sp>
      <p:sp>
        <p:nvSpPr>
          <p:cNvPr id="3" name="Content Placeholder 2">
            <a:extLst>
              <a:ext uri="{FF2B5EF4-FFF2-40B4-BE49-F238E27FC236}">
                <a16:creationId xmlns:a16="http://schemas.microsoft.com/office/drawing/2014/main" id="{FA6AAE9A-D621-5C3F-300D-90C8D9FF18D7}"/>
              </a:ext>
            </a:extLst>
          </p:cNvPr>
          <p:cNvSpPr>
            <a:spLocks noGrp="1"/>
          </p:cNvSpPr>
          <p:nvPr>
            <p:ph idx="1"/>
          </p:nvPr>
        </p:nvSpPr>
        <p:spPr/>
        <p:txBody>
          <a:bodyPr/>
          <a:lstStyle/>
          <a:p>
            <a:r>
              <a:rPr lang="en-US"/>
              <a:t>1. Get a given security from a user</a:t>
            </a:r>
          </a:p>
          <a:p>
            <a:r>
              <a:rPr lang="en-US"/>
              <a:t>2. Identify the correct API route to ping</a:t>
            </a:r>
          </a:p>
          <a:p>
            <a:r>
              <a:rPr lang="en-US"/>
              <a:t>3. Form our </a:t>
            </a:r>
            <a:r>
              <a:rPr lang="en-US" i="1"/>
              <a:t>ask</a:t>
            </a:r>
            <a:r>
              <a:rPr lang="en-US"/>
              <a:t> request</a:t>
            </a:r>
          </a:p>
        </p:txBody>
      </p:sp>
    </p:spTree>
    <p:extLst>
      <p:ext uri="{BB962C8B-B14F-4D97-AF65-F5344CB8AC3E}">
        <p14:creationId xmlns:p14="http://schemas.microsoft.com/office/powerpoint/2010/main" val="38006158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9846-AC42-AFDE-60E5-C007A51D1C6D}"/>
              </a:ext>
            </a:extLst>
          </p:cNvPr>
          <p:cNvSpPr>
            <a:spLocks noGrp="1"/>
          </p:cNvSpPr>
          <p:nvPr>
            <p:ph type="title"/>
          </p:nvPr>
        </p:nvSpPr>
        <p:spPr/>
        <p:txBody>
          <a:bodyPr/>
          <a:lstStyle/>
          <a:p>
            <a:r>
              <a:rPr lang="en-US"/>
              <a:t>Price of the security</a:t>
            </a:r>
          </a:p>
        </p:txBody>
      </p:sp>
      <p:sp>
        <p:nvSpPr>
          <p:cNvPr id="3" name="Content Placeholder 2">
            <a:extLst>
              <a:ext uri="{FF2B5EF4-FFF2-40B4-BE49-F238E27FC236}">
                <a16:creationId xmlns:a16="http://schemas.microsoft.com/office/drawing/2014/main" id="{07AEC037-5ACA-6934-9285-3E6D6A597525}"/>
              </a:ext>
            </a:extLst>
          </p:cNvPr>
          <p:cNvSpPr>
            <a:spLocks noGrp="1"/>
          </p:cNvSpPr>
          <p:nvPr>
            <p:ph idx="1"/>
          </p:nvPr>
        </p:nvSpPr>
        <p:spPr/>
        <p:txBody>
          <a:bodyPr/>
          <a:lstStyle/>
          <a:p>
            <a:r>
              <a:rPr lang="en-US"/>
              <a:t>Using Alpaca, we can grab the price, take some time to try and find the correct </a:t>
            </a:r>
            <a:r>
              <a:rPr lang="en-US" err="1"/>
              <a:t>api</a:t>
            </a:r>
            <a:r>
              <a:rPr lang="en-US"/>
              <a:t> endpoint</a:t>
            </a:r>
          </a:p>
          <a:p>
            <a:r>
              <a:rPr lang="en-US"/>
              <a:t>Alpaca allows us to test a given API which makes placing it into N8N seamless</a:t>
            </a:r>
          </a:p>
          <a:p>
            <a:r>
              <a:rPr lang="en-US"/>
              <a:t>The </a:t>
            </a:r>
            <a:r>
              <a:rPr lang="en-US" b="1"/>
              <a:t>C</a:t>
            </a:r>
            <a:r>
              <a:rPr lang="en-US"/>
              <a:t> is the security price at the end of the tick</a:t>
            </a:r>
          </a:p>
          <a:p>
            <a:pPr lvl="1"/>
            <a:r>
              <a:rPr lang="en-US"/>
              <a:t>More on the rest next time</a:t>
            </a:r>
          </a:p>
          <a:p>
            <a:r>
              <a:rPr lang="en-US"/>
              <a:t>We can </a:t>
            </a:r>
            <a:r>
              <a:rPr lang="en-US" i="1"/>
              <a:t>copy</a:t>
            </a:r>
            <a:r>
              <a:rPr lang="en-US"/>
              <a:t> the curl request and </a:t>
            </a:r>
            <a:r>
              <a:rPr lang="en-US" i="1"/>
              <a:t>import</a:t>
            </a:r>
            <a:r>
              <a:rPr lang="en-US"/>
              <a:t> it directly into n8n</a:t>
            </a:r>
          </a:p>
        </p:txBody>
      </p:sp>
      <p:pic>
        <p:nvPicPr>
          <p:cNvPr id="5" name="Picture 4">
            <a:extLst>
              <a:ext uri="{FF2B5EF4-FFF2-40B4-BE49-F238E27FC236}">
                <a16:creationId xmlns:a16="http://schemas.microsoft.com/office/drawing/2014/main" id="{3E4AAE3B-9038-74A8-9B3E-3DCC8A59392E}"/>
              </a:ext>
            </a:extLst>
          </p:cNvPr>
          <p:cNvPicPr>
            <a:picLocks noChangeAspect="1"/>
          </p:cNvPicPr>
          <p:nvPr/>
        </p:nvPicPr>
        <p:blipFill>
          <a:blip r:embed="rId2"/>
          <a:stretch>
            <a:fillRect/>
          </a:stretch>
        </p:blipFill>
        <p:spPr>
          <a:xfrm>
            <a:off x="7614458" y="4385062"/>
            <a:ext cx="4577542" cy="1924915"/>
          </a:xfrm>
          <a:prstGeom prst="rect">
            <a:avLst/>
          </a:prstGeom>
        </p:spPr>
      </p:pic>
    </p:spTree>
    <p:extLst>
      <p:ext uri="{BB962C8B-B14F-4D97-AF65-F5344CB8AC3E}">
        <p14:creationId xmlns:p14="http://schemas.microsoft.com/office/powerpoint/2010/main" val="30812661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0A4EA-C472-A82B-9C72-4E8C9FE6DFAF}"/>
              </a:ext>
            </a:extLst>
          </p:cNvPr>
          <p:cNvSpPr>
            <a:spLocks noGrp="1"/>
          </p:cNvSpPr>
          <p:nvPr>
            <p:ph type="title"/>
          </p:nvPr>
        </p:nvSpPr>
        <p:spPr/>
        <p:txBody>
          <a:bodyPr/>
          <a:lstStyle/>
          <a:p>
            <a:r>
              <a:rPr lang="en-US"/>
              <a:t>Configuring Nodes</a:t>
            </a:r>
          </a:p>
        </p:txBody>
      </p:sp>
      <p:sp>
        <p:nvSpPr>
          <p:cNvPr id="3" name="Text Placeholder 2">
            <a:extLst>
              <a:ext uri="{FF2B5EF4-FFF2-40B4-BE49-F238E27FC236}">
                <a16:creationId xmlns:a16="http://schemas.microsoft.com/office/drawing/2014/main" id="{76393EB5-6704-1D97-0C87-45BAFD58ED2A}"/>
              </a:ext>
            </a:extLst>
          </p:cNvPr>
          <p:cNvSpPr>
            <a:spLocks noGrp="1"/>
          </p:cNvSpPr>
          <p:nvPr>
            <p:ph type="body" idx="1"/>
          </p:nvPr>
        </p:nvSpPr>
        <p:spPr/>
        <p:txBody>
          <a:bodyPr/>
          <a:lstStyle/>
          <a:p>
            <a:r>
              <a:rPr lang="en-US"/>
              <a:t>Each node </a:t>
            </a:r>
            <a:r>
              <a:rPr lang="en-US" i="1"/>
              <a:t>may</a:t>
            </a:r>
            <a:r>
              <a:rPr lang="en-US"/>
              <a:t> have it’s own unique fields that require editing</a:t>
            </a:r>
          </a:p>
          <a:p>
            <a:pPr lvl="1"/>
            <a:r>
              <a:rPr lang="en-US"/>
              <a:t>Some common </a:t>
            </a:r>
            <a:r>
              <a:rPr lang="en-US" i="1"/>
              <a:t>themes</a:t>
            </a:r>
            <a:r>
              <a:rPr lang="en-US"/>
              <a:t> persist between nodes</a:t>
            </a:r>
          </a:p>
          <a:p>
            <a:r>
              <a:rPr lang="en-US"/>
              <a:t>When you add a new node to the Editor UI, the node is automatically activated. The node details will open in a window with separate options</a:t>
            </a:r>
          </a:p>
          <a:p>
            <a:pPr lvl="1"/>
            <a:r>
              <a:rPr lang="en-US" b="1"/>
              <a:t>Parameters</a:t>
            </a:r>
            <a:endParaRPr lang="en-US"/>
          </a:p>
          <a:p>
            <a:pPr lvl="2"/>
            <a:r>
              <a:rPr lang="en-US"/>
              <a:t>This is information that we want to pass </a:t>
            </a:r>
            <a:r>
              <a:rPr lang="en-US" b="1"/>
              <a:t>in</a:t>
            </a:r>
            <a:r>
              <a:rPr lang="en-US"/>
              <a:t> to our node</a:t>
            </a:r>
          </a:p>
          <a:p>
            <a:pPr lvl="1"/>
            <a:r>
              <a:rPr lang="en-US" b="1"/>
              <a:t>Settings</a:t>
            </a:r>
            <a:endParaRPr lang="en-US"/>
          </a:p>
          <a:p>
            <a:pPr lvl="2"/>
            <a:r>
              <a:rPr lang="en-US"/>
              <a:t>These typically allow us to control the nodes design and execution flow</a:t>
            </a:r>
          </a:p>
          <a:p>
            <a:pPr lvl="1"/>
            <a:r>
              <a:rPr lang="en-US" b="1"/>
              <a:t>Docs</a:t>
            </a:r>
          </a:p>
          <a:p>
            <a:pPr lvl="2"/>
            <a:r>
              <a:rPr lang="en-US"/>
              <a:t>Should we need, we can go to the official n8n documentation to understand more about the node</a:t>
            </a:r>
          </a:p>
        </p:txBody>
      </p:sp>
      <p:pic>
        <p:nvPicPr>
          <p:cNvPr id="5" name="Picture 4">
            <a:extLst>
              <a:ext uri="{FF2B5EF4-FFF2-40B4-BE49-F238E27FC236}">
                <a16:creationId xmlns:a16="http://schemas.microsoft.com/office/drawing/2014/main" id="{7C377AC7-B85F-8D44-96EF-494684D431E8}"/>
              </a:ext>
            </a:extLst>
          </p:cNvPr>
          <p:cNvPicPr>
            <a:picLocks noChangeAspect="1"/>
          </p:cNvPicPr>
          <p:nvPr/>
        </p:nvPicPr>
        <p:blipFill>
          <a:blip r:embed="rId2"/>
          <a:stretch>
            <a:fillRect/>
          </a:stretch>
        </p:blipFill>
        <p:spPr>
          <a:xfrm>
            <a:off x="646939" y="5596858"/>
            <a:ext cx="10898121" cy="714475"/>
          </a:xfrm>
          <a:prstGeom prst="rect">
            <a:avLst/>
          </a:prstGeom>
        </p:spPr>
      </p:pic>
    </p:spTree>
    <p:extLst>
      <p:ext uri="{BB962C8B-B14F-4D97-AF65-F5344CB8AC3E}">
        <p14:creationId xmlns:p14="http://schemas.microsoft.com/office/powerpoint/2010/main" val="18900125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27A87-C4AB-738F-06E9-F931AA969252}"/>
              </a:ext>
            </a:extLst>
          </p:cNvPr>
          <p:cNvSpPr>
            <a:spLocks noGrp="1"/>
          </p:cNvSpPr>
          <p:nvPr>
            <p:ph type="title"/>
          </p:nvPr>
        </p:nvSpPr>
        <p:spPr/>
        <p:txBody>
          <a:bodyPr/>
          <a:lstStyle/>
          <a:p>
            <a:r>
              <a:rPr lang="en-US"/>
              <a:t>Parameters</a:t>
            </a:r>
          </a:p>
        </p:txBody>
      </p:sp>
      <p:sp>
        <p:nvSpPr>
          <p:cNvPr id="3" name="Text Placeholder 2">
            <a:extLst>
              <a:ext uri="{FF2B5EF4-FFF2-40B4-BE49-F238E27FC236}">
                <a16:creationId xmlns:a16="http://schemas.microsoft.com/office/drawing/2014/main" id="{EC33450E-72EE-FCA8-CE6D-0A4ABA46C24F}"/>
              </a:ext>
            </a:extLst>
          </p:cNvPr>
          <p:cNvSpPr>
            <a:spLocks noGrp="1"/>
          </p:cNvSpPr>
          <p:nvPr>
            <p:ph type="body" idx="1"/>
          </p:nvPr>
        </p:nvSpPr>
        <p:spPr/>
        <p:txBody>
          <a:bodyPr>
            <a:normAutofit/>
          </a:bodyPr>
          <a:lstStyle/>
          <a:p>
            <a:r>
              <a:rPr lang="en-US"/>
              <a:t>A </a:t>
            </a:r>
            <a:r>
              <a:rPr lang="en-US" b="1"/>
              <a:t>Parameter</a:t>
            </a:r>
            <a:r>
              <a:rPr lang="en-US"/>
              <a:t> is always going to be unique to the specific node and </a:t>
            </a:r>
            <a:r>
              <a:rPr lang="en-US" i="1"/>
              <a:t>environment</a:t>
            </a:r>
            <a:r>
              <a:rPr lang="en-US"/>
              <a:t> we are working in</a:t>
            </a:r>
          </a:p>
          <a:p>
            <a:pPr lvl="1"/>
            <a:r>
              <a:rPr lang="en-US"/>
              <a:t>Our manual input trigger node does not require a parameter</a:t>
            </a:r>
          </a:p>
          <a:p>
            <a:pPr lvl="1"/>
            <a:r>
              <a:rPr lang="en-US"/>
              <a:t>The node docs will often help you understand what the requirements might be</a:t>
            </a:r>
          </a:p>
          <a:p>
            <a:r>
              <a:rPr lang="en-US"/>
              <a:t>When we import a curl request, these fields are auto filled</a:t>
            </a:r>
          </a:p>
          <a:p>
            <a:pPr lvl="1"/>
            <a:r>
              <a:rPr lang="en-US"/>
              <a:t>They can be manually changed later</a:t>
            </a:r>
          </a:p>
          <a:p>
            <a:pPr lvl="2"/>
            <a:r>
              <a:rPr lang="en-US"/>
              <a:t>We will get to this in a bit</a:t>
            </a:r>
          </a:p>
          <a:p>
            <a:pPr marL="152396" indent="0">
              <a:buNone/>
            </a:pPr>
            <a:endParaRPr lang="en-US"/>
          </a:p>
          <a:p>
            <a:pPr lvl="1"/>
            <a:endParaRPr lang="en-US"/>
          </a:p>
        </p:txBody>
      </p:sp>
    </p:spTree>
    <p:extLst>
      <p:ext uri="{BB962C8B-B14F-4D97-AF65-F5344CB8AC3E}">
        <p14:creationId xmlns:p14="http://schemas.microsoft.com/office/powerpoint/2010/main" val="30510686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5534</Words>
  <Application>Microsoft Macintosh PowerPoint</Application>
  <PresentationFormat>Widescreen</PresentationFormat>
  <Paragraphs>545</Paragraphs>
  <Slides>69</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69</vt:i4>
      </vt:variant>
    </vt:vector>
  </HeadingPairs>
  <TitlesOfParts>
    <vt:vector size="73" baseType="lpstr">
      <vt:lpstr>Aptos</vt:lpstr>
      <vt:lpstr>Calibri</vt:lpstr>
      <vt:lpstr>Calibri Light</vt:lpstr>
      <vt:lpstr>Retrospect</vt:lpstr>
      <vt:lpstr>Course Introduction</vt:lpstr>
      <vt:lpstr>Who Am I?</vt:lpstr>
      <vt:lpstr>What is this course?</vt:lpstr>
      <vt:lpstr>What Does Success in This Course Mean?</vt:lpstr>
      <vt:lpstr>Why Trading is Hard</vt:lpstr>
      <vt:lpstr>Why Automation Fails Faster</vt:lpstr>
      <vt:lpstr>What is Finance in this course?</vt:lpstr>
      <vt:lpstr>What is Finance as a whole?</vt:lpstr>
      <vt:lpstr>What is Finance: Business Finance</vt:lpstr>
      <vt:lpstr>What is Finance: Business Finance</vt:lpstr>
      <vt:lpstr>What is Finance: Investments</vt:lpstr>
      <vt:lpstr>What is Finance: Financial Markets and Institutions</vt:lpstr>
      <vt:lpstr>Why Study Finance?</vt:lpstr>
      <vt:lpstr>Why Study Finance?</vt:lpstr>
      <vt:lpstr>Finance as Coordination Under Uncertainty</vt:lpstr>
      <vt:lpstr>Risk in Finance</vt:lpstr>
      <vt:lpstr>Return in Finance</vt:lpstr>
      <vt:lpstr>Risk vs Return</vt:lpstr>
      <vt:lpstr>Who is in the Market</vt:lpstr>
      <vt:lpstr>The “Market”</vt:lpstr>
      <vt:lpstr>The “Market” and it’s many Participants</vt:lpstr>
      <vt:lpstr>The Major Players: NYSE and NASDAQ</vt:lpstr>
      <vt:lpstr>Key Market Players</vt:lpstr>
      <vt:lpstr>Market Maker – Citadel Securities</vt:lpstr>
      <vt:lpstr>Brokers</vt:lpstr>
      <vt:lpstr>Dealers and Brokers</vt:lpstr>
      <vt:lpstr>Financial Intermediaries</vt:lpstr>
      <vt:lpstr>Market Players, Managers, and you</vt:lpstr>
      <vt:lpstr>From Finance to Systems</vt:lpstr>
      <vt:lpstr>From Finance to Systems</vt:lpstr>
      <vt:lpstr>Tick Data</vt:lpstr>
      <vt:lpstr>PowerPoint Presentation</vt:lpstr>
      <vt:lpstr>Tick Data</vt:lpstr>
      <vt:lpstr>The Anatomy of a Market Event</vt:lpstr>
      <vt:lpstr>AI Orchestration frameworks</vt:lpstr>
      <vt:lpstr>AI Orchestration Frameworks</vt:lpstr>
      <vt:lpstr>N8N</vt:lpstr>
      <vt:lpstr>Setting up N8N: Part 1</vt:lpstr>
      <vt:lpstr>Setting up N8N part 2</vt:lpstr>
      <vt:lpstr>Setting up N8N part 2</vt:lpstr>
      <vt:lpstr>Accessing the VM</vt:lpstr>
      <vt:lpstr>Generating a DNS name for our VM</vt:lpstr>
      <vt:lpstr>PowerPoint Presentation</vt:lpstr>
      <vt:lpstr>Inserting a Record into a DNS</vt:lpstr>
      <vt:lpstr>Finding our machines IP Address</vt:lpstr>
      <vt:lpstr>A valid DNS entry should look something like this</vt:lpstr>
      <vt:lpstr>Installing N8N</vt:lpstr>
      <vt:lpstr>Understanding N8N’s Layout</vt:lpstr>
      <vt:lpstr>Understanding the Canvas</vt:lpstr>
      <vt:lpstr>Left Side Panel</vt:lpstr>
      <vt:lpstr>Top Bar</vt:lpstr>
      <vt:lpstr>Canvas</vt:lpstr>
      <vt:lpstr>Nodes</vt:lpstr>
      <vt:lpstr>Executing a node or workflow</vt:lpstr>
      <vt:lpstr>PowerPoint Presentation</vt:lpstr>
      <vt:lpstr>HTTP Node Request</vt:lpstr>
      <vt:lpstr>Get Requests</vt:lpstr>
      <vt:lpstr>Just like that, our first workflow!</vt:lpstr>
      <vt:lpstr>So now what?</vt:lpstr>
      <vt:lpstr>Our First Experiment</vt:lpstr>
      <vt:lpstr>How do investors make buy and sell decisions?</vt:lpstr>
      <vt:lpstr>Alpaca</vt:lpstr>
      <vt:lpstr>Alpaca</vt:lpstr>
      <vt:lpstr>What is an API?</vt:lpstr>
      <vt:lpstr>Using Alpaca’s API to Grab Data</vt:lpstr>
      <vt:lpstr>Let’s Structure our goals</vt:lpstr>
      <vt:lpstr>Price of the security</vt:lpstr>
      <vt:lpstr>Configuring Nodes</vt:lpstr>
      <vt:lpstr>Parameters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Jack Forden</dc:creator>
  <cp:lastModifiedBy>Jack Forden</cp:lastModifiedBy>
  <cp:revision>1</cp:revision>
  <dcterms:created xsi:type="dcterms:W3CDTF">2026-01-11T19:42:27Z</dcterms:created>
  <dcterms:modified xsi:type="dcterms:W3CDTF">2026-01-27T20:22:09Z</dcterms:modified>
</cp:coreProperties>
</file>